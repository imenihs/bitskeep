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1" r:id="rId6"/>
    <p:sldId id="263" r:id="rId7"/>
    <p:sldId id="265" r:id="rId8"/>
    <p:sldId id="264" r:id="rId9"/>
    <p:sldId id="266" r:id="rId10"/>
    <p:sldId id="267" r:id="rId11"/>
    <p:sldId id="268" r:id="rId12"/>
    <p:sldId id="272" r:id="rId13"/>
    <p:sldId id="269" r:id="rId14"/>
    <p:sldId id="271" r:id="rId15"/>
    <p:sldId id="273" r:id="rId16"/>
    <p:sldId id="270"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25" d="100"/>
          <a:sy n="125" d="100"/>
        </p:scale>
        <p:origin x="-192" y="-2580"/>
      </p:cViewPr>
      <p:guideLst/>
    </p:cSldViewPr>
  </p:slideViewPr>
  <p:notesTextViewPr>
    <p:cViewPr>
      <p:scale>
        <a:sx n="1" d="1"/>
        <a:sy n="1" d="1"/>
      </p:scale>
      <p:origin x="0" y="0"/>
    </p:cViewPr>
  </p:notesTextViewPr>
  <p:notesViewPr>
    <p:cSldViewPr snapToGrid="0">
      <p:cViewPr varScale="1">
        <p:scale>
          <a:sx n="81" d="100"/>
          <a:sy n="81" d="100"/>
        </p:scale>
        <p:origin x="3894"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D6E79C-CE90-47C8-B703-C30E19FA9979}" type="datetimeFigureOut">
              <a:rPr kumimoji="1" lang="ja-JP" altLang="en-US" smtClean="0"/>
              <a:t>2025/6/21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F6C7C-4AB5-43AC-8A0F-0ABF02A62FD3}" type="slidenum">
              <a:rPr kumimoji="1" lang="ja-JP" altLang="en-US" smtClean="0"/>
              <a:t>‹#›</a:t>
            </a:fld>
            <a:endParaRPr kumimoji="1" lang="ja-JP" altLang="en-US"/>
          </a:p>
        </p:txBody>
      </p:sp>
    </p:spTree>
    <p:extLst>
      <p:ext uri="{BB962C8B-B14F-4D97-AF65-F5344CB8AC3E}">
        <p14:creationId xmlns:p14="http://schemas.microsoft.com/office/powerpoint/2010/main" val="31386600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2C9EB3-45D4-6A91-4D35-962810B5DE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B08377B-25AE-0A55-DD77-87C39D274B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3C156A9-E7AE-7206-788A-D9217596EE5A}"/>
              </a:ext>
            </a:extLst>
          </p:cNvPr>
          <p:cNvSpPr>
            <a:spLocks noGrp="1"/>
          </p:cNvSpPr>
          <p:nvPr>
            <p:ph type="dt" sz="half" idx="10"/>
          </p:nvPr>
        </p:nvSpPr>
        <p:spPr/>
        <p:txBody>
          <a:bodyPr/>
          <a:lstStyle/>
          <a:p>
            <a:fld id="{004619E5-7D9D-45DE-BBA1-C49EFBDB9751}" type="datetimeFigureOut">
              <a:rPr kumimoji="1" lang="ja-JP" altLang="en-US" smtClean="0"/>
              <a:t>2025/6/21</a:t>
            </a:fld>
            <a:endParaRPr kumimoji="1" lang="ja-JP" altLang="en-US"/>
          </a:p>
        </p:txBody>
      </p:sp>
      <p:sp>
        <p:nvSpPr>
          <p:cNvPr id="5" name="フッター プレースホルダー 4">
            <a:extLst>
              <a:ext uri="{FF2B5EF4-FFF2-40B4-BE49-F238E27FC236}">
                <a16:creationId xmlns:a16="http://schemas.microsoft.com/office/drawing/2014/main" id="{DE8E4BD5-72AA-D41E-0AB0-E7058006E6A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CBDD4B-C420-43CC-AD84-B918F2731D67}"/>
              </a:ext>
            </a:extLst>
          </p:cNvPr>
          <p:cNvSpPr>
            <a:spLocks noGrp="1"/>
          </p:cNvSpPr>
          <p:nvPr>
            <p:ph type="sldNum" sz="quarter" idx="12"/>
          </p:nvPr>
        </p:nvSpPr>
        <p:spPr/>
        <p:txBody>
          <a:bodyPr/>
          <a:lstStyle/>
          <a:p>
            <a:fld id="{2D4514DE-40CA-4E88-84A7-524360BE7CE5}" type="slidenum">
              <a:rPr kumimoji="1" lang="ja-JP" altLang="en-US" smtClean="0"/>
              <a:t>‹#›</a:t>
            </a:fld>
            <a:endParaRPr kumimoji="1" lang="ja-JP" altLang="en-US"/>
          </a:p>
        </p:txBody>
      </p:sp>
    </p:spTree>
    <p:extLst>
      <p:ext uri="{BB962C8B-B14F-4D97-AF65-F5344CB8AC3E}">
        <p14:creationId xmlns:p14="http://schemas.microsoft.com/office/powerpoint/2010/main" val="248909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7D2402-588F-C347-FEBB-1D81EBD41046}"/>
              </a:ext>
            </a:extLst>
          </p:cNvPr>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BDA7BEE-30CA-E20A-0BF1-F07DCD8485C4}"/>
              </a:ext>
            </a:extLst>
          </p:cNvPr>
          <p:cNvSpPr>
            <a:spLocks noGrp="1"/>
          </p:cNvSpPr>
          <p:nvPr>
            <p:ph idx="1"/>
          </p:nvPr>
        </p:nvSpPr>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403691-7E2A-86A7-3C56-DDF856619789}"/>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5" name="フッター プレースホルダー 4">
            <a:extLst>
              <a:ext uri="{FF2B5EF4-FFF2-40B4-BE49-F238E27FC236}">
                <a16:creationId xmlns:a16="http://schemas.microsoft.com/office/drawing/2014/main" id="{7ED18572-8B51-7A79-4E91-95491B8C412E}"/>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5354FC73-8B47-3F09-92B1-FDA8C16E42F1}"/>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1997794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F8E13D-B9A4-6BF7-504C-5AAA353797F7}"/>
              </a:ext>
            </a:extLst>
          </p:cNvPr>
          <p:cNvSpPr>
            <a:spLocks noGrp="1"/>
          </p:cNvSpPr>
          <p:nvPr>
            <p:ph type="title"/>
          </p:nvPr>
        </p:nvSpPr>
        <p:spPr>
          <a:xfrm>
            <a:off x="831850" y="1709738"/>
            <a:ext cx="10515600" cy="2852737"/>
          </a:xfrm>
        </p:spPr>
        <p:txBody>
          <a:bodyPr anchor="b"/>
          <a:lstStyle>
            <a:lvl1pPr>
              <a:defRPr sz="60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05DA8F3-D1C1-8F53-CF25-CF51CA8092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Meiryo UI" panose="020B0604030504040204" pitchFamily="50" charset="-128"/>
                <a:ea typeface="Meiryo UI" panose="020B0604030504040204"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365F13D-F44A-B35E-6478-DA6DA3B17033}"/>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5" name="フッター プレースホルダー 4">
            <a:extLst>
              <a:ext uri="{FF2B5EF4-FFF2-40B4-BE49-F238E27FC236}">
                <a16:creationId xmlns:a16="http://schemas.microsoft.com/office/drawing/2014/main" id="{4E476CB7-7B89-4184-B783-D82622F2467D}"/>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7C7D839-E5E1-27B4-85D5-F44365913328}"/>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3867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D3877C-B69F-9D03-A0E4-CCB72C8D0449}"/>
              </a:ext>
            </a:extLst>
          </p:cNvPr>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6EB0D3E-54E8-CBC5-EFB2-3AC292AFF714}"/>
              </a:ext>
            </a:extLst>
          </p:cNvPr>
          <p:cNvSpPr>
            <a:spLocks noGrp="1"/>
          </p:cNvSpPr>
          <p:nvPr>
            <p:ph sz="half" idx="1"/>
          </p:nvPr>
        </p:nvSpPr>
        <p:spPr>
          <a:xfrm>
            <a:off x="838200" y="1825625"/>
            <a:ext cx="5181600" cy="4351338"/>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4EEE2A9-9C8C-1D3E-98C1-1D1965ADA8DC}"/>
              </a:ext>
            </a:extLst>
          </p:cNvPr>
          <p:cNvSpPr>
            <a:spLocks noGrp="1"/>
          </p:cNvSpPr>
          <p:nvPr>
            <p:ph sz="half" idx="2"/>
          </p:nvPr>
        </p:nvSpPr>
        <p:spPr>
          <a:xfrm>
            <a:off x="6172200" y="1825625"/>
            <a:ext cx="5181600" cy="4351338"/>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4F268AE-A43E-1D39-267E-696CA7E28DAB}"/>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6" name="フッター プレースホルダー 5">
            <a:extLst>
              <a:ext uri="{FF2B5EF4-FFF2-40B4-BE49-F238E27FC236}">
                <a16:creationId xmlns:a16="http://schemas.microsoft.com/office/drawing/2014/main" id="{B239A497-25AD-6209-AC62-9D79B84F08E4}"/>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8D9DF778-EF5A-63A7-BF95-EF4FBD514EDE}"/>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1746062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5D047D-FB98-886C-68D2-D335145505BB}"/>
              </a:ext>
            </a:extLst>
          </p:cNvPr>
          <p:cNvSpPr>
            <a:spLocks noGrp="1"/>
          </p:cNvSpPr>
          <p:nvPr>
            <p:ph type="title"/>
          </p:nvPr>
        </p:nvSpPr>
        <p:spPr>
          <a:xfrm>
            <a:off x="839788" y="365125"/>
            <a:ext cx="10515600" cy="1325563"/>
          </a:xfrm>
        </p:spPr>
        <p:txBody>
          <a:bodyPr/>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E7ABC3-640F-CB72-5638-C380A413BED1}"/>
              </a:ext>
            </a:extLst>
          </p:cNvPr>
          <p:cNvSpPr>
            <a:spLocks noGrp="1"/>
          </p:cNvSpPr>
          <p:nvPr>
            <p:ph type="body" idx="1"/>
          </p:nvPr>
        </p:nvSpPr>
        <p:spPr>
          <a:xfrm>
            <a:off x="839788" y="1681163"/>
            <a:ext cx="5157787" cy="823912"/>
          </a:xfrm>
        </p:spPr>
        <p:txBody>
          <a:bodyPr anchor="b"/>
          <a:lstStyle>
            <a:lvl1pPr marL="0" indent="0">
              <a:buNone/>
              <a:defRPr sz="2400" b="1">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76B34B9-05F1-7505-8936-556BDF773276}"/>
              </a:ext>
            </a:extLst>
          </p:cNvPr>
          <p:cNvSpPr>
            <a:spLocks noGrp="1"/>
          </p:cNvSpPr>
          <p:nvPr>
            <p:ph sz="half" idx="2"/>
          </p:nvPr>
        </p:nvSpPr>
        <p:spPr>
          <a:xfrm>
            <a:off x="839788" y="2505075"/>
            <a:ext cx="5157787" cy="3684588"/>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B3F8D8F-DA01-FFAB-C2C2-F42766CD124A}"/>
              </a:ext>
            </a:extLst>
          </p:cNvPr>
          <p:cNvSpPr>
            <a:spLocks noGrp="1"/>
          </p:cNvSpPr>
          <p:nvPr>
            <p:ph type="body" sz="quarter" idx="3"/>
          </p:nvPr>
        </p:nvSpPr>
        <p:spPr>
          <a:xfrm>
            <a:off x="6172200" y="1681163"/>
            <a:ext cx="5183188" cy="823912"/>
          </a:xfrm>
        </p:spPr>
        <p:txBody>
          <a:bodyPr anchor="b"/>
          <a:lstStyle>
            <a:lvl1pPr marL="0" indent="0">
              <a:buNone/>
              <a:defRPr sz="2400" b="1">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072DC15-97FF-A1DA-17FF-398086EDBB74}"/>
              </a:ext>
            </a:extLst>
          </p:cNvPr>
          <p:cNvSpPr>
            <a:spLocks noGrp="1"/>
          </p:cNvSpPr>
          <p:nvPr>
            <p:ph sz="quarter" idx="4"/>
          </p:nvPr>
        </p:nvSpPr>
        <p:spPr>
          <a:xfrm>
            <a:off x="6172200" y="2505075"/>
            <a:ext cx="5183188" cy="3684588"/>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F9D1F31-FD8F-B73F-CC96-8F436635A03B}"/>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8" name="フッター プレースホルダー 7">
            <a:extLst>
              <a:ext uri="{FF2B5EF4-FFF2-40B4-BE49-F238E27FC236}">
                <a16:creationId xmlns:a16="http://schemas.microsoft.com/office/drawing/2014/main" id="{1C5358E4-5ECC-63C0-7EDB-4C382307DF7A}"/>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9" name="スライド番号プレースホルダー 8">
            <a:extLst>
              <a:ext uri="{FF2B5EF4-FFF2-40B4-BE49-F238E27FC236}">
                <a16:creationId xmlns:a16="http://schemas.microsoft.com/office/drawing/2014/main" id="{D9DD67FF-A642-69A5-1DF6-B12EBF2E244F}"/>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4253947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CD31C5-FB92-35E3-5F39-F33694FBDD4E}"/>
              </a:ext>
            </a:extLst>
          </p:cNvPr>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3F9C6EE-77D0-2A93-176F-5E796BABA57C}"/>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4" name="フッター プレースホルダー 3">
            <a:extLst>
              <a:ext uri="{FF2B5EF4-FFF2-40B4-BE49-F238E27FC236}">
                <a16:creationId xmlns:a16="http://schemas.microsoft.com/office/drawing/2014/main" id="{7D665A44-4CA5-9EBD-75F5-9397DCE71D3C}"/>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0AD1082D-A496-88CA-3706-6680F9F581F5}"/>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233499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0D300A-1BE1-64DE-FDAE-522A56B6C39C}"/>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3" name="フッター プレースホルダー 2">
            <a:extLst>
              <a:ext uri="{FF2B5EF4-FFF2-40B4-BE49-F238E27FC236}">
                <a16:creationId xmlns:a16="http://schemas.microsoft.com/office/drawing/2014/main" id="{92DC3ABC-887B-38CA-BAEC-10D93FDD39E5}"/>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4" name="スライド番号プレースホルダー 3">
            <a:extLst>
              <a:ext uri="{FF2B5EF4-FFF2-40B4-BE49-F238E27FC236}">
                <a16:creationId xmlns:a16="http://schemas.microsoft.com/office/drawing/2014/main" id="{784AE836-5F06-E14F-BC93-2E53DA133AE6}"/>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3965679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952F7C-CECD-BA7C-8AB0-354A06771191}"/>
              </a:ext>
            </a:extLst>
          </p:cNvPr>
          <p:cNvSpPr>
            <a:spLocks noGrp="1"/>
          </p:cNvSpPr>
          <p:nvPr>
            <p:ph type="title"/>
          </p:nvPr>
        </p:nvSpPr>
        <p:spPr>
          <a:xfrm>
            <a:off x="839788" y="457200"/>
            <a:ext cx="3932237" cy="1600200"/>
          </a:xfrm>
        </p:spPr>
        <p:txBody>
          <a:bodyPr anchor="b"/>
          <a:lstStyle>
            <a:lvl1pPr>
              <a:defRPr sz="32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30C4D78-190D-6045-87B1-5C74A168E434}"/>
              </a:ext>
            </a:extLst>
          </p:cNvPr>
          <p:cNvSpPr>
            <a:spLocks noGrp="1"/>
          </p:cNvSpPr>
          <p:nvPr>
            <p:ph idx="1"/>
          </p:nvPr>
        </p:nvSpPr>
        <p:spPr>
          <a:xfrm>
            <a:off x="5183188" y="987425"/>
            <a:ext cx="6172200" cy="4873625"/>
          </a:xfrm>
        </p:spPr>
        <p:txBody>
          <a:bodyPr/>
          <a:lstStyle>
            <a:lvl1pPr>
              <a:defRPr sz="3200">
                <a:latin typeface="Meiryo UI" panose="020B0604030504040204" pitchFamily="50" charset="-128"/>
                <a:ea typeface="Meiryo UI" panose="020B0604030504040204" pitchFamily="50" charset="-128"/>
              </a:defRPr>
            </a:lvl1pPr>
            <a:lvl2pPr>
              <a:defRPr sz="2800">
                <a:latin typeface="Meiryo UI" panose="020B0604030504040204" pitchFamily="50" charset="-128"/>
                <a:ea typeface="Meiryo UI" panose="020B0604030504040204" pitchFamily="50" charset="-128"/>
              </a:defRPr>
            </a:lvl2pPr>
            <a:lvl3pPr>
              <a:defRPr sz="2400">
                <a:latin typeface="Meiryo UI" panose="020B0604030504040204" pitchFamily="50" charset="-128"/>
                <a:ea typeface="Meiryo UI" panose="020B0604030504040204" pitchFamily="50" charset="-128"/>
              </a:defRPr>
            </a:lvl3pPr>
            <a:lvl4pPr>
              <a:defRPr sz="2000">
                <a:latin typeface="Meiryo UI" panose="020B0604030504040204" pitchFamily="50" charset="-128"/>
                <a:ea typeface="Meiryo UI" panose="020B0604030504040204" pitchFamily="50" charset="-128"/>
              </a:defRPr>
            </a:lvl4pPr>
            <a:lvl5pPr>
              <a:defRPr sz="2000">
                <a:latin typeface="Meiryo UI" panose="020B0604030504040204" pitchFamily="50" charset="-128"/>
                <a:ea typeface="Meiryo UI" panose="020B0604030504040204" pitchFamily="50" charset="-128"/>
              </a:defRPr>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C95D32E-8FF2-B3A6-184C-DBF274214FF7}"/>
              </a:ext>
            </a:extLst>
          </p:cNvPr>
          <p:cNvSpPr>
            <a:spLocks noGrp="1"/>
          </p:cNvSpPr>
          <p:nvPr>
            <p:ph type="body" sz="half" idx="2"/>
          </p:nvPr>
        </p:nvSpPr>
        <p:spPr>
          <a:xfrm>
            <a:off x="839788" y="2057400"/>
            <a:ext cx="3932237" cy="3811588"/>
          </a:xfrm>
        </p:spPr>
        <p:txBody>
          <a:bodyPr/>
          <a:lstStyle>
            <a:lvl1pPr marL="0" indent="0">
              <a:buNone/>
              <a:defRPr sz="1600">
                <a:latin typeface="Meiryo UI" panose="020B0604030504040204" pitchFamily="50" charset="-128"/>
                <a:ea typeface="Meiryo UI" panose="020B0604030504040204"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432E982-3BC3-0D54-D29D-4BB0E4DD0515}"/>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6" name="フッター プレースホルダー 5">
            <a:extLst>
              <a:ext uri="{FF2B5EF4-FFF2-40B4-BE49-F238E27FC236}">
                <a16:creationId xmlns:a16="http://schemas.microsoft.com/office/drawing/2014/main" id="{EFE67C63-6423-CE13-9733-3733F6E258E7}"/>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629C9F66-A000-70F4-ED05-A860B578C846}"/>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836957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53F096-9D9F-3AD4-3B56-08076D84FE2D}"/>
              </a:ext>
            </a:extLst>
          </p:cNvPr>
          <p:cNvSpPr>
            <a:spLocks noGrp="1"/>
          </p:cNvSpPr>
          <p:nvPr>
            <p:ph type="title"/>
          </p:nvPr>
        </p:nvSpPr>
        <p:spPr>
          <a:xfrm>
            <a:off x="839788" y="457200"/>
            <a:ext cx="3932237" cy="1600200"/>
          </a:xfrm>
        </p:spPr>
        <p:txBody>
          <a:bodyPr anchor="b"/>
          <a:lstStyle>
            <a:lvl1pPr>
              <a:defRPr sz="32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0823B5A-30B1-AB8C-0BC6-F37BED055408}"/>
              </a:ext>
            </a:extLst>
          </p:cNvPr>
          <p:cNvSpPr>
            <a:spLocks noGrp="1"/>
          </p:cNvSpPr>
          <p:nvPr>
            <p:ph type="pic" idx="1"/>
          </p:nvPr>
        </p:nvSpPr>
        <p:spPr>
          <a:xfrm>
            <a:off x="5183188" y="987425"/>
            <a:ext cx="6172200" cy="4873625"/>
          </a:xfrm>
        </p:spPr>
        <p:txBody>
          <a:bodyPr/>
          <a:lstStyle>
            <a:lvl1pPr marL="0" indent="0">
              <a:buNone/>
              <a:defRPr sz="3200">
                <a:latin typeface="Meiryo UI" panose="020B0604030504040204" pitchFamily="50" charset="-128"/>
                <a:ea typeface="Meiryo UI" panose="020B0604030504040204"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965E350-3F5F-41D1-4960-4F59153677AF}"/>
              </a:ext>
            </a:extLst>
          </p:cNvPr>
          <p:cNvSpPr>
            <a:spLocks noGrp="1"/>
          </p:cNvSpPr>
          <p:nvPr>
            <p:ph type="body" sz="half" idx="2"/>
          </p:nvPr>
        </p:nvSpPr>
        <p:spPr>
          <a:xfrm>
            <a:off x="839788" y="2057400"/>
            <a:ext cx="3932237" cy="3811588"/>
          </a:xfrm>
        </p:spPr>
        <p:txBody>
          <a:bodyPr/>
          <a:lstStyle>
            <a:lvl1pPr marL="0" indent="0">
              <a:buNone/>
              <a:defRPr sz="1600">
                <a:latin typeface="Meiryo UI" panose="020B0604030504040204" pitchFamily="50" charset="-128"/>
                <a:ea typeface="Meiryo UI" panose="020B0604030504040204"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03137AC-6BC6-D249-9E5C-BA9C07BB87A0}"/>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6" name="フッター プレースホルダー 5">
            <a:extLst>
              <a:ext uri="{FF2B5EF4-FFF2-40B4-BE49-F238E27FC236}">
                <a16:creationId xmlns:a16="http://schemas.microsoft.com/office/drawing/2014/main" id="{4A84948C-5FA8-931E-9691-AD7E2CA7CEB8}"/>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94EF51C7-F528-105D-B6AB-5EF3087737FE}"/>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427178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1D43AA-21CC-7602-60B2-CC847D5D31F8}"/>
              </a:ext>
            </a:extLst>
          </p:cNvPr>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237EA16-DD5B-AB9B-7DDA-E1E4FE71E896}"/>
              </a:ext>
            </a:extLst>
          </p:cNvPr>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D237E38-9445-EB6A-0D64-657EFCD07E24}"/>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5" name="フッター プレースホルダー 4">
            <a:extLst>
              <a:ext uri="{FF2B5EF4-FFF2-40B4-BE49-F238E27FC236}">
                <a16:creationId xmlns:a16="http://schemas.microsoft.com/office/drawing/2014/main" id="{077D39A5-2FE1-0D8E-9C7E-B5A515D6065C}"/>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09A3581A-B03D-3E03-755D-F07BD732D226}"/>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381265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198D075-A438-98FD-EA3E-BF5A71DDC908}"/>
              </a:ext>
            </a:extLst>
          </p:cNvPr>
          <p:cNvSpPr>
            <a:spLocks noGrp="1"/>
          </p:cNvSpPr>
          <p:nvPr>
            <p:ph type="title" orient="vert"/>
          </p:nvPr>
        </p:nvSpPr>
        <p:spPr>
          <a:xfrm>
            <a:off x="8724900" y="365125"/>
            <a:ext cx="2628900" cy="5811838"/>
          </a:xfrm>
        </p:spPr>
        <p:txBody>
          <a:bodyPr vert="eaVert"/>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F826004-C12E-3EBE-5279-605AE3127E81}"/>
              </a:ext>
            </a:extLst>
          </p:cNvPr>
          <p:cNvSpPr>
            <a:spLocks noGrp="1"/>
          </p:cNvSpPr>
          <p:nvPr>
            <p:ph type="body" orient="vert" idx="1"/>
          </p:nvPr>
        </p:nvSpPr>
        <p:spPr>
          <a:xfrm>
            <a:off x="838200" y="365125"/>
            <a:ext cx="7734300" cy="5811838"/>
          </a:xfrm>
        </p:spPr>
        <p:txBody>
          <a:bodyPr vert="eaVert"/>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921DF6-0B8B-8A34-F12C-280DC315DAD3}"/>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004619E5-7D9D-45DE-BBA1-C49EFBDB9751}" type="datetimeFigureOut">
              <a:rPr lang="ja-JP" altLang="en-US" smtClean="0"/>
              <a:pPr/>
              <a:t>2025/6/21</a:t>
            </a:fld>
            <a:endParaRPr lang="ja-JP" altLang="en-US"/>
          </a:p>
        </p:txBody>
      </p:sp>
      <p:sp>
        <p:nvSpPr>
          <p:cNvPr id="5" name="フッター プレースホルダー 4">
            <a:extLst>
              <a:ext uri="{FF2B5EF4-FFF2-40B4-BE49-F238E27FC236}">
                <a16:creationId xmlns:a16="http://schemas.microsoft.com/office/drawing/2014/main" id="{5B2E3A83-8988-2C39-C5C2-4B0332DDC507}"/>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EA4446AC-89AF-6CF3-795B-16F7545AED4F}"/>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2D4514DE-40CA-4E88-84A7-524360BE7CE5}" type="slidenum">
              <a:rPr lang="ja-JP" altLang="en-US" smtClean="0"/>
              <a:pPr/>
              <a:t>‹#›</a:t>
            </a:fld>
            <a:endParaRPr lang="ja-JP" altLang="en-US"/>
          </a:p>
        </p:txBody>
      </p:sp>
    </p:spTree>
    <p:extLst>
      <p:ext uri="{BB962C8B-B14F-4D97-AF65-F5344CB8AC3E}">
        <p14:creationId xmlns:p14="http://schemas.microsoft.com/office/powerpoint/2010/main" val="699575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F117735-F422-1E23-78FF-59AAFCF2B3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993404-07F1-54B0-BB19-D4D76ED7DA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78222B5-2915-7711-F62A-DE8E48BEDB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619E5-7D9D-45DE-BBA1-C49EFBDB9751}" type="datetimeFigureOut">
              <a:rPr kumimoji="1" lang="ja-JP" altLang="en-US" smtClean="0"/>
              <a:t>2025/6/21</a:t>
            </a:fld>
            <a:endParaRPr kumimoji="1" lang="ja-JP" altLang="en-US"/>
          </a:p>
        </p:txBody>
      </p:sp>
      <p:sp>
        <p:nvSpPr>
          <p:cNvPr id="5" name="フッター プレースホルダー 4">
            <a:extLst>
              <a:ext uri="{FF2B5EF4-FFF2-40B4-BE49-F238E27FC236}">
                <a16:creationId xmlns:a16="http://schemas.microsoft.com/office/drawing/2014/main" id="{CF8E4292-EC40-788E-67D2-FCF1772693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2ACC406-56A1-5CFC-5C38-4BEC909A5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514DE-40CA-4E88-84A7-524360BE7CE5}" type="slidenum">
              <a:rPr kumimoji="1" lang="ja-JP" altLang="en-US" smtClean="0"/>
              <a:t>‹#›</a:t>
            </a:fld>
            <a:endParaRPr kumimoji="1" lang="ja-JP" altLang="en-US"/>
          </a:p>
        </p:txBody>
      </p:sp>
    </p:spTree>
    <p:extLst>
      <p:ext uri="{BB962C8B-B14F-4D97-AF65-F5344CB8AC3E}">
        <p14:creationId xmlns:p14="http://schemas.microsoft.com/office/powerpoint/2010/main" val="2528347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11082C-CE6A-4CBD-94BF-463E891F50CA}"/>
              </a:ext>
            </a:extLst>
          </p:cNvPr>
          <p:cNvSpPr>
            <a:spLocks noGrp="1"/>
          </p:cNvSpPr>
          <p:nvPr>
            <p:ph type="ctrTitle"/>
          </p:nvPr>
        </p:nvSpPr>
        <p:spPr/>
        <p:txBody>
          <a:bodyPr/>
          <a:lstStyle/>
          <a:p>
            <a:r>
              <a:rPr kumimoji="1" lang="en-US" altLang="ja-JP" dirty="0" err="1">
                <a:latin typeface="Meiryo UI" panose="020B0604030504040204" pitchFamily="50" charset="-128"/>
                <a:ea typeface="Meiryo UI" panose="020B0604030504040204" pitchFamily="50" charset="-128"/>
              </a:rPr>
              <a:t>Bitskeep</a:t>
            </a:r>
            <a:br>
              <a:rPr kumimoji="1" lang="en-US" altLang="ja-JP" dirty="0">
                <a:latin typeface="Meiryo UI" panose="020B0604030504040204" pitchFamily="50" charset="-128"/>
                <a:ea typeface="Meiryo UI" panose="020B0604030504040204" pitchFamily="50" charset="-128"/>
              </a:rPr>
            </a:br>
            <a:r>
              <a:rPr kumimoji="1" lang="ja-JP" altLang="en-US" dirty="0">
                <a:latin typeface="Meiryo UI" panose="020B0604030504040204" pitchFamily="50" charset="-128"/>
                <a:ea typeface="Meiryo UI" panose="020B0604030504040204" pitchFamily="50" charset="-128"/>
              </a:rPr>
              <a:t>部品在庫管理システム</a:t>
            </a:r>
          </a:p>
        </p:txBody>
      </p:sp>
      <p:sp>
        <p:nvSpPr>
          <p:cNvPr id="3" name="字幕 2">
            <a:extLst>
              <a:ext uri="{FF2B5EF4-FFF2-40B4-BE49-F238E27FC236}">
                <a16:creationId xmlns:a16="http://schemas.microsoft.com/office/drawing/2014/main" id="{B59BB737-B3C3-A1FB-0973-3AFFBBCB6C0D}"/>
              </a:ext>
            </a:extLst>
          </p:cNvPr>
          <p:cNvSpPr>
            <a:spLocks noGrp="1"/>
          </p:cNvSpPr>
          <p:nvPr>
            <p:ph type="subTitle" idx="1"/>
          </p:nvPr>
        </p:nvSpPr>
        <p:spPr/>
        <p:txBody>
          <a:bodyPr>
            <a:normAutofit/>
          </a:bodyPr>
          <a:lstStyle/>
          <a:p>
            <a:r>
              <a:rPr kumimoji="1" lang="ja-JP" altLang="en-US" sz="4800" dirty="0">
                <a:latin typeface="Meiryo UI" panose="020B0604030504040204" pitchFamily="50" charset="-128"/>
                <a:ea typeface="Meiryo UI" panose="020B0604030504040204" pitchFamily="50" charset="-128"/>
              </a:rPr>
              <a:t>動作仕様書</a:t>
            </a:r>
          </a:p>
        </p:txBody>
      </p:sp>
    </p:spTree>
    <p:extLst>
      <p:ext uri="{BB962C8B-B14F-4D97-AF65-F5344CB8AC3E}">
        <p14:creationId xmlns:p14="http://schemas.microsoft.com/office/powerpoint/2010/main" val="368405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25BBA5-F124-B737-E585-441CB295AB9D}"/>
              </a:ext>
            </a:extLst>
          </p:cNvPr>
          <p:cNvSpPr>
            <a:spLocks noGrp="1"/>
          </p:cNvSpPr>
          <p:nvPr>
            <p:ph type="title"/>
          </p:nvPr>
        </p:nvSpPr>
        <p:spPr/>
        <p:txBody>
          <a:bodyPr/>
          <a:lstStyle/>
          <a:p>
            <a:r>
              <a:rPr lang="ja-JP" altLang="en-US" dirty="0"/>
              <a:t>管理情報</a:t>
            </a:r>
            <a:endParaRPr lang="en-US" altLang="ja-JP" dirty="0"/>
          </a:p>
        </p:txBody>
      </p:sp>
      <p:sp>
        <p:nvSpPr>
          <p:cNvPr id="5" name="テキスト ボックス 4">
            <a:extLst>
              <a:ext uri="{FF2B5EF4-FFF2-40B4-BE49-F238E27FC236}">
                <a16:creationId xmlns:a16="http://schemas.microsoft.com/office/drawing/2014/main" id="{9FE4A887-9B80-79AD-C731-003DDC976C26}"/>
              </a:ext>
            </a:extLst>
          </p:cNvPr>
          <p:cNvSpPr txBox="1"/>
          <p:nvPr/>
        </p:nvSpPr>
        <p:spPr>
          <a:xfrm>
            <a:off x="933142" y="1354700"/>
            <a:ext cx="10086975" cy="5262979"/>
          </a:xfrm>
          <a:prstGeom prst="rect">
            <a:avLst/>
          </a:prstGeom>
          <a:solidFill>
            <a:schemeClr val="bg1"/>
          </a:solidFill>
          <a:ln>
            <a:noFill/>
          </a:ln>
        </p:spPr>
        <p:txBody>
          <a:bodyPr wrap="square" rtlCol="0">
            <a:spAutoFit/>
          </a:bodyPr>
          <a:lstStyle/>
          <a:p>
            <a:pPr marL="342900" indent="-342900">
              <a:buFont typeface="+mj-ea"/>
              <a:buAutoNum type="circleNumDbPlain"/>
            </a:pPr>
            <a:r>
              <a:rPr kumimoji="1" lang="ja-JP" altLang="en-US" sz="1200" dirty="0">
                <a:latin typeface="Meiryo UI" panose="020B0604030504040204" pitchFamily="50" charset="-128"/>
                <a:ea typeface="Meiryo UI" panose="020B0604030504040204" pitchFamily="50" charset="-128"/>
              </a:rPr>
              <a:t>メーカ</a:t>
            </a:r>
            <a:endParaRPr kumimoji="1"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kumimoji="1" lang="ja-JP" altLang="en-US" sz="1200" dirty="0">
                <a:latin typeface="Meiryo UI" panose="020B0604030504040204" pitchFamily="50" charset="-128"/>
                <a:ea typeface="Meiryo UI" panose="020B0604030504040204" pitchFamily="50" charset="-128"/>
              </a:rPr>
              <a:t>購入先と単価と管理コード（</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部品で複数の購入先商社と単価、商社管理コードに対応、価格は登録日も記録、商社販売サイトリンク）</a:t>
            </a:r>
            <a:endParaRPr kumimoji="1"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分類（選択肢から選択、複数選択可能 ）</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型番</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値（有無が選択可能、値入力、単位を選択肢から１つ選択）</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定格電圧（有無が選択可能、値入力）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定格電流（有無が選択可能、値入力）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定格電力（有無が選択可能、値入力）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色（有無が選択可能、色を</a:t>
            </a:r>
            <a:r>
              <a:rPr lang="en-US" altLang="ja-JP" sz="1200" dirty="0">
                <a:latin typeface="Meiryo UI" panose="020B0604030504040204" pitchFamily="50" charset="-128"/>
                <a:ea typeface="Meiryo UI" panose="020B0604030504040204" pitchFamily="50" charset="-128"/>
              </a:rPr>
              <a:t>RGB</a:t>
            </a:r>
            <a:r>
              <a:rPr lang="ja-JP" altLang="en-US" sz="1200" dirty="0">
                <a:latin typeface="Meiryo UI" panose="020B0604030504040204" pitchFamily="50" charset="-128"/>
                <a:ea typeface="Meiryo UI" panose="020B0604030504040204" pitchFamily="50" charset="-128"/>
              </a:rPr>
              <a:t>入力、抵抗器カラーコード</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色はパレットから選択）</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温度特性（有無が選択可能、値入力）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許容差（有無が選択可能、値入力）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ランク（有無が選択可能、値入力）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パッケージ（選択肢から選択、複数選択可能）</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サイズ（有無が選択可能、縦横高さ入力）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機能（有無が選択可能、値入力）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新品、中古（フラグ）</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在庫数（新品、中古それぞれ）</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利用プロジェクト（プロジェクト一覧から選択、複数選択可能）</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入手可否（</a:t>
            </a:r>
            <a:r>
              <a:rPr lang="en-US" altLang="ja-JP" sz="1200" dirty="0">
                <a:latin typeface="Meiryo UI" panose="020B0604030504040204" pitchFamily="50" charset="-128"/>
                <a:ea typeface="Meiryo UI" panose="020B0604030504040204" pitchFamily="50" charset="-128"/>
              </a:rPr>
              <a:t>EOL</a:t>
            </a:r>
            <a:r>
              <a:rPr lang="ja-JP" altLang="en-US" sz="1200" dirty="0">
                <a:latin typeface="Meiryo UI" panose="020B0604030504040204" pitchFamily="50" charset="-128"/>
                <a:ea typeface="Meiryo UI" panose="020B0604030504040204" pitchFamily="50" charset="-128"/>
              </a:rPr>
              <a:t>、在庫限り、新規設計非推奨、量産中）</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ロット番号（有無が選択可能、値入力）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在庫区分（リール、テープ、トレイ、バラ、箱）</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リール番号（在庫区分がリールの場合に出現、有無が選択可能、</a:t>
            </a:r>
            <a:r>
              <a:rPr lang="en-US" altLang="ja-JP" sz="1200" dirty="0">
                <a:latin typeface="Meiryo UI" panose="020B0604030504040204" pitchFamily="50" charset="-128"/>
                <a:ea typeface="Meiryo UI" panose="020B0604030504040204" pitchFamily="50" charset="-128"/>
              </a:rPr>
              <a:t>QR</a:t>
            </a:r>
            <a:r>
              <a:rPr lang="ja-JP" altLang="en-US" sz="1200" dirty="0">
                <a:latin typeface="Meiryo UI" panose="020B0604030504040204" pitchFamily="50" charset="-128"/>
                <a:ea typeface="Meiryo UI" panose="020B0604030504040204" pitchFamily="50" charset="-128"/>
              </a:rPr>
              <a:t>コード一覧から選択）</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画像（有無が選択可能、 画像データは</a:t>
            </a:r>
            <a:r>
              <a:rPr lang="en-US" altLang="ja-JP" sz="1200" dirty="0">
                <a:latin typeface="Meiryo UI" panose="020B0604030504040204" pitchFamily="50" charset="-128"/>
                <a:ea typeface="Meiryo UI" panose="020B0604030504040204" pitchFamily="50" charset="-128"/>
              </a:rPr>
              <a:t>DB</a:t>
            </a:r>
            <a:r>
              <a:rPr lang="ja-JP" altLang="en-US" sz="1200" dirty="0">
                <a:latin typeface="Meiryo UI" panose="020B0604030504040204" pitchFamily="50" charset="-128"/>
                <a:ea typeface="Meiryo UI" panose="020B0604030504040204" pitchFamily="50" charset="-128"/>
              </a:rPr>
              <a:t>じゃなく指定フォルダにユニークファイル名で管理）</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保管場所（有無が選択可能、棚番号一覧から選択可能、複数選択可能）</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通称（有無が選択可能、値入力）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部品データシート（有無が選択可能、 データシートは</a:t>
            </a:r>
            <a:r>
              <a:rPr lang="en-US" altLang="ja-JP" sz="1200" dirty="0">
                <a:latin typeface="Meiryo UI" panose="020B0604030504040204" pitchFamily="50" charset="-128"/>
                <a:ea typeface="Meiryo UI" panose="020B0604030504040204" pitchFamily="50" charset="-128"/>
              </a:rPr>
              <a:t>DB</a:t>
            </a:r>
            <a:r>
              <a:rPr lang="ja-JP" altLang="en-US" sz="1200" dirty="0">
                <a:latin typeface="Meiryo UI" panose="020B0604030504040204" pitchFamily="50" charset="-128"/>
                <a:ea typeface="Meiryo UI" panose="020B0604030504040204" pitchFamily="50" charset="-128"/>
              </a:rPr>
              <a:t>じゃなく指定フォルダにユニークファイル名で管理）</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入庫日、出庫日（自動入力）</a:t>
            </a:r>
            <a:endParaRPr lang="en-US" altLang="ja-JP" sz="1200"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sz="1200" dirty="0">
                <a:latin typeface="Meiryo UI" panose="020B0604030504040204" pitchFamily="50" charset="-128"/>
                <a:ea typeface="Meiryo UI" panose="020B0604030504040204" pitchFamily="50" charset="-128"/>
              </a:rPr>
              <a:t>カスタムフィールド</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0832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28874-D4E9-1AAD-10A3-E39A2FE372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BC1457-46FC-06EA-4046-9F04C4BFCDF4}"/>
              </a:ext>
            </a:extLst>
          </p:cNvPr>
          <p:cNvSpPr>
            <a:spLocks noGrp="1"/>
          </p:cNvSpPr>
          <p:nvPr>
            <p:ph type="title"/>
          </p:nvPr>
        </p:nvSpPr>
        <p:spPr/>
        <p:txBody>
          <a:bodyPr/>
          <a:lstStyle/>
          <a:p>
            <a:r>
              <a:rPr kumimoji="1" lang="ja-JP" altLang="en-US" dirty="0"/>
              <a:t>機能一覧</a:t>
            </a:r>
          </a:p>
        </p:txBody>
      </p:sp>
      <p:sp>
        <p:nvSpPr>
          <p:cNvPr id="5" name="テキスト ボックス 4">
            <a:extLst>
              <a:ext uri="{FF2B5EF4-FFF2-40B4-BE49-F238E27FC236}">
                <a16:creationId xmlns:a16="http://schemas.microsoft.com/office/drawing/2014/main" id="{B11827FE-8346-29D6-5F54-F9084486D079}"/>
              </a:ext>
            </a:extLst>
          </p:cNvPr>
          <p:cNvSpPr txBox="1"/>
          <p:nvPr/>
        </p:nvSpPr>
        <p:spPr>
          <a:xfrm>
            <a:off x="942974" y="1590675"/>
            <a:ext cx="10086975" cy="5078313"/>
          </a:xfrm>
          <a:prstGeom prst="rect">
            <a:avLst/>
          </a:prstGeom>
          <a:solidFill>
            <a:schemeClr val="bg1"/>
          </a:solidFill>
          <a:ln>
            <a:noFill/>
          </a:ln>
        </p:spPr>
        <p:txBody>
          <a:bodyPr wrap="square" rtlCol="0">
            <a:spAutoFit/>
          </a:bodyPr>
          <a:lstStyle/>
          <a:p>
            <a:pPr marL="342900" indent="-342900">
              <a:buFont typeface="+mj-ea"/>
              <a:buAutoNum type="circleNumDbPlain"/>
            </a:pPr>
            <a:r>
              <a:rPr kumimoji="1" lang="ja-JP" altLang="en-US" dirty="0">
                <a:latin typeface="Meiryo UI" panose="020B0604030504040204" pitchFamily="50" charset="-128"/>
                <a:ea typeface="Meiryo UI" panose="020B0604030504040204" pitchFamily="50" charset="-128"/>
              </a:rPr>
              <a:t>簡易条件在庫検索</a:t>
            </a:r>
            <a:endParaRPr kumimoji="1"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kumimoji="1" lang="ja-JP" altLang="en-US" dirty="0">
                <a:latin typeface="Meiryo UI" panose="020B0604030504040204" pitchFamily="50" charset="-128"/>
                <a:ea typeface="Meiryo UI" panose="020B0604030504040204" pitchFamily="50" charset="-128"/>
              </a:rPr>
              <a:t>同等部品、類似部品検索（機能が同じ、近いスペックなど）</a:t>
            </a:r>
            <a:endParaRPr kumimoji="1"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kumimoji="1" lang="ja-JP" altLang="en-US" dirty="0">
                <a:latin typeface="Meiryo UI" panose="020B0604030504040204" pitchFamily="50" charset="-128"/>
                <a:ea typeface="Meiryo UI" panose="020B0604030504040204" pitchFamily="50" charset="-128"/>
              </a:rPr>
              <a:t>複雑条件在庫検索</a:t>
            </a:r>
            <a:br>
              <a:rPr kumimoji="1" lang="en-US" altLang="ja-JP" dirty="0">
                <a:latin typeface="Meiryo UI" panose="020B0604030504040204" pitchFamily="50" charset="-128"/>
                <a:ea typeface="Meiryo UI" panose="020B0604030504040204" pitchFamily="50" charset="-128"/>
              </a:rPr>
            </a:br>
            <a:r>
              <a:rPr kumimoji="1" lang="ja-JP" altLang="en-US" dirty="0">
                <a:latin typeface="Meiryo UI" panose="020B0604030504040204" pitchFamily="50" charset="-128"/>
                <a:ea typeface="Meiryo UI" panose="020B0604030504040204" pitchFamily="50" charset="-128"/>
              </a:rPr>
              <a:t>部品メーカ、値範囲、購入日など、各種情報が網羅的に検索可能</a:t>
            </a:r>
            <a:endParaRPr kumimoji="1"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kumimoji="1" lang="ja-JP" altLang="en-US" dirty="0">
                <a:latin typeface="Meiryo UI" panose="020B0604030504040204" pitchFamily="50" charset="-128"/>
                <a:ea typeface="Meiryo UI" panose="020B0604030504040204" pitchFamily="50" charset="-128"/>
              </a:rPr>
              <a:t>既存入庫</a:t>
            </a:r>
            <a:endParaRPr kumimoji="1"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既存出庫</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部品データ編集</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新部品入庫（既存部品の情報流し込み対応、</a:t>
            </a:r>
            <a:r>
              <a:rPr lang="en-US" altLang="ja-JP" dirty="0">
                <a:latin typeface="Meiryo UI" panose="020B0604030504040204" pitchFamily="50" charset="-128"/>
                <a:ea typeface="Meiryo UI" panose="020B0604030504040204" pitchFamily="50" charset="-128"/>
              </a:rPr>
              <a:t>CSV</a:t>
            </a:r>
            <a:r>
              <a:rPr lang="ja-JP" altLang="en-US" dirty="0">
                <a:latin typeface="Meiryo UI" panose="020B0604030504040204" pitchFamily="50" charset="-128"/>
                <a:ea typeface="Meiryo UI" panose="020B0604030504040204" pitchFamily="50" charset="-128"/>
              </a:rPr>
              <a:t>インポート対応）</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部品情報削除（非表示）</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プロジェクト部品価格、リスト（部品商社選択可能）</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棚卸</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使用履歴（日時、出庫者）</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在庫警告機能（各部品の在庫下限設定可能）</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ユーザ管理機能（ユーザは閲覧（検索、データ出力のみ）、編集（入出庫可能）、管理者）</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マスターテーブル編集</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プロジェクト管理（登録、削除（非表示）、編集）</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en-US" altLang="ja-JP" dirty="0" err="1">
                <a:latin typeface="Meiryo UI" panose="020B0604030504040204" pitchFamily="50" charset="-128"/>
                <a:ea typeface="Meiryo UI" panose="020B0604030504040204" pitchFamily="50" charset="-128"/>
              </a:rPr>
              <a:t>AltiumDesigner</a:t>
            </a:r>
            <a:r>
              <a:rPr lang="ja-JP" altLang="en-US" dirty="0">
                <a:latin typeface="Meiryo UI" panose="020B0604030504040204" pitchFamily="50" charset="-128"/>
                <a:ea typeface="Meiryo UI" panose="020B0604030504040204" pitchFamily="50" charset="-128"/>
              </a:rPr>
              <a:t>用ライブラリ</a:t>
            </a:r>
            <a:r>
              <a:rPr lang="en-US" altLang="ja-JP" dirty="0">
                <a:latin typeface="Meiryo UI" panose="020B0604030504040204" pitchFamily="50" charset="-128"/>
                <a:ea typeface="Meiryo UI" panose="020B0604030504040204" pitchFamily="50" charset="-128"/>
              </a:rPr>
              <a:t>DB</a:t>
            </a:r>
            <a:r>
              <a:rPr lang="ja-JP" altLang="en-US" dirty="0">
                <a:latin typeface="Meiryo UI" panose="020B0604030504040204" pitchFamily="50" charset="-128"/>
                <a:ea typeface="Meiryo UI" panose="020B0604030504040204" pitchFamily="50" charset="-128"/>
              </a:rPr>
              <a:t>機能（</a:t>
            </a:r>
            <a:r>
              <a:rPr lang="en-US" altLang="ja-JP" dirty="0" err="1">
                <a:latin typeface="Meiryo UI" panose="020B0604030504040204" pitchFamily="50" charset="-128"/>
                <a:ea typeface="Meiryo UI" panose="020B0604030504040204" pitchFamily="50" charset="-128"/>
              </a:rPr>
              <a:t>altium</a:t>
            </a:r>
            <a:r>
              <a:rPr lang="ja-JP" altLang="en-US" dirty="0">
                <a:latin typeface="Meiryo UI" panose="020B0604030504040204" pitchFamily="50" charset="-128"/>
                <a:ea typeface="Meiryo UI" panose="020B0604030504040204" pitchFamily="50" charset="-128"/>
              </a:rPr>
              <a:t>専用テーブルにデータを追加・更新・削除）</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76987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3D4E-BEBB-CCF5-A47A-0A5937296D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CBE322-4BFB-D6D4-4B78-5552A9F7CBEE}"/>
              </a:ext>
            </a:extLst>
          </p:cNvPr>
          <p:cNvSpPr>
            <a:spLocks noGrp="1"/>
          </p:cNvSpPr>
          <p:nvPr>
            <p:ph type="title"/>
          </p:nvPr>
        </p:nvSpPr>
        <p:spPr/>
        <p:txBody>
          <a:bodyPr/>
          <a:lstStyle/>
          <a:p>
            <a:r>
              <a:rPr kumimoji="1" lang="ja-JP" altLang="en-US" dirty="0"/>
              <a:t>付加機能一覧</a:t>
            </a:r>
          </a:p>
        </p:txBody>
      </p:sp>
      <p:sp>
        <p:nvSpPr>
          <p:cNvPr id="5" name="テキスト ボックス 4">
            <a:extLst>
              <a:ext uri="{FF2B5EF4-FFF2-40B4-BE49-F238E27FC236}">
                <a16:creationId xmlns:a16="http://schemas.microsoft.com/office/drawing/2014/main" id="{EF53FA09-274F-8E2C-0974-037CD4E69F74}"/>
              </a:ext>
            </a:extLst>
          </p:cNvPr>
          <p:cNvSpPr txBox="1"/>
          <p:nvPr/>
        </p:nvSpPr>
        <p:spPr>
          <a:xfrm>
            <a:off x="942974" y="1590675"/>
            <a:ext cx="10086975" cy="2031325"/>
          </a:xfrm>
          <a:prstGeom prst="rect">
            <a:avLst/>
          </a:prstGeom>
          <a:solidFill>
            <a:schemeClr val="bg1"/>
          </a:solidFill>
          <a:ln>
            <a:noFill/>
          </a:ln>
        </p:spPr>
        <p:txBody>
          <a:bodyPr wrap="square" rtlCol="0">
            <a:spAutoFit/>
          </a:bodyPr>
          <a:lstStyle/>
          <a:p>
            <a:pPr marL="342900" indent="-342900">
              <a:buFont typeface="+mj-ea"/>
              <a:buAutoNum type="circleNumDbPlain"/>
            </a:pPr>
            <a:r>
              <a:rPr kumimoji="1" lang="ja-JP" altLang="en-US" dirty="0">
                <a:latin typeface="Meiryo UI" panose="020B0604030504040204" pitchFamily="50" charset="-128"/>
                <a:ea typeface="Meiryo UI" panose="020B0604030504040204" pitchFamily="50" charset="-128"/>
              </a:rPr>
              <a:t>パッケージ一覧</a:t>
            </a:r>
            <a:br>
              <a:rPr kumimoji="1" lang="en-US" altLang="ja-JP" dirty="0">
                <a:latin typeface="Meiryo UI" panose="020B0604030504040204" pitchFamily="50" charset="-128"/>
                <a:ea typeface="Meiryo UI" panose="020B0604030504040204" pitchFamily="50" charset="-128"/>
              </a:rPr>
            </a:br>
            <a:r>
              <a:rPr kumimoji="1" lang="ja-JP" altLang="en-US" dirty="0">
                <a:latin typeface="Meiryo UI" panose="020B0604030504040204" pitchFamily="50" charset="-128"/>
                <a:ea typeface="Meiryo UI" panose="020B0604030504040204" pitchFamily="50" charset="-128"/>
              </a:rPr>
              <a:t>（画像、</a:t>
            </a:r>
            <a:r>
              <a:rPr kumimoji="1" lang="en-US" altLang="ja-JP" dirty="0">
                <a:latin typeface="Meiryo UI" panose="020B0604030504040204" pitchFamily="50" charset="-128"/>
                <a:ea typeface="Meiryo UI" panose="020B0604030504040204" pitchFamily="50" charset="-128"/>
              </a:rPr>
              <a:t>3D</a:t>
            </a:r>
            <a:r>
              <a:rPr kumimoji="1" lang="ja-JP" altLang="en-US" dirty="0">
                <a:latin typeface="Meiryo UI" panose="020B0604030504040204" pitchFamily="50" charset="-128"/>
                <a:ea typeface="Meiryo UI" panose="020B0604030504040204" pitchFamily="50" charset="-128"/>
              </a:rPr>
              <a:t>モデル、</a:t>
            </a:r>
            <a:r>
              <a:rPr kumimoji="1" lang="en-US" altLang="ja-JP" dirty="0">
                <a:latin typeface="Meiryo UI" panose="020B0604030504040204" pitchFamily="50" charset="-128"/>
                <a:ea typeface="Meiryo UI" panose="020B0604030504040204" pitchFamily="50" charset="-128"/>
              </a:rPr>
              <a:t>PDF</a:t>
            </a:r>
            <a:r>
              <a:rPr kumimoji="1" lang="ja-JP" altLang="en-US" dirty="0">
                <a:latin typeface="Meiryo UI" panose="020B0604030504040204" pitchFamily="50" charset="-128"/>
                <a:ea typeface="Meiryo UI" panose="020B0604030504040204" pitchFamily="50" charset="-128"/>
              </a:rPr>
              <a:t>　データは</a:t>
            </a:r>
            <a:r>
              <a:rPr kumimoji="1" lang="en-US" altLang="ja-JP" dirty="0">
                <a:latin typeface="Meiryo UI" panose="020B0604030504040204" pitchFamily="50" charset="-128"/>
                <a:ea typeface="Meiryo UI" panose="020B0604030504040204" pitchFamily="50" charset="-128"/>
              </a:rPr>
              <a:t>DB</a:t>
            </a:r>
            <a:r>
              <a:rPr kumimoji="1" lang="ja-JP" altLang="en-US" dirty="0">
                <a:latin typeface="Meiryo UI" panose="020B0604030504040204" pitchFamily="50" charset="-128"/>
                <a:ea typeface="Meiryo UI" panose="020B0604030504040204" pitchFamily="50" charset="-128"/>
              </a:rPr>
              <a:t>じゃなく各フォルダにユニークファイル名）</a:t>
            </a:r>
            <a:endParaRPr kumimoji="1"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ja-JP" altLang="en-US" dirty="0">
                <a:latin typeface="Meiryo UI" panose="020B0604030504040204" pitchFamily="50" charset="-128"/>
                <a:ea typeface="Meiryo UI" panose="020B0604030504040204" pitchFamily="50" charset="-128"/>
              </a:rPr>
              <a:t>合成抵抗提案</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分圧、抵抗比率、直列・並列合成　</a:t>
            </a:r>
            <a:r>
              <a:rPr lang="en-US" altLang="ja-JP" dirty="0">
                <a:latin typeface="Meiryo UI" panose="020B0604030504040204" pitchFamily="50" charset="-128"/>
                <a:ea typeface="Meiryo UI" panose="020B0604030504040204" pitchFamily="50" charset="-128"/>
              </a:rPr>
              <a:t>E</a:t>
            </a:r>
            <a:r>
              <a:rPr lang="ja-JP" altLang="en-US" dirty="0">
                <a:latin typeface="Meiryo UI" panose="020B0604030504040204" pitchFamily="50" charset="-128"/>
                <a:ea typeface="Meiryo UI" panose="020B0604030504040204" pitchFamily="50" charset="-128"/>
              </a:rPr>
              <a:t>系列を指定し近似抵抗値を算出</a:t>
            </a:r>
            <a:endParaRPr lang="en-US" altLang="ja-JP" dirty="0">
              <a:latin typeface="Meiryo UI" panose="020B0604030504040204" pitchFamily="50" charset="-128"/>
              <a:ea typeface="Meiryo UI" panose="020B0604030504040204" pitchFamily="50" charset="-128"/>
            </a:endParaRPr>
          </a:p>
          <a:p>
            <a:pPr marL="342900" indent="-342900">
              <a:buFont typeface="+mj-ea"/>
              <a:buAutoNum type="circleNumDbPlain"/>
            </a:pPr>
            <a:r>
              <a:rPr lang="en-US" altLang="ja-JP" dirty="0" err="1">
                <a:latin typeface="Meiryo UI" panose="020B0604030504040204" pitchFamily="50" charset="-128"/>
                <a:ea typeface="Meiryo UI" panose="020B0604030504040204" pitchFamily="50" charset="-128"/>
              </a:rPr>
              <a:t>Leantime</a:t>
            </a:r>
            <a:r>
              <a:rPr lang="ja-JP" altLang="en-US" dirty="0">
                <a:latin typeface="Meiryo UI" panose="020B0604030504040204" pitchFamily="50" charset="-128"/>
                <a:ea typeface="Meiryo UI" panose="020B0604030504040204" pitchFamily="50" charset="-128"/>
              </a:rPr>
              <a:t>からプロジェクト情報インポート</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エクスポート</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インポートは</a:t>
            </a:r>
            <a:r>
              <a:rPr lang="en-US" altLang="ja-JP" dirty="0" err="1">
                <a:latin typeface="Meiryo UI" panose="020B0604030504040204" pitchFamily="50" charset="-128"/>
                <a:ea typeface="Meiryo UI" panose="020B0604030504040204" pitchFamily="50" charset="-128"/>
              </a:rPr>
              <a:t>Leantime</a:t>
            </a:r>
            <a:r>
              <a:rPr lang="ja-JP" altLang="en-US" dirty="0">
                <a:latin typeface="Meiryo UI" panose="020B0604030504040204" pitchFamily="50" charset="-128"/>
                <a:ea typeface="Meiryo UI" panose="020B0604030504040204" pitchFamily="50" charset="-128"/>
              </a:rPr>
              <a:t>プロジェクト一覧から、インポートプロジェクトを選択する</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エクスポートは自身のプロジェクト一覧から</a:t>
            </a:r>
            <a:r>
              <a:rPr lang="en-US" altLang="ja-JP" dirty="0" err="1">
                <a:latin typeface="Meiryo UI" panose="020B0604030504040204" pitchFamily="50" charset="-128"/>
                <a:ea typeface="Meiryo UI" panose="020B0604030504040204" pitchFamily="50" charset="-128"/>
              </a:rPr>
              <a:t>Leantime</a:t>
            </a:r>
            <a:r>
              <a:rPr lang="ja-JP" altLang="en-US" dirty="0">
                <a:latin typeface="Meiryo UI" panose="020B0604030504040204" pitchFamily="50" charset="-128"/>
                <a:ea typeface="Meiryo UI" panose="020B0604030504040204" pitchFamily="50" charset="-128"/>
              </a:rPr>
              <a:t>にプロジェクトをエクスポートする </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1344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2A3E-0F58-48FA-449C-B7B05E3C13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41CC44-4078-31BD-EFCD-FEEC11ED5892}"/>
              </a:ext>
            </a:extLst>
          </p:cNvPr>
          <p:cNvSpPr>
            <a:spLocks noGrp="1"/>
          </p:cNvSpPr>
          <p:nvPr>
            <p:ph type="title"/>
          </p:nvPr>
        </p:nvSpPr>
        <p:spPr/>
        <p:txBody>
          <a:bodyPr/>
          <a:lstStyle/>
          <a:p>
            <a:r>
              <a:rPr kumimoji="1" lang="en-US" altLang="ja-JP" dirty="0"/>
              <a:t>DB</a:t>
            </a:r>
            <a:r>
              <a:rPr kumimoji="1" lang="ja-JP" altLang="en-US" dirty="0"/>
              <a:t>設計</a:t>
            </a:r>
            <a:r>
              <a:rPr kumimoji="1" lang="en-US" altLang="ja-JP" dirty="0"/>
              <a:t>-</a:t>
            </a:r>
            <a:r>
              <a:rPr kumimoji="1" lang="ja-JP" altLang="en-US" dirty="0"/>
              <a:t>テーブル指定</a:t>
            </a:r>
          </a:p>
        </p:txBody>
      </p:sp>
      <p:graphicFrame>
        <p:nvGraphicFramePr>
          <p:cNvPr id="5" name="表 4">
            <a:extLst>
              <a:ext uri="{FF2B5EF4-FFF2-40B4-BE49-F238E27FC236}">
                <a16:creationId xmlns:a16="http://schemas.microsoft.com/office/drawing/2014/main" id="{81E975E5-2EBE-02F7-96AE-2AC77725B98D}"/>
              </a:ext>
            </a:extLst>
          </p:cNvPr>
          <p:cNvGraphicFramePr>
            <a:graphicFrameLocks noGrp="1"/>
          </p:cNvGraphicFramePr>
          <p:nvPr>
            <p:extLst>
              <p:ext uri="{D42A27DB-BD31-4B8C-83A1-F6EECF244321}">
                <p14:modId xmlns:p14="http://schemas.microsoft.com/office/powerpoint/2010/main" val="3596380544"/>
              </p:ext>
            </p:extLst>
          </p:nvPr>
        </p:nvGraphicFramePr>
        <p:xfrm>
          <a:off x="420688" y="1288720"/>
          <a:ext cx="5884131" cy="5235435"/>
        </p:xfrm>
        <a:graphic>
          <a:graphicData uri="http://schemas.openxmlformats.org/drawingml/2006/table">
            <a:tbl>
              <a:tblPr firstRow="1" bandRow="1">
                <a:tableStyleId>{073A0DAA-6AF3-43AB-8588-CEC1D06C72B9}</a:tableStyleId>
              </a:tblPr>
              <a:tblGrid>
                <a:gridCol w="1521081">
                  <a:extLst>
                    <a:ext uri="{9D8B030D-6E8A-4147-A177-3AD203B41FA5}">
                      <a16:colId xmlns:a16="http://schemas.microsoft.com/office/drawing/2014/main" val="3946576974"/>
                    </a:ext>
                  </a:extLst>
                </a:gridCol>
                <a:gridCol w="681025">
                  <a:extLst>
                    <a:ext uri="{9D8B030D-6E8A-4147-A177-3AD203B41FA5}">
                      <a16:colId xmlns:a16="http://schemas.microsoft.com/office/drawing/2014/main" val="2656287068"/>
                    </a:ext>
                  </a:extLst>
                </a:gridCol>
                <a:gridCol w="1399469">
                  <a:extLst>
                    <a:ext uri="{9D8B030D-6E8A-4147-A177-3AD203B41FA5}">
                      <a16:colId xmlns:a16="http://schemas.microsoft.com/office/drawing/2014/main" val="1926516054"/>
                    </a:ext>
                  </a:extLst>
                </a:gridCol>
                <a:gridCol w="2282556">
                  <a:extLst>
                    <a:ext uri="{9D8B030D-6E8A-4147-A177-3AD203B41FA5}">
                      <a16:colId xmlns:a16="http://schemas.microsoft.com/office/drawing/2014/main" val="3960950178"/>
                    </a:ext>
                  </a:extLst>
                </a:gridCol>
              </a:tblGrid>
              <a:tr h="140366">
                <a:tc>
                  <a:txBody>
                    <a:bodyPr/>
                    <a:lstStyle/>
                    <a:p>
                      <a:pPr algn="l" fontAlgn="ctr"/>
                      <a:r>
                        <a:rPr lang="ja-JP" altLang="en-US" sz="800" u="none" strike="noStrike">
                          <a:effectLst/>
                        </a:rPr>
                        <a:t>管理項目</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分類</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紐付テーブル案</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備考・理由</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270183875"/>
                  </a:ext>
                </a:extLst>
              </a:tr>
              <a:tr h="140366">
                <a:tc>
                  <a:txBody>
                    <a:bodyPr/>
                    <a:lstStyle/>
                    <a:p>
                      <a:pPr algn="l" fontAlgn="ctr"/>
                      <a:r>
                        <a:rPr lang="ja-JP" altLang="en-US" sz="800" u="none" strike="noStrike">
                          <a:effectLst/>
                        </a:rPr>
                        <a:t>メーカー</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検索頻度高。直接保存で良い</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802957505"/>
                  </a:ext>
                </a:extLst>
              </a:tr>
              <a:tr h="140366">
                <a:tc>
                  <a:txBody>
                    <a:bodyPr/>
                    <a:lstStyle/>
                    <a:p>
                      <a:pPr algn="l" fontAlgn="ctr"/>
                      <a:r>
                        <a:rPr lang="ja-JP" altLang="en-US" sz="800" u="none" strike="noStrike">
                          <a:effectLst/>
                        </a:rPr>
                        <a:t>型番</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一意識別・検索対象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354184172"/>
                  </a:ext>
                </a:extLst>
              </a:tr>
              <a:tr h="140366">
                <a:tc>
                  <a:txBody>
                    <a:bodyPr/>
                    <a:lstStyle/>
                    <a:p>
                      <a:pPr algn="l" fontAlgn="ctr"/>
                      <a:r>
                        <a:rPr lang="ja-JP" altLang="en-US" sz="800" u="none" strike="noStrike" dirty="0">
                          <a:effectLst/>
                        </a:rPr>
                        <a:t>通称</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dirty="0">
                          <a:effectLst/>
                        </a:rPr>
                        <a:t>ユーザー表示用</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386971385"/>
                  </a:ext>
                </a:extLst>
              </a:tr>
              <a:tr h="140366">
                <a:tc>
                  <a:txBody>
                    <a:bodyPr/>
                    <a:lstStyle/>
                    <a:p>
                      <a:pPr algn="l" fontAlgn="ctr"/>
                      <a:r>
                        <a:rPr lang="zh-TW" altLang="en-US" sz="800" u="none" strike="noStrike">
                          <a:effectLst/>
                        </a:rPr>
                        <a:t>分類（複数可）</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categories, component_category</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dirty="0">
                          <a:effectLst/>
                        </a:rPr>
                        <a:t>多対多分類のため別テーブルに分離</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343847304"/>
                  </a:ext>
                </a:extLst>
              </a:tr>
              <a:tr h="140366">
                <a:tc>
                  <a:txBody>
                    <a:bodyPr/>
                    <a:lstStyle/>
                    <a:p>
                      <a:pPr algn="l" fontAlgn="ctr"/>
                      <a:r>
                        <a:rPr lang="ja-JP" altLang="en-US" sz="800" u="none" strike="noStrike" dirty="0">
                          <a:effectLst/>
                        </a:rPr>
                        <a:t>値＋単位</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spec_type='value' </a:t>
                      </a:r>
                      <a:r>
                        <a:rPr lang="ja-JP" altLang="en-US" sz="800" u="none" strike="noStrike">
                          <a:effectLst/>
                        </a:rPr>
                        <a:t>で管理</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4105947756"/>
                  </a:ext>
                </a:extLst>
              </a:tr>
              <a:tr h="140366">
                <a:tc>
                  <a:txBody>
                    <a:bodyPr/>
                    <a:lstStyle/>
                    <a:p>
                      <a:pPr algn="l" fontAlgn="ctr"/>
                      <a:r>
                        <a:rPr lang="ja-JP" altLang="en-US" sz="800" u="none" strike="noStrike">
                          <a:effectLst/>
                        </a:rPr>
                        <a:t>定格電圧</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spec_type='voltage' </a:t>
                      </a:r>
                      <a:r>
                        <a:rPr lang="ja-JP" altLang="en-US" sz="800" u="none" strike="noStrike">
                          <a:effectLst/>
                        </a:rPr>
                        <a:t>で区別</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671757982"/>
                  </a:ext>
                </a:extLst>
              </a:tr>
              <a:tr h="140366">
                <a:tc>
                  <a:txBody>
                    <a:bodyPr/>
                    <a:lstStyle/>
                    <a:p>
                      <a:pPr algn="l" fontAlgn="ctr"/>
                      <a:r>
                        <a:rPr lang="ja-JP" altLang="en-US" sz="800" u="none" strike="noStrike">
                          <a:effectLst/>
                        </a:rPr>
                        <a:t>定格電流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spec_type='current' </a:t>
                      </a:r>
                      <a:r>
                        <a:rPr lang="ja-JP" altLang="en-US" sz="800" u="none" strike="noStrike">
                          <a:effectLst/>
                        </a:rPr>
                        <a:t>で区別</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430048447"/>
                  </a:ext>
                </a:extLst>
              </a:tr>
              <a:tr h="140366">
                <a:tc>
                  <a:txBody>
                    <a:bodyPr/>
                    <a:lstStyle/>
                    <a:p>
                      <a:pPr algn="l" fontAlgn="ctr"/>
                      <a:r>
                        <a:rPr lang="ja-JP" altLang="en-US" sz="800" u="none" strike="noStrike">
                          <a:effectLst/>
                        </a:rPr>
                        <a:t>色（</a:t>
                      </a:r>
                      <a:r>
                        <a:rPr lang="en-US" altLang="ja-JP" sz="800" u="none" strike="noStrike">
                          <a:effectLst/>
                        </a:rPr>
                        <a:t>RGB</a:t>
                      </a:r>
                      <a:r>
                        <a:rPr lang="ja-JP" altLang="en-US" sz="800" u="none" strike="noStrike">
                          <a:effectLst/>
                        </a:rPr>
                        <a:t>やパレット）</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spec_type='color' </a:t>
                      </a:r>
                      <a:r>
                        <a:rPr lang="ja-JP" altLang="en-US" sz="800" u="none" strike="noStrike">
                          <a:effectLst/>
                        </a:rPr>
                        <a:t>で管理</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834081495"/>
                  </a:ext>
                </a:extLst>
              </a:tr>
              <a:tr h="140366">
                <a:tc>
                  <a:txBody>
                    <a:bodyPr/>
                    <a:lstStyle/>
                    <a:p>
                      <a:pPr algn="l" fontAlgn="ctr"/>
                      <a:r>
                        <a:rPr lang="ja-JP" altLang="en-US" sz="800" u="none" strike="noStrike">
                          <a:effectLst/>
                        </a:rPr>
                        <a:t>許容差</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dirty="0" err="1">
                          <a:effectLst/>
                        </a:rPr>
                        <a:t>spec_type</a:t>
                      </a:r>
                      <a:r>
                        <a:rPr lang="en-US" sz="800" u="none" strike="noStrike" dirty="0">
                          <a:effectLst/>
                        </a:rPr>
                        <a:t>='tolerance' </a:t>
                      </a:r>
                      <a:r>
                        <a:rPr lang="ja-JP" altLang="en-US" sz="800" u="none" strike="noStrike" dirty="0">
                          <a:effectLst/>
                        </a:rPr>
                        <a:t>で管理</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257863862"/>
                  </a:ext>
                </a:extLst>
              </a:tr>
              <a:tr h="140366">
                <a:tc>
                  <a:txBody>
                    <a:bodyPr/>
                    <a:lstStyle/>
                    <a:p>
                      <a:pPr algn="l" fontAlgn="ctr"/>
                      <a:r>
                        <a:rPr lang="ja-JP" altLang="en-US" sz="800" u="none" strike="noStrike">
                          <a:effectLst/>
                        </a:rPr>
                        <a:t>温度範囲</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③キーバリュー</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component_attributes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不定型項目、検索対象なら検討</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994461394"/>
                  </a:ext>
                </a:extLst>
              </a:tr>
              <a:tr h="140366">
                <a:tc>
                  <a:txBody>
                    <a:bodyPr/>
                    <a:lstStyle/>
                    <a:p>
                      <a:pPr algn="l" fontAlgn="ctr"/>
                      <a:r>
                        <a:rPr lang="zh-TW" altLang="en-US" sz="800" u="none" strike="noStrike">
                          <a:effectLst/>
                        </a:rPr>
                        <a:t>機能（特性）</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③キーバリュー</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component_attributes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自由入力項目。</a:t>
                      </a:r>
                      <a:r>
                        <a:rPr lang="en-US" altLang="ja-JP" sz="800" u="none" strike="noStrike">
                          <a:effectLst/>
                        </a:rPr>
                        <a:t>UI</a:t>
                      </a:r>
                      <a:r>
                        <a:rPr lang="ja-JP" altLang="en-US" sz="800" u="none" strike="noStrike">
                          <a:effectLst/>
                        </a:rPr>
                        <a:t>で限定候補にするなど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068793627"/>
                  </a:ext>
                </a:extLst>
              </a:tr>
              <a:tr h="260832">
                <a:tc>
                  <a:txBody>
                    <a:bodyPr/>
                    <a:lstStyle/>
                    <a:p>
                      <a:pPr algn="l" fontAlgn="ctr"/>
                      <a:r>
                        <a:rPr lang="ja-JP" altLang="en-US" sz="800" u="none" strike="noStrike">
                          <a:effectLst/>
                        </a:rPr>
                        <a:t>パッケージ</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packages, component_package</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多対多：同一部品で複数パッケージ対応</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06555488"/>
                  </a:ext>
                </a:extLst>
              </a:tr>
              <a:tr h="140366">
                <a:tc>
                  <a:txBody>
                    <a:bodyPr/>
                    <a:lstStyle/>
                    <a:p>
                      <a:pPr algn="l" fontAlgn="ctr"/>
                      <a:r>
                        <a:rPr lang="ja-JP" altLang="en-US" sz="800" u="none" strike="noStrike">
                          <a:effectLst/>
                        </a:rPr>
                        <a:t>サイズ（縦横高さ）</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dirty="0" err="1">
                          <a:effectLst/>
                        </a:rPr>
                        <a:t>spec_type</a:t>
                      </a:r>
                      <a:r>
                        <a:rPr lang="en-US" sz="800" u="none" strike="noStrike" dirty="0">
                          <a:effectLst/>
                        </a:rPr>
                        <a:t>='</a:t>
                      </a:r>
                      <a:r>
                        <a:rPr lang="en-US" sz="800" u="none" strike="noStrike" dirty="0" err="1">
                          <a:effectLst/>
                        </a:rPr>
                        <a:t>dimension_x</a:t>
                      </a:r>
                      <a:r>
                        <a:rPr lang="en-US" sz="800" u="none" strike="noStrike" dirty="0">
                          <a:effectLst/>
                        </a:rPr>
                        <a:t>/y/z' </a:t>
                      </a:r>
                      <a:r>
                        <a:rPr lang="ja-JP" altLang="en-US" sz="800" u="none" strike="noStrike" dirty="0">
                          <a:effectLst/>
                        </a:rPr>
                        <a:t>で表現</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933073588"/>
                  </a:ext>
                </a:extLst>
              </a:tr>
              <a:tr h="140366">
                <a:tc>
                  <a:txBody>
                    <a:bodyPr/>
                    <a:lstStyle/>
                    <a:p>
                      <a:pPr algn="l" fontAlgn="ctr"/>
                      <a:r>
                        <a:rPr lang="ja-JP" altLang="en-US" sz="800" u="none" strike="noStrike">
                          <a:effectLst/>
                        </a:rPr>
                        <a:t>新品／中古</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dirty="0">
                          <a:effectLst/>
                        </a:rPr>
                        <a:t>UI</a:t>
                      </a:r>
                      <a:r>
                        <a:rPr lang="ja-JP" altLang="en-US" sz="800" u="none" strike="noStrike" dirty="0">
                          <a:effectLst/>
                        </a:rPr>
                        <a:t>表示・出庫条件に利用</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671690673"/>
                  </a:ext>
                </a:extLst>
              </a:tr>
              <a:tr h="140366">
                <a:tc>
                  <a:txBody>
                    <a:bodyPr/>
                    <a:lstStyle/>
                    <a:p>
                      <a:pPr algn="l" fontAlgn="ctr"/>
                      <a:r>
                        <a:rPr lang="ja-JP" altLang="en-US" sz="800" u="none" strike="noStrike">
                          <a:effectLst/>
                        </a:rPr>
                        <a:t>在庫数（新品・中古）</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集計表示用。</a:t>
                      </a:r>
                      <a:r>
                        <a:rPr lang="en-US" sz="800" u="none" strike="noStrike">
                          <a:effectLst/>
                        </a:rPr>
                        <a:t>inventory_blocks </a:t>
                      </a:r>
                      <a:r>
                        <a:rPr lang="ja-JP" altLang="en-US" sz="800" u="none" strike="noStrike">
                          <a:effectLst/>
                        </a:rPr>
                        <a:t>と </a:t>
                      </a:r>
                      <a:r>
                        <a:rPr lang="en-US" sz="800" u="none" strike="noStrike">
                          <a:effectLst/>
                        </a:rPr>
                        <a:t>transactions </a:t>
                      </a:r>
                      <a:r>
                        <a:rPr lang="ja-JP" altLang="en-US" sz="800" u="none" strike="noStrike">
                          <a:effectLst/>
                        </a:rPr>
                        <a:t>に履歴</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119974312"/>
                  </a:ext>
                </a:extLst>
              </a:tr>
              <a:tr h="140366">
                <a:tc>
                  <a:txBody>
                    <a:bodyPr/>
                    <a:lstStyle/>
                    <a:p>
                      <a:pPr algn="l" fontAlgn="ctr"/>
                      <a:r>
                        <a:rPr lang="ja-JP" altLang="en-US" sz="800" u="none" strike="noStrike">
                          <a:effectLst/>
                        </a:rPr>
                        <a:t>在庫単位</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inventory_blocks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物理単位（リール</a:t>
                      </a:r>
                      <a:r>
                        <a:rPr lang="en-US" altLang="ja-JP" sz="800" u="none" strike="noStrike">
                          <a:effectLst/>
                        </a:rPr>
                        <a:t>/</a:t>
                      </a:r>
                      <a:r>
                        <a:rPr lang="ja-JP" altLang="en-US" sz="800" u="none" strike="noStrike">
                          <a:effectLst/>
                        </a:rPr>
                        <a:t>バラ</a:t>
                      </a:r>
                      <a:r>
                        <a:rPr lang="en-US" altLang="ja-JP" sz="800" u="none" strike="noStrike">
                          <a:effectLst/>
                        </a:rPr>
                        <a:t>/</a:t>
                      </a:r>
                      <a:r>
                        <a:rPr lang="ja-JP" altLang="en-US" sz="800" u="none" strike="noStrike">
                          <a:effectLst/>
                        </a:rPr>
                        <a:t>ロット）単位に保持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666245489"/>
                  </a:ext>
                </a:extLst>
              </a:tr>
              <a:tr h="140366">
                <a:tc>
                  <a:txBody>
                    <a:bodyPr/>
                    <a:lstStyle/>
                    <a:p>
                      <a:pPr algn="l" fontAlgn="ctr"/>
                      <a:r>
                        <a:rPr lang="ja-JP" altLang="en-US" sz="800" u="none" strike="noStrike">
                          <a:effectLst/>
                        </a:rPr>
                        <a:t>リール</a:t>
                      </a:r>
                      <a:r>
                        <a:rPr lang="en-US" sz="800" u="none" strike="noStrike">
                          <a:effectLst/>
                        </a:rPr>
                        <a:t>ID</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inventory_blocks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reel_code </a:t>
                      </a:r>
                      <a:r>
                        <a:rPr lang="ja-JP" altLang="en-US" sz="800" u="none" strike="noStrike">
                          <a:effectLst/>
                        </a:rPr>
                        <a:t>で管理</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951753219"/>
                  </a:ext>
                </a:extLst>
              </a:tr>
              <a:tr h="140366">
                <a:tc>
                  <a:txBody>
                    <a:bodyPr/>
                    <a:lstStyle/>
                    <a:p>
                      <a:pPr algn="l" fontAlgn="ctr"/>
                      <a:r>
                        <a:rPr lang="ja-JP" altLang="en-US" sz="800" u="none" strike="noStrike">
                          <a:effectLst/>
                        </a:rPr>
                        <a:t>ロット番号</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inventory_blocks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lot_number </a:t>
                      </a:r>
                      <a:r>
                        <a:rPr lang="ja-JP" altLang="en-US" sz="800" u="none" strike="noStrike">
                          <a:effectLst/>
                        </a:rPr>
                        <a:t>で管理</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149942459"/>
                  </a:ext>
                </a:extLst>
              </a:tr>
              <a:tr h="140366">
                <a:tc>
                  <a:txBody>
                    <a:bodyPr/>
                    <a:lstStyle/>
                    <a:p>
                      <a:pPr algn="l" fontAlgn="ctr"/>
                      <a:r>
                        <a:rPr lang="ja-JP" altLang="en-US" sz="800" u="none" strike="noStrike">
                          <a:effectLst/>
                        </a:rPr>
                        <a:t>保管棚番</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locations, component_location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a:effectLst/>
                        </a:rPr>
                        <a:t>QR</a:t>
                      </a:r>
                      <a:r>
                        <a:rPr lang="ja-JP" altLang="en-US" sz="800" u="none" strike="noStrike">
                          <a:effectLst/>
                        </a:rPr>
                        <a:t>対応・階層構造あり</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58318619"/>
                  </a:ext>
                </a:extLst>
              </a:tr>
              <a:tr h="140366">
                <a:tc>
                  <a:txBody>
                    <a:bodyPr/>
                    <a:lstStyle/>
                    <a:p>
                      <a:pPr algn="l" fontAlgn="ctr"/>
                      <a:r>
                        <a:rPr lang="ja-JP" altLang="en-US" sz="800" u="none" strike="noStrike">
                          <a:effectLst/>
                        </a:rPr>
                        <a:t>使用プロジェクト</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projects, component_project</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多対多：使用実績の紐付け</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45923215"/>
                  </a:ext>
                </a:extLst>
              </a:tr>
              <a:tr h="140366">
                <a:tc>
                  <a:txBody>
                    <a:bodyPr/>
                    <a:lstStyle/>
                    <a:p>
                      <a:pPr algn="l" fontAlgn="ctr"/>
                      <a:r>
                        <a:rPr lang="ja-JP" altLang="en-US" sz="800" u="none" strike="noStrike">
                          <a:effectLst/>
                        </a:rPr>
                        <a:t>入手可否</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a:effectLst/>
                        </a:rPr>
                        <a:t>EOL</a:t>
                      </a:r>
                      <a:r>
                        <a:rPr lang="ja-JP" altLang="en-US" sz="800" u="none" strike="noStrike">
                          <a:effectLst/>
                        </a:rPr>
                        <a:t>管理・調達状況に使用</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949609773"/>
                  </a:ext>
                </a:extLst>
              </a:tr>
              <a:tr h="140366">
                <a:tc>
                  <a:txBody>
                    <a:bodyPr/>
                    <a:lstStyle/>
                    <a:p>
                      <a:pPr algn="l" fontAlgn="ctr"/>
                      <a:r>
                        <a:rPr lang="ja-JP" altLang="en-US" sz="800" u="none" strike="noStrike">
                          <a:effectLst/>
                        </a:rPr>
                        <a:t>商社関連（単価・型番・商品</a:t>
                      </a:r>
                      <a:r>
                        <a:rPr lang="en-US" altLang="ja-JP" sz="800" u="none" strike="noStrike">
                          <a:effectLst/>
                        </a:rPr>
                        <a:t>URL</a:t>
                      </a:r>
                      <a:r>
                        <a:rPr lang="ja-JP" altLang="en-US" sz="800" u="none" strike="noStrike">
                          <a:effectLst/>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component_suppliers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a:effectLst/>
                        </a:rPr>
                        <a:t>1</a:t>
                      </a:r>
                      <a:r>
                        <a:rPr lang="ja-JP" altLang="en-US" sz="800" u="none" strike="noStrike">
                          <a:effectLst/>
                        </a:rPr>
                        <a:t>部品に複数商社対応可</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202046931"/>
                  </a:ext>
                </a:extLst>
              </a:tr>
              <a:tr h="140366">
                <a:tc>
                  <a:txBody>
                    <a:bodyPr/>
                    <a:lstStyle/>
                    <a:p>
                      <a:pPr algn="l" fontAlgn="ctr"/>
                      <a:r>
                        <a:rPr lang="ja-JP" altLang="en-US" sz="800" u="none" strike="noStrike">
                          <a:effectLst/>
                        </a:rPr>
                        <a:t>価格ブレーク</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supplier_price_breaks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数量に応じた単価変動を定義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436917898"/>
                  </a:ext>
                </a:extLst>
              </a:tr>
              <a:tr h="140366">
                <a:tc>
                  <a:txBody>
                    <a:bodyPr/>
                    <a:lstStyle/>
                    <a:p>
                      <a:pPr algn="l" fontAlgn="ctr"/>
                      <a:r>
                        <a:rPr lang="ja-JP" altLang="en-US" sz="800" u="none" strike="noStrike">
                          <a:effectLst/>
                        </a:rPr>
                        <a:t>送料条件</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shipping_rules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商社ごとの送料無料閾値など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71758474"/>
                  </a:ext>
                </a:extLst>
              </a:tr>
              <a:tr h="140366">
                <a:tc>
                  <a:txBody>
                    <a:bodyPr/>
                    <a:lstStyle/>
                    <a:p>
                      <a:pPr algn="l" fontAlgn="ctr"/>
                      <a:r>
                        <a:rPr lang="ja-JP" altLang="en-US" sz="800" u="none" strike="noStrike">
                          <a:effectLst/>
                        </a:rPr>
                        <a:t>データシート</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a:effectLst/>
                        </a:rPr>
                        <a:t>URL</a:t>
                      </a:r>
                      <a:r>
                        <a:rPr lang="ja-JP" altLang="en-US" sz="800" u="none" strike="noStrike">
                          <a:effectLst/>
                        </a:rPr>
                        <a:t>またはパスとして保存</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126103853"/>
                  </a:ext>
                </a:extLst>
              </a:tr>
              <a:tr h="140366">
                <a:tc>
                  <a:txBody>
                    <a:bodyPr/>
                    <a:lstStyle/>
                    <a:p>
                      <a:pPr algn="l" fontAlgn="ctr"/>
                      <a:r>
                        <a:rPr lang="en-US" sz="800" u="none" strike="noStrike">
                          <a:effectLst/>
                        </a:rPr>
                        <a:t>Altium</a:t>
                      </a:r>
                      <a:r>
                        <a:rPr lang="ja-JP" altLang="en-US" sz="800" u="none" strike="noStrike">
                          <a:effectLst/>
                        </a:rPr>
                        <a:t>情報</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component_altium_links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sch/pcb</a:t>
                      </a:r>
                      <a:r>
                        <a:rPr lang="ja-JP" altLang="en-US" sz="800" u="none" strike="noStrike">
                          <a:effectLst/>
                        </a:rPr>
                        <a:t>の</a:t>
                      </a:r>
                      <a:r>
                        <a:rPr lang="en-US" sz="800" u="none" strike="noStrike">
                          <a:effectLst/>
                        </a:rPr>
                        <a:t>lib_path, lib_name </a:t>
                      </a:r>
                      <a:r>
                        <a:rPr lang="ja-JP" altLang="en-US" sz="800" u="none" strike="noStrike">
                          <a:effectLst/>
                        </a:rPr>
                        <a:t>を分離保存</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536511895"/>
                  </a:ext>
                </a:extLst>
              </a:tr>
              <a:tr h="140366">
                <a:tc>
                  <a:txBody>
                    <a:bodyPr/>
                    <a:lstStyle/>
                    <a:p>
                      <a:pPr algn="l" fontAlgn="ctr"/>
                      <a:r>
                        <a:rPr lang="zh-TW" altLang="en-US" sz="800" u="none" strike="noStrike">
                          <a:effectLst/>
                        </a:rPr>
                        <a:t>入庫／出庫履歴</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transactions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操作ログとして保存</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443809845"/>
                  </a:ext>
                </a:extLst>
              </a:tr>
              <a:tr h="140366">
                <a:tc>
                  <a:txBody>
                    <a:bodyPr/>
                    <a:lstStyle/>
                    <a:p>
                      <a:pPr algn="l" fontAlgn="ctr"/>
                      <a:r>
                        <a:rPr lang="ja-JP" altLang="en-US" sz="800" u="none" strike="noStrike">
                          <a:effectLst/>
                        </a:rPr>
                        <a:t>作成者／更新者</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①カラム展開</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altLang="ja-JP" sz="800" u="none" strike="noStrike">
                          <a:effectLst/>
                        </a:rPr>
                        <a:t>users </a:t>
                      </a:r>
                      <a:r>
                        <a:rPr lang="ja-JP" altLang="en-US" sz="800" u="none" strike="noStrike">
                          <a:effectLst/>
                        </a:rPr>
                        <a:t>とのリレーション</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1237642038"/>
                  </a:ext>
                </a:extLst>
              </a:tr>
              <a:tr h="140366">
                <a:tc>
                  <a:txBody>
                    <a:bodyPr/>
                    <a:lstStyle/>
                    <a:p>
                      <a:pPr algn="l" fontAlgn="ctr"/>
                      <a:r>
                        <a:rPr lang="ja-JP" altLang="en-US" sz="800" u="none" strike="noStrike">
                          <a:effectLst/>
                        </a:rPr>
                        <a:t>操作履歴（誰が何を変更）</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②JOIN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audit_logs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差分記録を保持（</a:t>
                      </a:r>
                      <a:r>
                        <a:rPr lang="en-US" altLang="ja-JP" sz="800" u="none" strike="noStrike">
                          <a:effectLst/>
                        </a:rPr>
                        <a:t>JSON</a:t>
                      </a:r>
                      <a:r>
                        <a:rPr lang="ja-JP" altLang="en-US" sz="800" u="none" strike="noStrike">
                          <a:effectLst/>
                        </a:rPr>
                        <a:t>形式）</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3044840105"/>
                  </a:ext>
                </a:extLst>
              </a:tr>
              <a:tr h="140366">
                <a:tc>
                  <a:txBody>
                    <a:bodyPr/>
                    <a:lstStyle/>
                    <a:p>
                      <a:pPr algn="l" fontAlgn="ctr"/>
                      <a:r>
                        <a:rPr lang="ja-JP" altLang="en-US" sz="800" u="none" strike="noStrike">
                          <a:effectLst/>
                        </a:rPr>
                        <a:t>カスタム属性</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a:effectLst/>
                        </a:rPr>
                        <a:t>③キーバリュー</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en-US" sz="800" u="none" strike="noStrike">
                          <a:effectLst/>
                        </a:rPr>
                        <a:t>component_attributes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tc>
                  <a:txBody>
                    <a:bodyPr/>
                    <a:lstStyle/>
                    <a:p>
                      <a:pPr algn="l" fontAlgn="ctr"/>
                      <a:r>
                        <a:rPr lang="ja-JP" altLang="en-US" sz="800" u="none" strike="noStrike" dirty="0">
                          <a:effectLst/>
                        </a:rPr>
                        <a:t>ユーザー定義項目</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5615" marR="5615" marT="5615" marB="0" anchor="ctr"/>
                </a:tc>
                <a:extLst>
                  <a:ext uri="{0D108BD9-81ED-4DB2-BD59-A6C34878D82A}">
                    <a16:rowId xmlns:a16="http://schemas.microsoft.com/office/drawing/2014/main" val="4242431406"/>
                  </a:ext>
                </a:extLst>
              </a:tr>
            </a:tbl>
          </a:graphicData>
        </a:graphic>
      </p:graphicFrame>
      <p:graphicFrame>
        <p:nvGraphicFramePr>
          <p:cNvPr id="6" name="表 5">
            <a:extLst>
              <a:ext uri="{FF2B5EF4-FFF2-40B4-BE49-F238E27FC236}">
                <a16:creationId xmlns:a16="http://schemas.microsoft.com/office/drawing/2014/main" id="{E0C705B8-678F-3128-8C17-B0BCA1F6E0E1}"/>
              </a:ext>
            </a:extLst>
          </p:cNvPr>
          <p:cNvGraphicFramePr>
            <a:graphicFrameLocks noGrp="1"/>
          </p:cNvGraphicFramePr>
          <p:nvPr>
            <p:extLst>
              <p:ext uri="{D42A27DB-BD31-4B8C-83A1-F6EECF244321}">
                <p14:modId xmlns:p14="http://schemas.microsoft.com/office/powerpoint/2010/main" val="1981447855"/>
              </p:ext>
            </p:extLst>
          </p:nvPr>
        </p:nvGraphicFramePr>
        <p:xfrm>
          <a:off x="6651623" y="1288720"/>
          <a:ext cx="5291139" cy="3420000"/>
        </p:xfrm>
        <a:graphic>
          <a:graphicData uri="http://schemas.openxmlformats.org/drawingml/2006/table">
            <a:tbl>
              <a:tblPr firstRow="1" bandRow="1">
                <a:tableStyleId>{073A0DAA-6AF3-43AB-8588-CEC1D06C72B9}</a:tableStyleId>
              </a:tblPr>
              <a:tblGrid>
                <a:gridCol w="1951734">
                  <a:extLst>
                    <a:ext uri="{9D8B030D-6E8A-4147-A177-3AD203B41FA5}">
                      <a16:colId xmlns:a16="http://schemas.microsoft.com/office/drawing/2014/main" val="233191901"/>
                    </a:ext>
                  </a:extLst>
                </a:gridCol>
                <a:gridCol w="3339405">
                  <a:extLst>
                    <a:ext uri="{9D8B030D-6E8A-4147-A177-3AD203B41FA5}">
                      <a16:colId xmlns:a16="http://schemas.microsoft.com/office/drawing/2014/main" val="3676769565"/>
                    </a:ext>
                  </a:extLst>
                </a:gridCol>
              </a:tblGrid>
              <a:tr h="180000">
                <a:tc>
                  <a:txBody>
                    <a:bodyPr/>
                    <a:lstStyle/>
                    <a:p>
                      <a:pPr algn="l" fontAlgn="ctr"/>
                      <a:r>
                        <a:rPr lang="ja-JP" altLang="en-US" sz="800" u="none" strike="noStrike">
                          <a:effectLst/>
                        </a:rPr>
                        <a:t>テーブル名</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用途</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956486151"/>
                  </a:ext>
                </a:extLst>
              </a:tr>
              <a:tr h="180000">
                <a:tc>
                  <a:txBody>
                    <a:bodyPr/>
                    <a:lstStyle/>
                    <a:p>
                      <a:pPr algn="l" fontAlgn="ctr"/>
                      <a:r>
                        <a:rPr lang="en-US" sz="800" u="none" strike="noStrike">
                          <a:effectLst/>
                        </a:rPr>
                        <a:t>components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部品基本情報（型番、通称、在庫、新品</a:t>
                      </a:r>
                      <a:r>
                        <a:rPr lang="en-US" altLang="ja-JP" sz="800" u="none" strike="noStrike">
                          <a:effectLst/>
                        </a:rPr>
                        <a:t>/</a:t>
                      </a:r>
                      <a:r>
                        <a:rPr lang="ja-JP" altLang="en-US" sz="800" u="none" strike="noStrike">
                          <a:effectLst/>
                        </a:rPr>
                        <a:t>中古、ファイルパスなど）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2174012046"/>
                  </a:ext>
                </a:extLst>
              </a:tr>
              <a:tr h="180000">
                <a:tc>
                  <a:txBody>
                    <a:bodyPr/>
                    <a:lstStyle/>
                    <a:p>
                      <a:pPr algn="l" fontAlgn="ctr"/>
                      <a:r>
                        <a:rPr lang="en-US" sz="800" u="none" strike="noStrike">
                          <a:effectLst/>
                        </a:rPr>
                        <a:t>component_specs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スペック情報（定格、寸法、電圧電流、サイズ、単位付き）</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483659281"/>
                  </a:ext>
                </a:extLst>
              </a:tr>
              <a:tr h="180000">
                <a:tc>
                  <a:txBody>
                    <a:bodyPr/>
                    <a:lstStyle/>
                    <a:p>
                      <a:pPr algn="l" fontAlgn="ctr"/>
                      <a:r>
                        <a:rPr lang="en-US" sz="800" u="none" strike="noStrike">
                          <a:effectLst/>
                        </a:rPr>
                        <a:t>spec_types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スペック種別＋単位の定義マスタ（例</a:t>
                      </a:r>
                      <a:r>
                        <a:rPr lang="en-US" altLang="ja-JP" sz="800" u="none" strike="noStrike">
                          <a:effectLst/>
                        </a:rPr>
                        <a:t>: </a:t>
                      </a:r>
                      <a:r>
                        <a:rPr lang="ja-JP" altLang="en-US" sz="800" u="none" strike="noStrike">
                          <a:effectLst/>
                        </a:rPr>
                        <a:t>電圧＋</a:t>
                      </a:r>
                      <a:r>
                        <a:rPr lang="en-US" altLang="ja-JP" sz="800" u="none" strike="noStrike">
                          <a:effectLst/>
                        </a:rPr>
                        <a:t>V, mV, kV</a:t>
                      </a:r>
                      <a:r>
                        <a:rPr lang="ja-JP" altLang="en-US" sz="800" u="none" strike="noStrike">
                          <a:effectLst/>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4074690181"/>
                  </a:ext>
                </a:extLst>
              </a:tr>
              <a:tr h="180000">
                <a:tc>
                  <a:txBody>
                    <a:bodyPr/>
                    <a:lstStyle/>
                    <a:p>
                      <a:pPr algn="l" fontAlgn="ctr"/>
                      <a:r>
                        <a:rPr lang="en-US" sz="800" u="none" strike="noStrike">
                          <a:effectLst/>
                        </a:rPr>
                        <a:t>attribute_keys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キーバリュー属性で使う </a:t>
                      </a:r>
                      <a:r>
                        <a:rPr lang="en-US" altLang="ja-JP" sz="800" u="none" strike="noStrike">
                          <a:effectLst/>
                        </a:rPr>
                        <a:t>key </a:t>
                      </a:r>
                      <a:r>
                        <a:rPr lang="ja-JP" altLang="en-US" sz="800" u="none" strike="noStrike">
                          <a:effectLst/>
                        </a:rPr>
                        <a:t>候補の定義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2327226733"/>
                  </a:ext>
                </a:extLst>
              </a:tr>
              <a:tr h="180000">
                <a:tc>
                  <a:txBody>
                    <a:bodyPr/>
                    <a:lstStyle/>
                    <a:p>
                      <a:pPr algn="l" fontAlgn="ctr"/>
                      <a:r>
                        <a:rPr lang="en-US" sz="800" u="none" strike="noStrike">
                          <a:effectLst/>
                        </a:rPr>
                        <a:t>component_attributes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柔軟な属性の追加項目（例</a:t>
                      </a:r>
                      <a:r>
                        <a:rPr lang="en-US" altLang="ja-JP" sz="800" u="none" strike="noStrike">
                          <a:effectLst/>
                        </a:rPr>
                        <a:t>: </a:t>
                      </a:r>
                      <a:r>
                        <a:rPr lang="ja-JP" altLang="en-US" sz="800" u="none" strike="noStrike">
                          <a:effectLst/>
                        </a:rPr>
                        <a:t>特性、温度範囲など）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690677382"/>
                  </a:ext>
                </a:extLst>
              </a:tr>
              <a:tr h="180000">
                <a:tc>
                  <a:txBody>
                    <a:bodyPr/>
                    <a:lstStyle/>
                    <a:p>
                      <a:pPr algn="l" fontAlgn="ctr"/>
                      <a:r>
                        <a:rPr lang="en-US" sz="800" u="none" strike="noStrike">
                          <a:effectLst/>
                        </a:rPr>
                        <a:t>categories / component_category</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zh-TW" altLang="en-US" sz="800" u="none" strike="noStrike">
                          <a:effectLst/>
                        </a:rPr>
                        <a:t>分類（多対多）構造</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449996615"/>
                  </a:ext>
                </a:extLst>
              </a:tr>
              <a:tr h="180000">
                <a:tc>
                  <a:txBody>
                    <a:bodyPr/>
                    <a:lstStyle/>
                    <a:p>
                      <a:pPr algn="l" fontAlgn="ctr"/>
                      <a:r>
                        <a:rPr lang="en-US" sz="800" u="none" strike="noStrike">
                          <a:effectLst/>
                        </a:rPr>
                        <a:t>packages / component_package</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パッケージ情報（多対多：画像・寸法・</a:t>
                      </a:r>
                      <a:r>
                        <a:rPr lang="en-US" altLang="ja-JP" sz="800" u="none" strike="noStrike">
                          <a:effectLst/>
                        </a:rPr>
                        <a:t>PDF</a:t>
                      </a:r>
                      <a:r>
                        <a:rPr lang="ja-JP" altLang="en-US" sz="800" u="none" strike="noStrike">
                          <a:effectLst/>
                        </a:rPr>
                        <a:t>付き）</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619508309"/>
                  </a:ext>
                </a:extLst>
              </a:tr>
              <a:tr h="180000">
                <a:tc>
                  <a:txBody>
                    <a:bodyPr/>
                    <a:lstStyle/>
                    <a:p>
                      <a:pPr algn="l" fontAlgn="ctr"/>
                      <a:r>
                        <a:rPr lang="en-US" sz="800" u="none" strike="noStrike">
                          <a:effectLst/>
                        </a:rPr>
                        <a:t>projects / component_project</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使用プロジェクト（構成部品数含む）</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2819630283"/>
                  </a:ext>
                </a:extLst>
              </a:tr>
              <a:tr h="180000">
                <a:tc>
                  <a:txBody>
                    <a:bodyPr/>
                    <a:lstStyle/>
                    <a:p>
                      <a:pPr algn="l" fontAlgn="ctr"/>
                      <a:r>
                        <a:rPr lang="en-US" sz="800" u="none" strike="noStrike">
                          <a:effectLst/>
                        </a:rPr>
                        <a:t>locations / component_location</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保管棚・</a:t>
                      </a:r>
                      <a:r>
                        <a:rPr lang="en-US" altLang="ja-JP" sz="800" u="none" strike="noStrike">
                          <a:effectLst/>
                        </a:rPr>
                        <a:t>QR</a:t>
                      </a:r>
                      <a:r>
                        <a:rPr lang="ja-JP" altLang="en-US" sz="800" u="none" strike="noStrike">
                          <a:effectLst/>
                        </a:rPr>
                        <a:t>コード対応の場所管理</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4229747114"/>
                  </a:ext>
                </a:extLst>
              </a:tr>
              <a:tr h="180000">
                <a:tc>
                  <a:txBody>
                    <a:bodyPr/>
                    <a:lstStyle/>
                    <a:p>
                      <a:pPr algn="l" fontAlgn="ctr"/>
                      <a:r>
                        <a:rPr lang="en-US" sz="800" u="none" strike="noStrike">
                          <a:effectLst/>
                        </a:rPr>
                        <a:t>suppliers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商社情報（会社名・略号など）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458152768"/>
                  </a:ext>
                </a:extLst>
              </a:tr>
              <a:tr h="180000">
                <a:tc>
                  <a:txBody>
                    <a:bodyPr/>
                    <a:lstStyle/>
                    <a:p>
                      <a:pPr algn="l" fontAlgn="ctr"/>
                      <a:r>
                        <a:rPr lang="en-US" sz="800" u="none" strike="noStrike">
                          <a:effectLst/>
                        </a:rPr>
                        <a:t>component_suppliers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部品ごとの仕入れ情報（単価・型番・</a:t>
                      </a:r>
                      <a:r>
                        <a:rPr lang="en-US" altLang="ja-JP" sz="800" u="none" strike="noStrike">
                          <a:effectLst/>
                        </a:rPr>
                        <a:t>URL</a:t>
                      </a:r>
                      <a:r>
                        <a:rPr lang="ja-JP" altLang="en-US" sz="800" u="none" strike="noStrike">
                          <a:effectLst/>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3257223345"/>
                  </a:ext>
                </a:extLst>
              </a:tr>
              <a:tr h="180000">
                <a:tc>
                  <a:txBody>
                    <a:bodyPr/>
                    <a:lstStyle/>
                    <a:p>
                      <a:pPr algn="l" fontAlgn="ctr"/>
                      <a:r>
                        <a:rPr lang="en-US" sz="800" u="none" strike="noStrike">
                          <a:effectLst/>
                        </a:rPr>
                        <a:t>supplier_price_breaks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数量条件ごとの単価定義（価格ブレーク）</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2042958629"/>
                  </a:ext>
                </a:extLst>
              </a:tr>
              <a:tr h="180000">
                <a:tc>
                  <a:txBody>
                    <a:bodyPr/>
                    <a:lstStyle/>
                    <a:p>
                      <a:pPr algn="l" fontAlgn="ctr"/>
                      <a:r>
                        <a:rPr lang="en-US" sz="800" u="none" strike="noStrike">
                          <a:effectLst/>
                        </a:rPr>
                        <a:t>shipping_rules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商社ごとの送料条件（閾値</a:t>
                      </a:r>
                      <a:r>
                        <a:rPr lang="en-US" altLang="ja-JP" sz="800" u="none" strike="noStrike">
                          <a:effectLst/>
                        </a:rPr>
                        <a:t>/</a:t>
                      </a:r>
                      <a:r>
                        <a:rPr lang="ja-JP" altLang="en-US" sz="800" u="none" strike="noStrike">
                          <a:effectLst/>
                        </a:rPr>
                        <a:t>送料）</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40332271"/>
                  </a:ext>
                </a:extLst>
              </a:tr>
              <a:tr h="180000">
                <a:tc>
                  <a:txBody>
                    <a:bodyPr/>
                    <a:lstStyle/>
                    <a:p>
                      <a:pPr algn="l" fontAlgn="ctr"/>
                      <a:r>
                        <a:rPr lang="en-US" sz="800" u="none" strike="noStrike">
                          <a:effectLst/>
                        </a:rPr>
                        <a:t>inventory_blocks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保管単位（パッケージ種別、ロット番号、リール</a:t>
                      </a:r>
                      <a:r>
                        <a:rPr lang="en-US" altLang="ja-JP" sz="800" u="none" strike="noStrike">
                          <a:effectLst/>
                        </a:rPr>
                        <a:t>ID</a:t>
                      </a:r>
                      <a:r>
                        <a:rPr lang="ja-JP" altLang="en-US" sz="800" u="none" strike="noStrike">
                          <a:effectLst/>
                        </a:rPr>
                        <a:t>など）</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870233032"/>
                  </a:ext>
                </a:extLst>
              </a:tr>
              <a:tr h="180000">
                <a:tc>
                  <a:txBody>
                    <a:bodyPr/>
                    <a:lstStyle/>
                    <a:p>
                      <a:pPr algn="l" fontAlgn="ctr"/>
                      <a:r>
                        <a:rPr lang="en-US" sz="800" u="none" strike="noStrike">
                          <a:effectLst/>
                        </a:rPr>
                        <a:t>transactions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入出庫履歴（誰が・いつ・どれだけ）</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1824612731"/>
                  </a:ext>
                </a:extLst>
              </a:tr>
              <a:tr h="180000">
                <a:tc>
                  <a:txBody>
                    <a:bodyPr/>
                    <a:lstStyle/>
                    <a:p>
                      <a:pPr algn="l" fontAlgn="ctr"/>
                      <a:r>
                        <a:rPr lang="en-US" sz="800" u="none" strike="noStrike">
                          <a:effectLst/>
                        </a:rPr>
                        <a:t>component_altium_links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en-US" altLang="ja-JP" sz="800" u="none" strike="noStrike" dirty="0">
                          <a:effectLst/>
                        </a:rPr>
                        <a:t>Altium</a:t>
                      </a:r>
                      <a:r>
                        <a:rPr lang="ja-JP" altLang="en-US" sz="800" u="none" strike="noStrike" dirty="0">
                          <a:effectLst/>
                        </a:rPr>
                        <a:t>連携情報（</a:t>
                      </a:r>
                      <a:r>
                        <a:rPr lang="en-US" altLang="ja-JP" sz="800" u="none" strike="noStrike" dirty="0">
                          <a:effectLst/>
                        </a:rPr>
                        <a:t>sch/</a:t>
                      </a:r>
                      <a:r>
                        <a:rPr lang="en-US" altLang="ja-JP" sz="800" u="none" strike="noStrike" dirty="0" err="1">
                          <a:effectLst/>
                        </a:rPr>
                        <a:t>pcb</a:t>
                      </a:r>
                      <a:r>
                        <a:rPr lang="ja-JP" altLang="en-US" sz="800" u="none" strike="noStrike" dirty="0">
                          <a:effectLst/>
                        </a:rPr>
                        <a:t>ライブラリパス・名称）</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463057552"/>
                  </a:ext>
                </a:extLst>
              </a:tr>
              <a:tr h="180000">
                <a:tc>
                  <a:txBody>
                    <a:bodyPr/>
                    <a:lstStyle/>
                    <a:p>
                      <a:pPr algn="l" fontAlgn="ctr"/>
                      <a:r>
                        <a:rPr lang="en-US" sz="800" u="none" strike="noStrike">
                          <a:effectLst/>
                        </a:rPr>
                        <a:t>users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a:effectLst/>
                        </a:rPr>
                        <a:t>ユーザー情報（表示名、役割、認証情報）</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2602058590"/>
                  </a:ext>
                </a:extLst>
              </a:tr>
              <a:tr h="180000">
                <a:tc>
                  <a:txBody>
                    <a:bodyPr/>
                    <a:lstStyle/>
                    <a:p>
                      <a:pPr algn="l" fontAlgn="ctr"/>
                      <a:r>
                        <a:rPr lang="en-US" sz="800" u="none" strike="noStrike">
                          <a:effectLst/>
                        </a:rPr>
                        <a:t>audit_logs</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tc>
                  <a:txBody>
                    <a:bodyPr/>
                    <a:lstStyle/>
                    <a:p>
                      <a:pPr algn="l" fontAlgn="ctr"/>
                      <a:r>
                        <a:rPr lang="ja-JP" altLang="en-US" sz="800" u="none" strike="noStrike" dirty="0">
                          <a:effectLst/>
                        </a:rPr>
                        <a:t>操作履歴ログ（変更差分を記録）</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9161" marR="9161" marT="9161" marB="0" anchor="ctr"/>
                </a:tc>
                <a:extLst>
                  <a:ext uri="{0D108BD9-81ED-4DB2-BD59-A6C34878D82A}">
                    <a16:rowId xmlns:a16="http://schemas.microsoft.com/office/drawing/2014/main" val="4274729453"/>
                  </a:ext>
                </a:extLst>
              </a:tr>
            </a:tbl>
          </a:graphicData>
        </a:graphic>
      </p:graphicFrame>
    </p:spTree>
    <p:extLst>
      <p:ext uri="{BB962C8B-B14F-4D97-AF65-F5344CB8AC3E}">
        <p14:creationId xmlns:p14="http://schemas.microsoft.com/office/powerpoint/2010/main" val="17003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B5FCF-3442-67CF-E91A-06BEF68779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263FF0-C550-4C55-67D6-AEC6C7FB604C}"/>
              </a:ext>
            </a:extLst>
          </p:cNvPr>
          <p:cNvSpPr>
            <a:spLocks noGrp="1"/>
          </p:cNvSpPr>
          <p:nvPr>
            <p:ph type="title"/>
          </p:nvPr>
        </p:nvSpPr>
        <p:spPr/>
        <p:txBody>
          <a:bodyPr/>
          <a:lstStyle/>
          <a:p>
            <a:r>
              <a:rPr kumimoji="1" lang="en-US" altLang="ja-JP" dirty="0"/>
              <a:t>DB</a:t>
            </a:r>
            <a:r>
              <a:rPr kumimoji="1" lang="ja-JP" altLang="en-US" dirty="0"/>
              <a:t>設計</a:t>
            </a:r>
            <a:r>
              <a:rPr kumimoji="1" lang="en-US" altLang="ja-JP" dirty="0"/>
              <a:t>-ER</a:t>
            </a:r>
            <a:r>
              <a:rPr kumimoji="1" lang="ja-JP" altLang="en-US" dirty="0"/>
              <a:t>図</a:t>
            </a:r>
          </a:p>
        </p:txBody>
      </p:sp>
      <p:graphicFrame>
        <p:nvGraphicFramePr>
          <p:cNvPr id="69" name="表 68">
            <a:extLst>
              <a:ext uri="{FF2B5EF4-FFF2-40B4-BE49-F238E27FC236}">
                <a16:creationId xmlns:a16="http://schemas.microsoft.com/office/drawing/2014/main" id="{F088ADDB-B65B-CE5B-302E-409D816C2032}"/>
              </a:ext>
            </a:extLst>
          </p:cNvPr>
          <p:cNvGraphicFramePr>
            <a:graphicFrameLocks noGrp="1"/>
          </p:cNvGraphicFramePr>
          <p:nvPr>
            <p:extLst>
              <p:ext uri="{D42A27DB-BD31-4B8C-83A1-F6EECF244321}">
                <p14:modId xmlns:p14="http://schemas.microsoft.com/office/powerpoint/2010/main" val="4141192084"/>
              </p:ext>
            </p:extLst>
          </p:nvPr>
        </p:nvGraphicFramePr>
        <p:xfrm>
          <a:off x="311799" y="1776413"/>
          <a:ext cx="11568401" cy="4275474"/>
        </p:xfrm>
        <a:graphic>
          <a:graphicData uri="http://schemas.openxmlformats.org/drawingml/2006/table">
            <a:tbl>
              <a:tblPr firstRow="1" bandRow="1">
                <a:tableStyleId>{073A0DAA-6AF3-43AB-8588-CEC1D06C72B9}</a:tableStyleId>
              </a:tblPr>
              <a:tblGrid>
                <a:gridCol w="1745453">
                  <a:extLst>
                    <a:ext uri="{9D8B030D-6E8A-4147-A177-3AD203B41FA5}">
                      <a16:colId xmlns:a16="http://schemas.microsoft.com/office/drawing/2014/main" val="950625639"/>
                    </a:ext>
                  </a:extLst>
                </a:gridCol>
                <a:gridCol w="1456528">
                  <a:extLst>
                    <a:ext uri="{9D8B030D-6E8A-4147-A177-3AD203B41FA5}">
                      <a16:colId xmlns:a16="http://schemas.microsoft.com/office/drawing/2014/main" val="405107896"/>
                    </a:ext>
                  </a:extLst>
                </a:gridCol>
                <a:gridCol w="8366420">
                  <a:extLst>
                    <a:ext uri="{9D8B030D-6E8A-4147-A177-3AD203B41FA5}">
                      <a16:colId xmlns:a16="http://schemas.microsoft.com/office/drawing/2014/main" val="3622738589"/>
                    </a:ext>
                  </a:extLst>
                </a:gridCol>
              </a:tblGrid>
              <a:tr h="0">
                <a:tc>
                  <a:txBody>
                    <a:bodyPr/>
                    <a:lstStyle/>
                    <a:p>
                      <a:r>
                        <a:rPr lang="ja-JP" altLang="en-US" sz="1000">
                          <a:latin typeface="Meiryo UI" panose="020B0604030504040204" pitchFamily="50" charset="-128"/>
                          <a:ea typeface="Meiryo UI" panose="020B0604030504040204" pitchFamily="50" charset="-128"/>
                        </a:rPr>
                        <a:t>テーブル名</a:t>
                      </a: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用途</a:t>
                      </a: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主なカラム</a:t>
                      </a:r>
                    </a:p>
                  </a:txBody>
                  <a:tcPr marL="20239" marR="20239" marT="10119" marB="10119" anchor="ctr"/>
                </a:tc>
                <a:extLst>
                  <a:ext uri="{0D108BD9-81ED-4DB2-BD59-A6C34878D82A}">
                    <a16:rowId xmlns:a16="http://schemas.microsoft.com/office/drawing/2014/main" val="2979749488"/>
                  </a:ext>
                </a:extLst>
              </a:tr>
              <a:tr h="79988">
                <a:tc>
                  <a:txBody>
                    <a:bodyPr/>
                    <a:lstStyle/>
                    <a:p>
                      <a:r>
                        <a:rPr lang="en-US" sz="1000" b="1">
                          <a:latin typeface="Meiryo UI" panose="020B0604030504040204" pitchFamily="50" charset="-128"/>
                          <a:ea typeface="Meiryo UI" panose="020B0604030504040204" pitchFamily="50" charset="-128"/>
                        </a:rPr>
                        <a:t>components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zh-TW" altLang="en-US" sz="1000">
                          <a:latin typeface="Meiryo UI" panose="020B0604030504040204" pitchFamily="50" charset="-128"/>
                          <a:ea typeface="Meiryo UI" panose="020B0604030504040204" pitchFamily="50" charset="-128"/>
                        </a:rPr>
                        <a:t>部品基本情報</a:t>
                      </a:r>
                    </a:p>
                  </a:txBody>
                  <a:tcPr marL="20239" marR="20239" marT="10119" marB="10119" anchor="ctr"/>
                </a:tc>
                <a:tc>
                  <a:txBody>
                    <a:bodyPr/>
                    <a:lstStyle/>
                    <a:p>
                      <a:r>
                        <a:rPr lang="en-US" sz="1000" dirty="0">
                          <a:latin typeface="Meiryo UI" panose="020B0604030504040204" pitchFamily="50" charset="-128"/>
                          <a:ea typeface="Meiryo UI" panose="020B0604030504040204" pitchFamily="50" charset="-128"/>
                        </a:rPr>
                        <a:t>id (PK), manufacturer, </a:t>
                      </a:r>
                      <a:r>
                        <a:rPr lang="en-US" sz="1000" dirty="0" err="1">
                          <a:latin typeface="Meiryo UI" panose="020B0604030504040204" pitchFamily="50" charset="-128"/>
                          <a:ea typeface="Meiryo UI" panose="020B0604030504040204" pitchFamily="50" charset="-128"/>
                        </a:rPr>
                        <a:t>part_number</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common_name</a:t>
                      </a:r>
                      <a:r>
                        <a:rPr lang="en-US" sz="1000" dirty="0">
                          <a:latin typeface="Meiryo UI" panose="020B0604030504040204" pitchFamily="50" charset="-128"/>
                          <a:ea typeface="Meiryo UI" panose="020B0604030504040204" pitchFamily="50" charset="-128"/>
                        </a:rPr>
                        <a:t>, condition, </a:t>
                      </a:r>
                      <a:r>
                        <a:rPr lang="en-US" sz="1000" dirty="0" err="1">
                          <a:latin typeface="Meiryo UI" panose="020B0604030504040204" pitchFamily="50" charset="-128"/>
                          <a:ea typeface="Meiryo UI" panose="020B0604030504040204" pitchFamily="50" charset="-128"/>
                        </a:rPr>
                        <a:t>quantity_new</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quantity_used</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procurement_status</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datasheet_path</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image_path</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created_by</a:t>
                      </a:r>
                      <a:r>
                        <a:rPr lang="en-US" sz="1000" dirty="0">
                          <a:latin typeface="Meiryo UI" panose="020B0604030504040204" pitchFamily="50" charset="-128"/>
                          <a:ea typeface="Meiryo UI" panose="020B0604030504040204" pitchFamily="50" charset="-128"/>
                        </a:rPr>
                        <a:t> (FK), </a:t>
                      </a:r>
                      <a:r>
                        <a:rPr lang="en-US" sz="1000" dirty="0" err="1">
                          <a:latin typeface="Meiryo UI" panose="020B0604030504040204" pitchFamily="50" charset="-128"/>
                          <a:ea typeface="Meiryo UI" panose="020B0604030504040204" pitchFamily="50" charset="-128"/>
                        </a:rPr>
                        <a:t>updated_by</a:t>
                      </a:r>
                      <a:r>
                        <a:rPr lang="en-US" sz="1000" dirty="0">
                          <a:latin typeface="Meiryo UI" panose="020B0604030504040204" pitchFamily="50" charset="-128"/>
                          <a:ea typeface="Meiryo UI" panose="020B0604030504040204" pitchFamily="50" charset="-128"/>
                        </a:rPr>
                        <a:t> (FK), </a:t>
                      </a:r>
                      <a:r>
                        <a:rPr lang="en-US" sz="1000" dirty="0" err="1">
                          <a:latin typeface="Meiryo UI" panose="020B0604030504040204" pitchFamily="50" charset="-128"/>
                          <a:ea typeface="Meiryo UI" panose="020B0604030504040204" pitchFamily="50" charset="-128"/>
                        </a:rPr>
                        <a:t>deleted_at</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created_at</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updated_at</a:t>
                      </a:r>
                      <a:endParaRPr lang="en-US" sz="1000" dirty="0">
                        <a:latin typeface="Meiryo UI" panose="020B0604030504040204" pitchFamily="50" charset="-128"/>
                        <a:ea typeface="Meiryo UI" panose="020B0604030504040204" pitchFamily="50" charset="-128"/>
                      </a:endParaRPr>
                    </a:p>
                  </a:txBody>
                  <a:tcPr marL="20239" marR="20239" marT="10119" marB="10119" anchor="ctr"/>
                </a:tc>
                <a:extLst>
                  <a:ext uri="{0D108BD9-81ED-4DB2-BD59-A6C34878D82A}">
                    <a16:rowId xmlns:a16="http://schemas.microsoft.com/office/drawing/2014/main" val="882382696"/>
                  </a:ext>
                </a:extLst>
              </a:tr>
              <a:tr h="0">
                <a:tc>
                  <a:txBody>
                    <a:bodyPr/>
                    <a:lstStyle/>
                    <a:p>
                      <a:r>
                        <a:rPr lang="en-US" sz="1000" b="1">
                          <a:latin typeface="Meiryo UI" panose="020B0604030504040204" pitchFamily="50" charset="-128"/>
                          <a:ea typeface="Meiryo UI" panose="020B0604030504040204" pitchFamily="50" charset="-128"/>
                        </a:rPr>
                        <a:t>component_specs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スペック値</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spec_type_id (FK), value</a:t>
                      </a:r>
                    </a:p>
                  </a:txBody>
                  <a:tcPr marL="20239" marR="20239" marT="10119" marB="10119" anchor="ctr"/>
                </a:tc>
                <a:extLst>
                  <a:ext uri="{0D108BD9-81ED-4DB2-BD59-A6C34878D82A}">
                    <a16:rowId xmlns:a16="http://schemas.microsoft.com/office/drawing/2014/main" val="1050664878"/>
                  </a:ext>
                </a:extLst>
              </a:tr>
              <a:tr h="0">
                <a:tc>
                  <a:txBody>
                    <a:bodyPr/>
                    <a:lstStyle/>
                    <a:p>
                      <a:r>
                        <a:rPr lang="en-US" sz="1000" b="1">
                          <a:latin typeface="Meiryo UI" panose="020B0604030504040204" pitchFamily="50" charset="-128"/>
                          <a:ea typeface="Meiryo UI" panose="020B0604030504040204" pitchFamily="50" charset="-128"/>
                        </a:rPr>
                        <a:t>spec_types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スペック種別と単位</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spec_name, unit, description</a:t>
                      </a:r>
                    </a:p>
                  </a:txBody>
                  <a:tcPr marL="20239" marR="20239" marT="10119" marB="10119" anchor="ctr"/>
                </a:tc>
                <a:extLst>
                  <a:ext uri="{0D108BD9-81ED-4DB2-BD59-A6C34878D82A}">
                    <a16:rowId xmlns:a16="http://schemas.microsoft.com/office/drawing/2014/main" val="2210296359"/>
                  </a:ext>
                </a:extLst>
              </a:tr>
              <a:tr h="0">
                <a:tc>
                  <a:txBody>
                    <a:bodyPr/>
                    <a:lstStyle/>
                    <a:p>
                      <a:r>
                        <a:rPr lang="en-US" sz="1000" b="1">
                          <a:latin typeface="Meiryo UI" panose="020B0604030504040204" pitchFamily="50" charset="-128"/>
                          <a:ea typeface="Meiryo UI" panose="020B0604030504040204" pitchFamily="50" charset="-128"/>
                        </a:rPr>
                        <a:t>attribute_keys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属性キー定義</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name, code, description</a:t>
                      </a:r>
                    </a:p>
                  </a:txBody>
                  <a:tcPr marL="20239" marR="20239" marT="10119" marB="10119" anchor="ctr"/>
                </a:tc>
                <a:extLst>
                  <a:ext uri="{0D108BD9-81ED-4DB2-BD59-A6C34878D82A}">
                    <a16:rowId xmlns:a16="http://schemas.microsoft.com/office/drawing/2014/main" val="1396277724"/>
                  </a:ext>
                </a:extLst>
              </a:tr>
              <a:tr h="0">
                <a:tc>
                  <a:txBody>
                    <a:bodyPr/>
                    <a:lstStyle/>
                    <a:p>
                      <a:r>
                        <a:rPr lang="en-US" sz="1000" b="1">
                          <a:latin typeface="Meiryo UI" panose="020B0604030504040204" pitchFamily="50" charset="-128"/>
                          <a:ea typeface="Meiryo UI" panose="020B0604030504040204" pitchFamily="50" charset="-128"/>
                        </a:rPr>
                        <a:t>component_attributes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その他キーバリュー属性</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attribute_key_id (FK), value</a:t>
                      </a:r>
                    </a:p>
                  </a:txBody>
                  <a:tcPr marL="20239" marR="20239" marT="10119" marB="10119" anchor="ctr"/>
                </a:tc>
                <a:extLst>
                  <a:ext uri="{0D108BD9-81ED-4DB2-BD59-A6C34878D82A}">
                    <a16:rowId xmlns:a16="http://schemas.microsoft.com/office/drawing/2014/main" val="3392585928"/>
                  </a:ext>
                </a:extLst>
              </a:tr>
              <a:tr h="0">
                <a:tc>
                  <a:txBody>
                    <a:bodyPr/>
                    <a:lstStyle/>
                    <a:p>
                      <a:r>
                        <a:rPr lang="en-US" sz="1000" b="1">
                          <a:latin typeface="Meiryo UI" panose="020B0604030504040204" pitchFamily="50" charset="-128"/>
                          <a:ea typeface="Meiryo UI" panose="020B0604030504040204" pitchFamily="50" charset="-128"/>
                        </a:rPr>
                        <a:t>component_altium_links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Altium </a:t>
                      </a:r>
                      <a:r>
                        <a:rPr lang="ja-JP" altLang="en-US" sz="1000">
                          <a:latin typeface="Meiryo UI" panose="020B0604030504040204" pitchFamily="50" charset="-128"/>
                          <a:ea typeface="Meiryo UI" panose="020B0604030504040204" pitchFamily="50" charset="-128"/>
                        </a:rPr>
                        <a:t>連携情報</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sch_lib_path, sch_lib_name, pcb_lib_path, pcb_lib_name, created_at, updated_at</a:t>
                      </a:r>
                    </a:p>
                  </a:txBody>
                  <a:tcPr marL="20239" marR="20239" marT="10119" marB="10119" anchor="ctr"/>
                </a:tc>
                <a:extLst>
                  <a:ext uri="{0D108BD9-81ED-4DB2-BD59-A6C34878D82A}">
                    <a16:rowId xmlns:a16="http://schemas.microsoft.com/office/drawing/2014/main" val="1163106155"/>
                  </a:ext>
                </a:extLst>
              </a:tr>
              <a:tr h="0">
                <a:tc>
                  <a:txBody>
                    <a:bodyPr/>
                    <a:lstStyle/>
                    <a:p>
                      <a:r>
                        <a:rPr lang="en-US" sz="1000" b="1">
                          <a:latin typeface="Meiryo UI" panose="020B0604030504040204" pitchFamily="50" charset="-128"/>
                          <a:ea typeface="Meiryo UI" panose="020B0604030504040204" pitchFamily="50" charset="-128"/>
                        </a:rPr>
                        <a:t>categories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分類マスタ</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name, deleted_at</a:t>
                      </a:r>
                    </a:p>
                  </a:txBody>
                  <a:tcPr marL="20239" marR="20239" marT="10119" marB="10119" anchor="ctr"/>
                </a:tc>
                <a:extLst>
                  <a:ext uri="{0D108BD9-81ED-4DB2-BD59-A6C34878D82A}">
                    <a16:rowId xmlns:a16="http://schemas.microsoft.com/office/drawing/2014/main" val="391938266"/>
                  </a:ext>
                </a:extLst>
              </a:tr>
              <a:tr h="0">
                <a:tc>
                  <a:txBody>
                    <a:bodyPr/>
                    <a:lstStyle/>
                    <a:p>
                      <a:r>
                        <a:rPr lang="en-US" sz="1000" b="1">
                          <a:latin typeface="Meiryo UI" panose="020B0604030504040204" pitchFamily="50" charset="-128"/>
                          <a:ea typeface="Meiryo UI" panose="020B0604030504040204" pitchFamily="50" charset="-128"/>
                        </a:rPr>
                        <a:t>component_category</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コンポーネント </a:t>
                      </a:r>
                      <a:r>
                        <a:rPr lang="en-US" altLang="ja-JP" sz="1000">
                          <a:latin typeface="Meiryo UI" panose="020B0604030504040204" pitchFamily="50" charset="-128"/>
                          <a:ea typeface="Meiryo UI" panose="020B0604030504040204" pitchFamily="50" charset="-128"/>
                        </a:rPr>
                        <a:t>× </a:t>
                      </a:r>
                      <a:r>
                        <a:rPr lang="ja-JP" altLang="en-US" sz="1000">
                          <a:latin typeface="Meiryo UI" panose="020B0604030504040204" pitchFamily="50" charset="-128"/>
                          <a:ea typeface="Meiryo UI" panose="020B0604030504040204" pitchFamily="50" charset="-128"/>
                        </a:rPr>
                        <a:t>カテゴリ</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component_id (FK), category_id (FK)</a:t>
                      </a:r>
                    </a:p>
                  </a:txBody>
                  <a:tcPr marL="20239" marR="20239" marT="10119" marB="10119" anchor="ctr"/>
                </a:tc>
                <a:extLst>
                  <a:ext uri="{0D108BD9-81ED-4DB2-BD59-A6C34878D82A}">
                    <a16:rowId xmlns:a16="http://schemas.microsoft.com/office/drawing/2014/main" val="579111998"/>
                  </a:ext>
                </a:extLst>
              </a:tr>
              <a:tr h="0">
                <a:tc>
                  <a:txBody>
                    <a:bodyPr/>
                    <a:lstStyle/>
                    <a:p>
                      <a:r>
                        <a:rPr lang="en-US" sz="1000" b="1">
                          <a:latin typeface="Meiryo UI" panose="020B0604030504040204" pitchFamily="50" charset="-128"/>
                          <a:ea typeface="Meiryo UI" panose="020B0604030504040204" pitchFamily="50" charset="-128"/>
                        </a:rPr>
                        <a:t>packages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パッケージ情報マスタ</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name, image_path, model_path, pdf_path, deleted_at</a:t>
                      </a:r>
                    </a:p>
                  </a:txBody>
                  <a:tcPr marL="20239" marR="20239" marT="10119" marB="10119" anchor="ctr"/>
                </a:tc>
                <a:extLst>
                  <a:ext uri="{0D108BD9-81ED-4DB2-BD59-A6C34878D82A}">
                    <a16:rowId xmlns:a16="http://schemas.microsoft.com/office/drawing/2014/main" val="1973116530"/>
                  </a:ext>
                </a:extLst>
              </a:tr>
              <a:tr h="0">
                <a:tc>
                  <a:txBody>
                    <a:bodyPr/>
                    <a:lstStyle/>
                    <a:p>
                      <a:r>
                        <a:rPr lang="en-US" sz="1000" b="1">
                          <a:latin typeface="Meiryo UI" panose="020B0604030504040204" pitchFamily="50" charset="-128"/>
                          <a:ea typeface="Meiryo UI" panose="020B0604030504040204" pitchFamily="50" charset="-128"/>
                        </a:rPr>
                        <a:t>component_package</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コンポーネント </a:t>
                      </a:r>
                      <a:r>
                        <a:rPr lang="en-US" altLang="ja-JP" sz="1000">
                          <a:latin typeface="Meiryo UI" panose="020B0604030504040204" pitchFamily="50" charset="-128"/>
                          <a:ea typeface="Meiryo UI" panose="020B0604030504040204" pitchFamily="50" charset="-128"/>
                        </a:rPr>
                        <a:t>× </a:t>
                      </a:r>
                      <a:r>
                        <a:rPr lang="ja-JP" altLang="en-US" sz="1000">
                          <a:latin typeface="Meiryo UI" panose="020B0604030504040204" pitchFamily="50" charset="-128"/>
                          <a:ea typeface="Meiryo UI" panose="020B0604030504040204" pitchFamily="50" charset="-128"/>
                        </a:rPr>
                        <a:t>パッケージ</a:t>
                      </a:r>
                    </a:p>
                  </a:txBody>
                  <a:tcPr marL="20239" marR="20239" marT="10119" marB="10119" anchor="ctr"/>
                </a:tc>
                <a:tc>
                  <a:txBody>
                    <a:bodyPr/>
                    <a:lstStyle/>
                    <a:p>
                      <a:r>
                        <a:rPr lang="en-US" sz="1000" dirty="0">
                          <a:latin typeface="Meiryo UI" panose="020B0604030504040204" pitchFamily="50" charset="-128"/>
                          <a:ea typeface="Meiryo UI" panose="020B0604030504040204" pitchFamily="50" charset="-128"/>
                        </a:rPr>
                        <a:t>id, </a:t>
                      </a:r>
                      <a:r>
                        <a:rPr lang="en-US" sz="1000" dirty="0" err="1">
                          <a:latin typeface="Meiryo UI" panose="020B0604030504040204" pitchFamily="50" charset="-128"/>
                          <a:ea typeface="Meiryo UI" panose="020B0604030504040204" pitchFamily="50" charset="-128"/>
                        </a:rPr>
                        <a:t>component_id</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package_id</a:t>
                      </a:r>
                      <a:endParaRPr lang="en-US" sz="1000" dirty="0">
                        <a:latin typeface="Meiryo UI" panose="020B0604030504040204" pitchFamily="50" charset="-128"/>
                        <a:ea typeface="Meiryo UI" panose="020B0604030504040204" pitchFamily="50" charset="-128"/>
                      </a:endParaRPr>
                    </a:p>
                  </a:txBody>
                  <a:tcPr marL="20239" marR="20239" marT="10119" marB="10119" anchor="ctr"/>
                </a:tc>
                <a:extLst>
                  <a:ext uri="{0D108BD9-81ED-4DB2-BD59-A6C34878D82A}">
                    <a16:rowId xmlns:a16="http://schemas.microsoft.com/office/drawing/2014/main" val="4001835809"/>
                  </a:ext>
                </a:extLst>
              </a:tr>
              <a:tr h="0">
                <a:tc>
                  <a:txBody>
                    <a:bodyPr/>
                    <a:lstStyle/>
                    <a:p>
                      <a:r>
                        <a:rPr lang="en-US" sz="1000" b="1">
                          <a:latin typeface="Meiryo UI" panose="020B0604030504040204" pitchFamily="50" charset="-128"/>
                          <a:ea typeface="Meiryo UI" panose="020B0604030504040204" pitchFamily="50" charset="-128"/>
                        </a:rPr>
                        <a:t>projects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プロジェクトマスタ</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name, description, deleted_at</a:t>
                      </a:r>
                    </a:p>
                  </a:txBody>
                  <a:tcPr marL="20239" marR="20239" marT="10119" marB="10119" anchor="ctr"/>
                </a:tc>
                <a:extLst>
                  <a:ext uri="{0D108BD9-81ED-4DB2-BD59-A6C34878D82A}">
                    <a16:rowId xmlns:a16="http://schemas.microsoft.com/office/drawing/2014/main" val="2941009836"/>
                  </a:ext>
                </a:extLst>
              </a:tr>
              <a:tr h="0">
                <a:tc>
                  <a:txBody>
                    <a:bodyPr/>
                    <a:lstStyle/>
                    <a:p>
                      <a:r>
                        <a:rPr lang="en-US" sz="1000" b="1">
                          <a:latin typeface="Meiryo UI" panose="020B0604030504040204" pitchFamily="50" charset="-128"/>
                          <a:ea typeface="Meiryo UI" panose="020B0604030504040204" pitchFamily="50" charset="-128"/>
                        </a:rPr>
                        <a:t>component_project</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プロジェクト割当情報</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component_id, project_id, quantity_used</a:t>
                      </a:r>
                    </a:p>
                  </a:txBody>
                  <a:tcPr marL="20239" marR="20239" marT="10119" marB="10119" anchor="ctr"/>
                </a:tc>
                <a:extLst>
                  <a:ext uri="{0D108BD9-81ED-4DB2-BD59-A6C34878D82A}">
                    <a16:rowId xmlns:a16="http://schemas.microsoft.com/office/drawing/2014/main" val="2306679922"/>
                  </a:ext>
                </a:extLst>
              </a:tr>
              <a:tr h="0">
                <a:tc>
                  <a:txBody>
                    <a:bodyPr/>
                    <a:lstStyle/>
                    <a:p>
                      <a:r>
                        <a:rPr lang="en-US" sz="1000" b="1">
                          <a:latin typeface="Meiryo UI" panose="020B0604030504040204" pitchFamily="50" charset="-128"/>
                          <a:ea typeface="Meiryo UI" panose="020B0604030504040204" pitchFamily="50" charset="-128"/>
                        </a:rPr>
                        <a:t>locations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保管場所マスタ</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name, parent_id, qr_code, deleted_at</a:t>
                      </a:r>
                    </a:p>
                  </a:txBody>
                  <a:tcPr marL="20239" marR="20239" marT="10119" marB="10119" anchor="ctr"/>
                </a:tc>
                <a:extLst>
                  <a:ext uri="{0D108BD9-81ED-4DB2-BD59-A6C34878D82A}">
                    <a16:rowId xmlns:a16="http://schemas.microsoft.com/office/drawing/2014/main" val="395490353"/>
                  </a:ext>
                </a:extLst>
              </a:tr>
              <a:tr h="0">
                <a:tc>
                  <a:txBody>
                    <a:bodyPr/>
                    <a:lstStyle/>
                    <a:p>
                      <a:r>
                        <a:rPr lang="en-US" sz="1000" b="1">
                          <a:latin typeface="Meiryo UI" panose="020B0604030504040204" pitchFamily="50" charset="-128"/>
                          <a:ea typeface="Meiryo UI" panose="020B0604030504040204" pitchFamily="50" charset="-128"/>
                        </a:rPr>
                        <a:t>component_location</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コンポーネント </a:t>
                      </a:r>
                      <a:r>
                        <a:rPr lang="en-US" altLang="ja-JP" sz="1000">
                          <a:latin typeface="Meiryo UI" panose="020B0604030504040204" pitchFamily="50" charset="-128"/>
                          <a:ea typeface="Meiryo UI" panose="020B0604030504040204" pitchFamily="50" charset="-128"/>
                        </a:rPr>
                        <a:t>× </a:t>
                      </a:r>
                      <a:r>
                        <a:rPr lang="ja-JP" altLang="en-US" sz="1000">
                          <a:latin typeface="Meiryo UI" panose="020B0604030504040204" pitchFamily="50" charset="-128"/>
                          <a:ea typeface="Meiryo UI" panose="020B0604030504040204" pitchFamily="50" charset="-128"/>
                        </a:rPr>
                        <a:t>保管場所</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component_id, location_id</a:t>
                      </a:r>
                    </a:p>
                  </a:txBody>
                  <a:tcPr marL="20239" marR="20239" marT="10119" marB="10119" anchor="ctr"/>
                </a:tc>
                <a:extLst>
                  <a:ext uri="{0D108BD9-81ED-4DB2-BD59-A6C34878D82A}">
                    <a16:rowId xmlns:a16="http://schemas.microsoft.com/office/drawing/2014/main" val="977868084"/>
                  </a:ext>
                </a:extLst>
              </a:tr>
              <a:tr h="0">
                <a:tc>
                  <a:txBody>
                    <a:bodyPr/>
                    <a:lstStyle/>
                    <a:p>
                      <a:r>
                        <a:rPr lang="en-US" sz="1000" b="1">
                          <a:latin typeface="Meiryo UI" panose="020B0604030504040204" pitchFamily="50" charset="-128"/>
                          <a:ea typeface="Meiryo UI" panose="020B0604030504040204" pitchFamily="50" charset="-128"/>
                        </a:rPr>
                        <a:t>suppliers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サプライヤマスタ</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name, code, deleted_at</a:t>
                      </a:r>
                    </a:p>
                  </a:txBody>
                  <a:tcPr marL="20239" marR="20239" marT="10119" marB="10119" anchor="ctr"/>
                </a:tc>
                <a:extLst>
                  <a:ext uri="{0D108BD9-81ED-4DB2-BD59-A6C34878D82A}">
                    <a16:rowId xmlns:a16="http://schemas.microsoft.com/office/drawing/2014/main" val="2714644744"/>
                  </a:ext>
                </a:extLst>
              </a:tr>
              <a:tr h="45707">
                <a:tc>
                  <a:txBody>
                    <a:bodyPr/>
                    <a:lstStyle/>
                    <a:p>
                      <a:r>
                        <a:rPr lang="en-US" sz="1000" b="1">
                          <a:latin typeface="Meiryo UI" panose="020B0604030504040204" pitchFamily="50" charset="-128"/>
                          <a:ea typeface="Meiryo UI" panose="020B0604030504040204" pitchFamily="50" charset="-128"/>
                        </a:rPr>
                        <a:t>component_suppliers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仕入情報</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supplier_id (FK), supplier_part_code, unit_price, product_url, created_at, updated_at</a:t>
                      </a:r>
                    </a:p>
                  </a:txBody>
                  <a:tcPr marL="20239" marR="20239" marT="10119" marB="10119" anchor="ctr"/>
                </a:tc>
                <a:extLst>
                  <a:ext uri="{0D108BD9-81ED-4DB2-BD59-A6C34878D82A}">
                    <a16:rowId xmlns:a16="http://schemas.microsoft.com/office/drawing/2014/main" val="642248229"/>
                  </a:ext>
                </a:extLst>
              </a:tr>
              <a:tr h="0">
                <a:tc>
                  <a:txBody>
                    <a:bodyPr/>
                    <a:lstStyle/>
                    <a:p>
                      <a:r>
                        <a:rPr lang="en-US" sz="1000" b="1">
                          <a:latin typeface="Meiryo UI" panose="020B0604030504040204" pitchFamily="50" charset="-128"/>
                          <a:ea typeface="Meiryo UI" panose="020B0604030504040204" pitchFamily="50" charset="-128"/>
                        </a:rPr>
                        <a:t>supplier_price_breaks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価格ブレーク情報</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component_supplier_id (FK), min_quantity, unit_price</a:t>
                      </a:r>
                    </a:p>
                  </a:txBody>
                  <a:tcPr marL="20239" marR="20239" marT="10119" marB="10119" anchor="ctr"/>
                </a:tc>
                <a:extLst>
                  <a:ext uri="{0D108BD9-81ED-4DB2-BD59-A6C34878D82A}">
                    <a16:rowId xmlns:a16="http://schemas.microsoft.com/office/drawing/2014/main" val="2685375249"/>
                  </a:ext>
                </a:extLst>
              </a:tr>
              <a:tr h="0">
                <a:tc>
                  <a:txBody>
                    <a:bodyPr/>
                    <a:lstStyle/>
                    <a:p>
                      <a:r>
                        <a:rPr lang="en-US" sz="1000" b="1">
                          <a:latin typeface="Meiryo UI" panose="020B0604030504040204" pitchFamily="50" charset="-128"/>
                          <a:ea typeface="Meiryo UI" panose="020B0604030504040204" pitchFamily="50" charset="-128"/>
                        </a:rPr>
                        <a:t>shipping_rules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サプライヤごとの送料ルール</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supplier_id (FK), min_total_amount, shipping_fee</a:t>
                      </a:r>
                    </a:p>
                  </a:txBody>
                  <a:tcPr marL="20239" marR="20239" marT="10119" marB="10119" anchor="ctr"/>
                </a:tc>
                <a:extLst>
                  <a:ext uri="{0D108BD9-81ED-4DB2-BD59-A6C34878D82A}">
                    <a16:rowId xmlns:a16="http://schemas.microsoft.com/office/drawing/2014/main" val="188756725"/>
                  </a:ext>
                </a:extLst>
              </a:tr>
              <a:tr h="62847">
                <a:tc>
                  <a:txBody>
                    <a:bodyPr/>
                    <a:lstStyle/>
                    <a:p>
                      <a:r>
                        <a:rPr lang="en-US" sz="1000" b="1">
                          <a:latin typeface="Meiryo UI" panose="020B0604030504040204" pitchFamily="50" charset="-128"/>
                          <a:ea typeface="Meiryo UI" panose="020B0604030504040204" pitchFamily="50" charset="-128"/>
                        </a:rPr>
                        <a:t>inventory_blocks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在庫単位（ロット）</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component_supplier_id (FK), quantity, stock_type, reel_code, location_id (FK), lot_number, condition, created_by (FK), updated_by (FK), deleted_at, created_at, updated_at</a:t>
                      </a:r>
                    </a:p>
                  </a:txBody>
                  <a:tcPr marL="20239" marR="20239" marT="10119" marB="10119" anchor="ctr"/>
                </a:tc>
                <a:extLst>
                  <a:ext uri="{0D108BD9-81ED-4DB2-BD59-A6C34878D82A}">
                    <a16:rowId xmlns:a16="http://schemas.microsoft.com/office/drawing/2014/main" val="303679813"/>
                  </a:ext>
                </a:extLst>
              </a:tr>
              <a:tr h="0">
                <a:tc>
                  <a:txBody>
                    <a:bodyPr/>
                    <a:lstStyle/>
                    <a:p>
                      <a:r>
                        <a:rPr lang="en-US" sz="1000" b="1">
                          <a:latin typeface="Meiryo UI" panose="020B0604030504040204" pitchFamily="50" charset="-128"/>
                          <a:ea typeface="Meiryo UI" panose="020B0604030504040204" pitchFamily="50" charset="-128"/>
                        </a:rPr>
                        <a:t>transactions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入出庫履歴</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component_id (FK), inventory_block_id (FK), user_id (FK), type, quantity, reason, created_at</a:t>
                      </a:r>
                    </a:p>
                  </a:txBody>
                  <a:tcPr marL="20239" marR="20239" marT="10119" marB="10119" anchor="ctr"/>
                </a:tc>
                <a:extLst>
                  <a:ext uri="{0D108BD9-81ED-4DB2-BD59-A6C34878D82A}">
                    <a16:rowId xmlns:a16="http://schemas.microsoft.com/office/drawing/2014/main" val="904438729"/>
                  </a:ext>
                </a:extLst>
              </a:tr>
              <a:tr h="0">
                <a:tc>
                  <a:txBody>
                    <a:bodyPr/>
                    <a:lstStyle/>
                    <a:p>
                      <a:r>
                        <a:rPr lang="en-US" sz="1000" b="1">
                          <a:latin typeface="Meiryo UI" panose="020B0604030504040204" pitchFamily="50" charset="-128"/>
                          <a:ea typeface="Meiryo UI" panose="020B0604030504040204" pitchFamily="50" charset="-128"/>
                        </a:rPr>
                        <a:t>users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ユーザー情報</a:t>
                      </a:r>
                    </a:p>
                  </a:txBody>
                  <a:tcPr marL="20239" marR="20239" marT="10119" marB="10119" anchor="ctr"/>
                </a:tc>
                <a:tc>
                  <a:txBody>
                    <a:bodyPr/>
                    <a:lstStyle/>
                    <a:p>
                      <a:r>
                        <a:rPr lang="en-US" sz="1000">
                          <a:latin typeface="Meiryo UI" panose="020B0604030504040204" pitchFamily="50" charset="-128"/>
                          <a:ea typeface="Meiryo UI" panose="020B0604030504040204" pitchFamily="50" charset="-128"/>
                        </a:rPr>
                        <a:t>id (PK), name, role, email, password, deleted_at, created_at, updated_at</a:t>
                      </a:r>
                    </a:p>
                  </a:txBody>
                  <a:tcPr marL="20239" marR="20239" marT="10119" marB="10119" anchor="ctr"/>
                </a:tc>
                <a:extLst>
                  <a:ext uri="{0D108BD9-81ED-4DB2-BD59-A6C34878D82A}">
                    <a16:rowId xmlns:a16="http://schemas.microsoft.com/office/drawing/2014/main" val="1803486725"/>
                  </a:ext>
                </a:extLst>
              </a:tr>
              <a:tr h="0">
                <a:tc>
                  <a:txBody>
                    <a:bodyPr/>
                    <a:lstStyle/>
                    <a:p>
                      <a:r>
                        <a:rPr lang="en-US" sz="1000" b="1">
                          <a:latin typeface="Meiryo UI" panose="020B0604030504040204" pitchFamily="50" charset="-128"/>
                          <a:ea typeface="Meiryo UI" panose="020B0604030504040204" pitchFamily="50" charset="-128"/>
                        </a:rPr>
                        <a:t>audit_logs</a:t>
                      </a:r>
                      <a:endParaRPr lang="en-US" sz="1000">
                        <a:latin typeface="Meiryo UI" panose="020B0604030504040204" pitchFamily="50" charset="-128"/>
                        <a:ea typeface="Meiryo UI" panose="020B0604030504040204" pitchFamily="50" charset="-128"/>
                      </a:endParaRPr>
                    </a:p>
                  </a:txBody>
                  <a:tcPr marL="20239" marR="20239" marT="10119" marB="10119" anchor="ctr"/>
                </a:tc>
                <a:tc>
                  <a:txBody>
                    <a:bodyPr/>
                    <a:lstStyle/>
                    <a:p>
                      <a:r>
                        <a:rPr lang="ja-JP" altLang="en-US" sz="1000">
                          <a:latin typeface="Meiryo UI" panose="020B0604030504040204" pitchFamily="50" charset="-128"/>
                          <a:ea typeface="Meiryo UI" panose="020B0604030504040204" pitchFamily="50" charset="-128"/>
                        </a:rPr>
                        <a:t>操作ログ</a:t>
                      </a:r>
                    </a:p>
                  </a:txBody>
                  <a:tcPr marL="20239" marR="20239" marT="10119" marB="10119" anchor="ctr"/>
                </a:tc>
                <a:tc>
                  <a:txBody>
                    <a:bodyPr/>
                    <a:lstStyle/>
                    <a:p>
                      <a:r>
                        <a:rPr lang="en-US" sz="1000" dirty="0">
                          <a:latin typeface="Meiryo UI" panose="020B0604030504040204" pitchFamily="50" charset="-128"/>
                          <a:ea typeface="Meiryo UI" panose="020B0604030504040204" pitchFamily="50" charset="-128"/>
                        </a:rPr>
                        <a:t>id (PK), </a:t>
                      </a:r>
                      <a:r>
                        <a:rPr lang="en-US" sz="1000" dirty="0" err="1">
                          <a:latin typeface="Meiryo UI" panose="020B0604030504040204" pitchFamily="50" charset="-128"/>
                          <a:ea typeface="Meiryo UI" panose="020B0604030504040204" pitchFamily="50" charset="-128"/>
                        </a:rPr>
                        <a:t>model_type</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model_id</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user_id</a:t>
                      </a:r>
                      <a:r>
                        <a:rPr lang="en-US" sz="1000" dirty="0">
                          <a:latin typeface="Meiryo UI" panose="020B0604030504040204" pitchFamily="50" charset="-128"/>
                          <a:ea typeface="Meiryo UI" panose="020B0604030504040204" pitchFamily="50" charset="-128"/>
                        </a:rPr>
                        <a:t>, action, </a:t>
                      </a:r>
                      <a:r>
                        <a:rPr lang="en-US" sz="1000" dirty="0" err="1">
                          <a:latin typeface="Meiryo UI" panose="020B0604030504040204" pitchFamily="50" charset="-128"/>
                          <a:ea typeface="Meiryo UI" panose="020B0604030504040204" pitchFamily="50" charset="-128"/>
                        </a:rPr>
                        <a:t>field_changes</a:t>
                      </a:r>
                      <a:r>
                        <a:rPr lang="en-US" sz="1000" dirty="0">
                          <a:latin typeface="Meiryo UI" panose="020B0604030504040204" pitchFamily="50" charset="-128"/>
                          <a:ea typeface="Meiryo UI" panose="020B0604030504040204" pitchFamily="50" charset="-128"/>
                        </a:rPr>
                        <a:t>, </a:t>
                      </a:r>
                      <a:r>
                        <a:rPr lang="en-US" sz="1000" dirty="0" err="1">
                          <a:latin typeface="Meiryo UI" panose="020B0604030504040204" pitchFamily="50" charset="-128"/>
                          <a:ea typeface="Meiryo UI" panose="020B0604030504040204" pitchFamily="50" charset="-128"/>
                        </a:rPr>
                        <a:t>created_at</a:t>
                      </a:r>
                      <a:endParaRPr lang="en-US" sz="1000" dirty="0">
                        <a:latin typeface="Meiryo UI" panose="020B0604030504040204" pitchFamily="50" charset="-128"/>
                        <a:ea typeface="Meiryo UI" panose="020B0604030504040204" pitchFamily="50" charset="-128"/>
                      </a:endParaRPr>
                    </a:p>
                  </a:txBody>
                  <a:tcPr marL="20239" marR="20239" marT="10119" marB="10119" anchor="ctr"/>
                </a:tc>
                <a:extLst>
                  <a:ext uri="{0D108BD9-81ED-4DB2-BD59-A6C34878D82A}">
                    <a16:rowId xmlns:a16="http://schemas.microsoft.com/office/drawing/2014/main" val="2130479782"/>
                  </a:ext>
                </a:extLst>
              </a:tr>
            </a:tbl>
          </a:graphicData>
        </a:graphic>
      </p:graphicFrame>
    </p:spTree>
    <p:extLst>
      <p:ext uri="{BB962C8B-B14F-4D97-AF65-F5344CB8AC3E}">
        <p14:creationId xmlns:p14="http://schemas.microsoft.com/office/powerpoint/2010/main" val="3825807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2C859-116A-C436-C08F-F7881DCD9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56CDA9-B7F3-DF68-FE41-2D051C475B78}"/>
              </a:ext>
            </a:extLst>
          </p:cNvPr>
          <p:cNvSpPr>
            <a:spLocks noGrp="1"/>
          </p:cNvSpPr>
          <p:nvPr>
            <p:ph type="title"/>
          </p:nvPr>
        </p:nvSpPr>
        <p:spPr/>
        <p:txBody>
          <a:bodyPr/>
          <a:lstStyle/>
          <a:p>
            <a:r>
              <a:rPr kumimoji="1" lang="en-US" altLang="ja-JP" dirty="0"/>
              <a:t>DB</a:t>
            </a:r>
            <a:r>
              <a:rPr kumimoji="1" lang="ja-JP" altLang="en-US" dirty="0"/>
              <a:t>設計</a:t>
            </a:r>
            <a:r>
              <a:rPr kumimoji="1" lang="en-US" altLang="ja-JP" dirty="0"/>
              <a:t>-ER</a:t>
            </a:r>
            <a:r>
              <a:rPr kumimoji="1" lang="ja-JP" altLang="en-US" dirty="0"/>
              <a:t>図</a:t>
            </a:r>
          </a:p>
        </p:txBody>
      </p:sp>
      <p:pic>
        <p:nvPicPr>
          <p:cNvPr id="5126" name="Picture 6" descr="画像を出力する">
            <a:extLst>
              <a:ext uri="{FF2B5EF4-FFF2-40B4-BE49-F238E27FC236}">
                <a16:creationId xmlns:a16="http://schemas.microsoft.com/office/drawing/2014/main" id="{B17A2B2D-0767-26FC-D286-AB8D75397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000" y="0"/>
            <a:ext cx="47926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706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9874-2BB4-0C22-3049-76D74F0350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81FB9B-8CF5-3B02-7B96-3CEB77CDEE49}"/>
              </a:ext>
            </a:extLst>
          </p:cNvPr>
          <p:cNvSpPr>
            <a:spLocks noGrp="1"/>
          </p:cNvSpPr>
          <p:nvPr>
            <p:ph type="title"/>
          </p:nvPr>
        </p:nvSpPr>
        <p:spPr/>
        <p:txBody>
          <a:bodyPr/>
          <a:lstStyle/>
          <a:p>
            <a:r>
              <a:rPr kumimoji="1" lang="ja-JP" altLang="en-US" dirty="0"/>
              <a:t>業務フロー</a:t>
            </a:r>
          </a:p>
        </p:txBody>
      </p:sp>
      <p:graphicFrame>
        <p:nvGraphicFramePr>
          <p:cNvPr id="3" name="表 2">
            <a:extLst>
              <a:ext uri="{FF2B5EF4-FFF2-40B4-BE49-F238E27FC236}">
                <a16:creationId xmlns:a16="http://schemas.microsoft.com/office/drawing/2014/main" id="{F6FCE781-8258-3963-2B45-90C66D6F1E2B}"/>
              </a:ext>
            </a:extLst>
          </p:cNvPr>
          <p:cNvGraphicFramePr>
            <a:graphicFrameLocks noGrp="1"/>
          </p:cNvGraphicFramePr>
          <p:nvPr>
            <p:extLst>
              <p:ext uri="{D42A27DB-BD31-4B8C-83A1-F6EECF244321}">
                <p14:modId xmlns:p14="http://schemas.microsoft.com/office/powerpoint/2010/main" val="2083770839"/>
              </p:ext>
            </p:extLst>
          </p:nvPr>
        </p:nvGraphicFramePr>
        <p:xfrm>
          <a:off x="230511" y="1314448"/>
          <a:ext cx="11188176" cy="2279178"/>
        </p:xfrm>
        <a:graphic>
          <a:graphicData uri="http://schemas.openxmlformats.org/drawingml/2006/table">
            <a:tbl>
              <a:tblPr firstRow="1" bandRow="1">
                <a:tableStyleId>{073A0DAA-6AF3-43AB-8588-CEC1D06C72B9}</a:tableStyleId>
              </a:tblPr>
              <a:tblGrid>
                <a:gridCol w="558541">
                  <a:extLst>
                    <a:ext uri="{9D8B030D-6E8A-4147-A177-3AD203B41FA5}">
                      <a16:colId xmlns:a16="http://schemas.microsoft.com/office/drawing/2014/main" val="1021772557"/>
                    </a:ext>
                  </a:extLst>
                </a:gridCol>
                <a:gridCol w="1877650">
                  <a:extLst>
                    <a:ext uri="{9D8B030D-6E8A-4147-A177-3AD203B41FA5}">
                      <a16:colId xmlns:a16="http://schemas.microsoft.com/office/drawing/2014/main" val="2590467961"/>
                    </a:ext>
                  </a:extLst>
                </a:gridCol>
                <a:gridCol w="1058526">
                  <a:extLst>
                    <a:ext uri="{9D8B030D-6E8A-4147-A177-3AD203B41FA5}">
                      <a16:colId xmlns:a16="http://schemas.microsoft.com/office/drawing/2014/main" val="3043726284"/>
                    </a:ext>
                  </a:extLst>
                </a:gridCol>
                <a:gridCol w="2753759">
                  <a:extLst>
                    <a:ext uri="{9D8B030D-6E8A-4147-A177-3AD203B41FA5}">
                      <a16:colId xmlns:a16="http://schemas.microsoft.com/office/drawing/2014/main" val="3176105077"/>
                    </a:ext>
                  </a:extLst>
                </a:gridCol>
                <a:gridCol w="4939700">
                  <a:extLst>
                    <a:ext uri="{9D8B030D-6E8A-4147-A177-3AD203B41FA5}">
                      <a16:colId xmlns:a16="http://schemas.microsoft.com/office/drawing/2014/main" val="154840128"/>
                    </a:ext>
                  </a:extLst>
                </a:gridCol>
              </a:tblGrid>
              <a:tr h="192232">
                <a:tc>
                  <a:txBody>
                    <a:bodyPr/>
                    <a:lstStyle/>
                    <a:p>
                      <a:r>
                        <a:rPr lang="ja-JP" altLang="en-US" sz="1100">
                          <a:latin typeface="Meiryo UI" panose="020B0604030504040204" pitchFamily="50" charset="-128"/>
                          <a:ea typeface="Meiryo UI" panose="020B0604030504040204" pitchFamily="50" charset="-128"/>
                        </a:rPr>
                        <a:t>ステップ</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操作名</a:t>
                      </a:r>
                    </a:p>
                  </a:txBody>
                  <a:tcPr marL="39558" marR="39558" marT="19779" marB="19779" anchor="ctr"/>
                </a:tc>
                <a:tc>
                  <a:txBody>
                    <a:bodyPr/>
                    <a:lstStyle/>
                    <a:p>
                      <a:r>
                        <a:rPr lang="ja-JP" altLang="en-US" sz="1100" dirty="0">
                          <a:latin typeface="Meiryo UI" panose="020B0604030504040204" pitchFamily="50" charset="-128"/>
                          <a:ea typeface="Meiryo UI" panose="020B0604030504040204" pitchFamily="50" charset="-128"/>
                        </a:rPr>
                        <a:t>主な操作者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操作目的</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関与テーブル</a:t>
                      </a:r>
                    </a:p>
                  </a:txBody>
                  <a:tcPr marL="39558" marR="39558" marT="19779" marB="19779" anchor="ctr"/>
                </a:tc>
                <a:extLst>
                  <a:ext uri="{0D108BD9-81ED-4DB2-BD59-A6C34878D82A}">
                    <a16:rowId xmlns:a16="http://schemas.microsoft.com/office/drawing/2014/main" val="3109523747"/>
                  </a:ext>
                </a:extLst>
              </a:tr>
              <a:tr h="192232">
                <a:tc>
                  <a:txBody>
                    <a:bodyPr/>
                    <a:lstStyle/>
                    <a:p>
                      <a:r>
                        <a:rPr lang="ja-JP" altLang="en-US" sz="1100">
                          <a:latin typeface="Meiryo UI" panose="020B0604030504040204" pitchFamily="50" charset="-128"/>
                          <a:ea typeface="Meiryo UI" panose="020B0604030504040204" pitchFamily="50" charset="-128"/>
                        </a:rPr>
                        <a:t>①</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部品の基本登録</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試作・評価部品の新規登録</a:t>
                      </a:r>
                    </a:p>
                  </a:txBody>
                  <a:tcPr marL="39558" marR="39558" marT="19779" marB="19779" anchor="ctr"/>
                </a:tc>
                <a:tc>
                  <a:txBody>
                    <a:bodyPr/>
                    <a:lstStyle/>
                    <a:p>
                      <a:r>
                        <a:rPr lang="fr-FR" sz="1100">
                          <a:latin typeface="Meiryo UI" panose="020B0604030504040204" pitchFamily="50" charset="-128"/>
                          <a:ea typeface="Meiryo UI" panose="020B0604030504040204" pitchFamily="50" charset="-128"/>
                        </a:rPr>
                        <a:t>components, component_specs, component_attributes</a:t>
                      </a:r>
                    </a:p>
                  </a:txBody>
                  <a:tcPr marL="39558" marR="39558" marT="19779" marB="19779" anchor="ctr"/>
                </a:tc>
                <a:extLst>
                  <a:ext uri="{0D108BD9-81ED-4DB2-BD59-A6C34878D82A}">
                    <a16:rowId xmlns:a16="http://schemas.microsoft.com/office/drawing/2014/main" val="1232855930"/>
                  </a:ext>
                </a:extLst>
              </a:tr>
              <a:tr h="192232">
                <a:tc>
                  <a:txBody>
                    <a:bodyPr/>
                    <a:lstStyle/>
                    <a:p>
                      <a:r>
                        <a:rPr lang="ja-JP" altLang="en-US" sz="1100">
                          <a:latin typeface="Meiryo UI" panose="020B0604030504040204" pitchFamily="50" charset="-128"/>
                          <a:ea typeface="Meiryo UI" panose="020B0604030504040204" pitchFamily="50" charset="-128"/>
                        </a:rPr>
                        <a:t>②</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分類・パッケージ設定</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検索性や絞り込みのための分類登録</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categories, packages, </a:t>
                      </a:r>
                      <a:r>
                        <a:rPr lang="ja-JP" altLang="en-US" sz="1100">
                          <a:latin typeface="Meiryo UI" panose="020B0604030504040204" pitchFamily="50" charset="-128"/>
                          <a:ea typeface="Meiryo UI" panose="020B0604030504040204" pitchFamily="50" charset="-128"/>
                        </a:rPr>
                        <a:t>中間テーブル</a:t>
                      </a:r>
                    </a:p>
                  </a:txBody>
                  <a:tcPr marL="39558" marR="39558" marT="19779" marB="19779" anchor="ctr"/>
                </a:tc>
                <a:extLst>
                  <a:ext uri="{0D108BD9-81ED-4DB2-BD59-A6C34878D82A}">
                    <a16:rowId xmlns:a16="http://schemas.microsoft.com/office/drawing/2014/main" val="3420881039"/>
                  </a:ext>
                </a:extLst>
              </a:tr>
              <a:tr h="192232">
                <a:tc>
                  <a:txBody>
                    <a:bodyPr/>
                    <a:lstStyle/>
                    <a:p>
                      <a:r>
                        <a:rPr lang="ja-JP" altLang="en-US" sz="1100">
                          <a:latin typeface="Meiryo UI" panose="020B0604030504040204" pitchFamily="50" charset="-128"/>
                          <a:ea typeface="Meiryo UI" panose="020B0604030504040204" pitchFamily="50" charset="-128"/>
                        </a:rPr>
                        <a:t>③</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スペック・属性追加</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dirty="0">
                          <a:latin typeface="Meiryo UI" panose="020B0604030504040204" pitchFamily="50" charset="-128"/>
                          <a:ea typeface="Meiryo UI" panose="020B0604030504040204" pitchFamily="50" charset="-128"/>
                        </a:rPr>
                        <a:t>定格情報や特性の入力</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component_specs, component_attributes</a:t>
                      </a:r>
                    </a:p>
                  </a:txBody>
                  <a:tcPr marL="39558" marR="39558" marT="19779" marB="19779" anchor="ctr"/>
                </a:tc>
                <a:extLst>
                  <a:ext uri="{0D108BD9-81ED-4DB2-BD59-A6C34878D82A}">
                    <a16:rowId xmlns:a16="http://schemas.microsoft.com/office/drawing/2014/main" val="1149823603"/>
                  </a:ext>
                </a:extLst>
              </a:tr>
              <a:tr h="192232">
                <a:tc>
                  <a:txBody>
                    <a:bodyPr/>
                    <a:lstStyle/>
                    <a:p>
                      <a:r>
                        <a:rPr lang="ja-JP" altLang="en-US" sz="1100">
                          <a:latin typeface="Meiryo UI" panose="020B0604030504040204" pitchFamily="50" charset="-128"/>
                          <a:ea typeface="Meiryo UI" panose="020B0604030504040204" pitchFamily="50" charset="-128"/>
                        </a:rPr>
                        <a:t>④</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商社・仕入情報登録</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調達担当</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商社の管理、価格記録</a:t>
                      </a:r>
                    </a:p>
                  </a:txBody>
                  <a:tcPr marL="39558" marR="39558" marT="19779" marB="19779" anchor="ctr"/>
                </a:tc>
                <a:tc>
                  <a:txBody>
                    <a:bodyPr/>
                    <a:lstStyle/>
                    <a:p>
                      <a:r>
                        <a:rPr lang="en-US" sz="1100" dirty="0" err="1">
                          <a:latin typeface="Meiryo UI" panose="020B0604030504040204" pitchFamily="50" charset="-128"/>
                          <a:ea typeface="Meiryo UI" panose="020B0604030504040204" pitchFamily="50" charset="-128"/>
                        </a:rPr>
                        <a:t>component_suppliers</a:t>
                      </a:r>
                      <a:r>
                        <a:rPr lang="en-US" sz="1100" dirty="0">
                          <a:latin typeface="Meiryo UI" panose="020B0604030504040204" pitchFamily="50" charset="-128"/>
                          <a:ea typeface="Meiryo UI" panose="020B0604030504040204" pitchFamily="50" charset="-128"/>
                        </a:rPr>
                        <a:t>, </a:t>
                      </a:r>
                      <a:r>
                        <a:rPr lang="en-US" sz="1100" dirty="0" err="1">
                          <a:latin typeface="Meiryo UI" panose="020B0604030504040204" pitchFamily="50" charset="-128"/>
                          <a:ea typeface="Meiryo UI" panose="020B0604030504040204" pitchFamily="50" charset="-128"/>
                        </a:rPr>
                        <a:t>supplier_price_breaks</a:t>
                      </a:r>
                      <a:endParaRPr lang="en-US" sz="1100" dirty="0">
                        <a:latin typeface="Meiryo UI" panose="020B0604030504040204" pitchFamily="50" charset="-128"/>
                        <a:ea typeface="Meiryo UI" panose="020B0604030504040204" pitchFamily="50" charset="-128"/>
                      </a:endParaRPr>
                    </a:p>
                  </a:txBody>
                  <a:tcPr marL="39558" marR="39558" marT="19779" marB="19779" anchor="ctr"/>
                </a:tc>
                <a:extLst>
                  <a:ext uri="{0D108BD9-81ED-4DB2-BD59-A6C34878D82A}">
                    <a16:rowId xmlns:a16="http://schemas.microsoft.com/office/drawing/2014/main" val="1566529781"/>
                  </a:ext>
                </a:extLst>
              </a:tr>
              <a:tr h="192232">
                <a:tc>
                  <a:txBody>
                    <a:bodyPr/>
                    <a:lstStyle/>
                    <a:p>
                      <a:r>
                        <a:rPr lang="ja-JP" altLang="en-US" sz="1100">
                          <a:latin typeface="Meiryo UI" panose="020B0604030504040204" pitchFamily="50" charset="-128"/>
                          <a:ea typeface="Meiryo UI" panose="020B0604030504040204" pitchFamily="50" charset="-128"/>
                        </a:rPr>
                        <a:t>⑤</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入庫処理</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事務</a:t>
                      </a:r>
                      <a:r>
                        <a:rPr lang="en-US" altLang="ja-JP" sz="1100">
                          <a:latin typeface="Meiryo UI" panose="020B0604030504040204" pitchFamily="50" charset="-128"/>
                          <a:ea typeface="Meiryo UI" panose="020B0604030504040204" pitchFamily="50" charset="-128"/>
                        </a:rPr>
                        <a:t>/</a:t>
                      </a:r>
                      <a:r>
                        <a:rPr lang="ja-JP" altLang="en-US" sz="1100">
                          <a:latin typeface="Meiryo UI" panose="020B0604030504040204" pitchFamily="50" charset="-128"/>
                          <a:ea typeface="Meiryo UI" panose="020B0604030504040204" pitchFamily="50" charset="-128"/>
                        </a:rPr>
                        <a:t>調達</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部品の在庫化（ロット・リール番号含む）</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inventory_blocks, transactions</a:t>
                      </a:r>
                    </a:p>
                  </a:txBody>
                  <a:tcPr marL="39558" marR="39558" marT="19779" marB="19779" anchor="ctr"/>
                </a:tc>
                <a:extLst>
                  <a:ext uri="{0D108BD9-81ED-4DB2-BD59-A6C34878D82A}">
                    <a16:rowId xmlns:a16="http://schemas.microsoft.com/office/drawing/2014/main" val="3400001346"/>
                  </a:ext>
                </a:extLst>
              </a:tr>
              <a:tr h="192232">
                <a:tc>
                  <a:txBody>
                    <a:bodyPr/>
                    <a:lstStyle/>
                    <a:p>
                      <a:r>
                        <a:rPr lang="ja-JP" altLang="en-US" sz="1100">
                          <a:latin typeface="Meiryo UI" panose="020B0604030504040204" pitchFamily="50" charset="-128"/>
                          <a:ea typeface="Meiryo UI" panose="020B0604030504040204" pitchFamily="50" charset="-128"/>
                        </a:rPr>
                        <a:t>⑥</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出庫処理</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dirty="0">
                          <a:latin typeface="Meiryo UI" panose="020B0604030504040204" pitchFamily="50" charset="-128"/>
                          <a:ea typeface="Meiryo UI" panose="020B0604030504040204" pitchFamily="50" charset="-128"/>
                        </a:rPr>
                        <a:t>試作などで使用・記録</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transactions, component_project</a:t>
                      </a:r>
                    </a:p>
                  </a:txBody>
                  <a:tcPr marL="39558" marR="39558" marT="19779" marB="19779" anchor="ctr"/>
                </a:tc>
                <a:extLst>
                  <a:ext uri="{0D108BD9-81ED-4DB2-BD59-A6C34878D82A}">
                    <a16:rowId xmlns:a16="http://schemas.microsoft.com/office/drawing/2014/main" val="4123031739"/>
                  </a:ext>
                </a:extLst>
              </a:tr>
              <a:tr h="192232">
                <a:tc>
                  <a:txBody>
                    <a:bodyPr/>
                    <a:lstStyle/>
                    <a:p>
                      <a:r>
                        <a:rPr lang="ja-JP" altLang="en-US" sz="1100">
                          <a:latin typeface="Meiryo UI" panose="020B0604030504040204" pitchFamily="50" charset="-128"/>
                          <a:ea typeface="Meiryo UI" panose="020B0604030504040204" pitchFamily="50" charset="-128"/>
                        </a:rPr>
                        <a:t>⑦</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保管場所の割当</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事務</a:t>
                      </a:r>
                      <a:r>
                        <a:rPr lang="en-US" altLang="ja-JP" sz="1100">
                          <a:latin typeface="Meiryo UI" panose="020B0604030504040204" pitchFamily="50" charset="-128"/>
                          <a:ea typeface="Meiryo UI" panose="020B0604030504040204" pitchFamily="50" charset="-128"/>
                        </a:rPr>
                        <a:t>/</a:t>
                      </a:r>
                      <a:r>
                        <a:rPr lang="ja-JP" altLang="en-US" sz="1100">
                          <a:latin typeface="Meiryo UI" panose="020B0604030504040204" pitchFamily="50" charset="-128"/>
                          <a:ea typeface="Meiryo UI" panose="020B0604030504040204" pitchFamily="50" charset="-128"/>
                        </a:rPr>
                        <a:t>管理者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棚番・</a:t>
                      </a:r>
                      <a:r>
                        <a:rPr lang="en-US" altLang="ja-JP" sz="1100">
                          <a:latin typeface="Meiryo UI" panose="020B0604030504040204" pitchFamily="50" charset="-128"/>
                          <a:ea typeface="Meiryo UI" panose="020B0604030504040204" pitchFamily="50" charset="-128"/>
                        </a:rPr>
                        <a:t>QR</a:t>
                      </a:r>
                      <a:r>
                        <a:rPr lang="ja-JP" altLang="en-US" sz="1100">
                          <a:latin typeface="Meiryo UI" panose="020B0604030504040204" pitchFamily="50" charset="-128"/>
                          <a:ea typeface="Meiryo UI" panose="020B0604030504040204" pitchFamily="50" charset="-128"/>
                        </a:rPr>
                        <a:t>コードで物理在庫管理</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locations, component_location</a:t>
                      </a:r>
                    </a:p>
                  </a:txBody>
                  <a:tcPr marL="39558" marR="39558" marT="19779" marB="19779" anchor="ctr"/>
                </a:tc>
                <a:extLst>
                  <a:ext uri="{0D108BD9-81ED-4DB2-BD59-A6C34878D82A}">
                    <a16:rowId xmlns:a16="http://schemas.microsoft.com/office/drawing/2014/main" val="3431744179"/>
                  </a:ext>
                </a:extLst>
              </a:tr>
              <a:tr h="192232">
                <a:tc>
                  <a:txBody>
                    <a:bodyPr/>
                    <a:lstStyle/>
                    <a:p>
                      <a:r>
                        <a:rPr lang="ja-JP" altLang="en-US" sz="1100">
                          <a:latin typeface="Meiryo UI" panose="020B0604030504040204" pitchFamily="50" charset="-128"/>
                          <a:ea typeface="Meiryo UI" panose="020B0604030504040204" pitchFamily="50" charset="-128"/>
                        </a:rPr>
                        <a:t>⑧</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Altium</a:t>
                      </a:r>
                      <a:r>
                        <a:rPr lang="ja-JP" altLang="en-US" sz="1100">
                          <a:latin typeface="Meiryo UI" panose="020B0604030504040204" pitchFamily="50" charset="-128"/>
                          <a:ea typeface="Meiryo UI" panose="020B0604030504040204" pitchFamily="50" charset="-128"/>
                        </a:rPr>
                        <a:t>情報登録</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回路</a:t>
                      </a:r>
                      <a:r>
                        <a:rPr lang="en-US" altLang="ja-JP" sz="1100">
                          <a:latin typeface="Meiryo UI" panose="020B0604030504040204" pitchFamily="50" charset="-128"/>
                          <a:ea typeface="Meiryo UI" panose="020B0604030504040204" pitchFamily="50" charset="-128"/>
                        </a:rPr>
                        <a:t>/PCB</a:t>
                      </a:r>
                      <a:r>
                        <a:rPr lang="ja-JP" altLang="en-US" sz="1100">
                          <a:latin typeface="Meiryo UI" panose="020B0604030504040204" pitchFamily="50" charset="-128"/>
                          <a:ea typeface="Meiryo UI" panose="020B0604030504040204" pitchFamily="50" charset="-128"/>
                        </a:rPr>
                        <a:t>ライブラリの紐付け</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component_altium_links</a:t>
                      </a:r>
                    </a:p>
                  </a:txBody>
                  <a:tcPr marL="39558" marR="39558" marT="19779" marB="19779" anchor="ctr"/>
                </a:tc>
                <a:extLst>
                  <a:ext uri="{0D108BD9-81ED-4DB2-BD59-A6C34878D82A}">
                    <a16:rowId xmlns:a16="http://schemas.microsoft.com/office/drawing/2014/main" val="1962027222"/>
                  </a:ext>
                </a:extLst>
              </a:tr>
              <a:tr h="192232">
                <a:tc>
                  <a:txBody>
                    <a:bodyPr/>
                    <a:lstStyle/>
                    <a:p>
                      <a:r>
                        <a:rPr lang="ja-JP" altLang="en-US" sz="1100">
                          <a:latin typeface="Meiryo UI" panose="020B0604030504040204" pitchFamily="50" charset="-128"/>
                          <a:ea typeface="Meiryo UI" panose="020B0604030504040204" pitchFamily="50" charset="-128"/>
                        </a:rPr>
                        <a:t>⑨</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利用プロジェクトへの紐付け</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技術者</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どのプロジェクトで使ったか記録</a:t>
                      </a:r>
                    </a:p>
                  </a:txBody>
                  <a:tcPr marL="39558" marR="39558" marT="19779" marB="19779" anchor="ctr"/>
                </a:tc>
                <a:tc>
                  <a:txBody>
                    <a:bodyPr/>
                    <a:lstStyle/>
                    <a:p>
                      <a:r>
                        <a:rPr lang="en-US" sz="1100">
                          <a:latin typeface="Meiryo UI" panose="020B0604030504040204" pitchFamily="50" charset="-128"/>
                          <a:ea typeface="Meiryo UI" panose="020B0604030504040204" pitchFamily="50" charset="-128"/>
                        </a:rPr>
                        <a:t>projects, component_project</a:t>
                      </a:r>
                    </a:p>
                  </a:txBody>
                  <a:tcPr marL="39558" marR="39558" marT="19779" marB="19779" anchor="ctr"/>
                </a:tc>
                <a:extLst>
                  <a:ext uri="{0D108BD9-81ED-4DB2-BD59-A6C34878D82A}">
                    <a16:rowId xmlns:a16="http://schemas.microsoft.com/office/drawing/2014/main" val="3895612913"/>
                  </a:ext>
                </a:extLst>
              </a:tr>
              <a:tr h="192232">
                <a:tc>
                  <a:txBody>
                    <a:bodyPr/>
                    <a:lstStyle/>
                    <a:p>
                      <a:r>
                        <a:rPr lang="ja-JP" altLang="en-US" sz="1100">
                          <a:latin typeface="Meiryo UI" panose="020B0604030504040204" pitchFamily="50" charset="-128"/>
                          <a:ea typeface="Meiryo UI" panose="020B0604030504040204" pitchFamily="50" charset="-128"/>
                        </a:rPr>
                        <a:t>⑩</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操作履歴の記録・参照</a:t>
                      </a:r>
                    </a:p>
                  </a:txBody>
                  <a:tcPr marL="39558" marR="39558" marT="19779" marB="19779" anchor="ctr"/>
                </a:tc>
                <a:tc>
                  <a:txBody>
                    <a:bodyPr/>
                    <a:lstStyle/>
                    <a:p>
                      <a:r>
                        <a:rPr lang="ja-JP" altLang="en-US" sz="1100">
                          <a:latin typeface="Meiryo UI" panose="020B0604030504040204" pitchFamily="50" charset="-128"/>
                          <a:ea typeface="Meiryo UI" panose="020B0604030504040204" pitchFamily="50" charset="-128"/>
                        </a:rPr>
                        <a:t>管理者</a:t>
                      </a:r>
                    </a:p>
                  </a:txBody>
                  <a:tcPr marL="39558" marR="39558" marT="19779" marB="19779" anchor="ctr"/>
                </a:tc>
                <a:tc>
                  <a:txBody>
                    <a:bodyPr/>
                    <a:lstStyle/>
                    <a:p>
                      <a:r>
                        <a:rPr lang="ja-JP" altLang="en-US" sz="1100" dirty="0">
                          <a:latin typeface="Meiryo UI" panose="020B0604030504040204" pitchFamily="50" charset="-128"/>
                          <a:ea typeface="Meiryo UI" panose="020B0604030504040204" pitchFamily="50" charset="-128"/>
                        </a:rPr>
                        <a:t>監査やトラブル時の原因特定</a:t>
                      </a:r>
                    </a:p>
                  </a:txBody>
                  <a:tcPr marL="39558" marR="39558" marT="19779" marB="19779" anchor="ctr"/>
                </a:tc>
                <a:tc>
                  <a:txBody>
                    <a:bodyPr/>
                    <a:lstStyle/>
                    <a:p>
                      <a:r>
                        <a:rPr lang="en-US" sz="1100" dirty="0" err="1">
                          <a:latin typeface="Meiryo UI" panose="020B0604030504040204" pitchFamily="50" charset="-128"/>
                          <a:ea typeface="Meiryo UI" panose="020B0604030504040204" pitchFamily="50" charset="-128"/>
                        </a:rPr>
                        <a:t>audit_logs</a:t>
                      </a:r>
                      <a:r>
                        <a:rPr lang="en-US"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自動記録）</a:t>
                      </a:r>
                    </a:p>
                  </a:txBody>
                  <a:tcPr marL="39558" marR="39558" marT="19779" marB="19779" anchor="ctr"/>
                </a:tc>
                <a:extLst>
                  <a:ext uri="{0D108BD9-81ED-4DB2-BD59-A6C34878D82A}">
                    <a16:rowId xmlns:a16="http://schemas.microsoft.com/office/drawing/2014/main" val="4126912626"/>
                  </a:ext>
                </a:extLst>
              </a:tr>
            </a:tbl>
          </a:graphicData>
        </a:graphic>
      </p:graphicFrame>
      <p:sp>
        <p:nvSpPr>
          <p:cNvPr id="9" name="テキスト ボックス 8">
            <a:extLst>
              <a:ext uri="{FF2B5EF4-FFF2-40B4-BE49-F238E27FC236}">
                <a16:creationId xmlns:a16="http://schemas.microsoft.com/office/drawing/2014/main" id="{C016B70E-311B-1FFF-B3E3-774E6B9293E5}"/>
              </a:ext>
            </a:extLst>
          </p:cNvPr>
          <p:cNvSpPr txBox="1"/>
          <p:nvPr/>
        </p:nvSpPr>
        <p:spPr>
          <a:xfrm>
            <a:off x="230512" y="3870491"/>
            <a:ext cx="4581525" cy="1015663"/>
          </a:xfrm>
          <a:prstGeom prst="rect">
            <a:avLst/>
          </a:prstGeom>
          <a:noFill/>
        </p:spPr>
        <p:txBody>
          <a:bodyPr wrap="square">
            <a:spAutoFit/>
          </a:bodyPr>
          <a:lstStyle/>
          <a:p>
            <a:pPr marL="285750" indent="-285750">
              <a:buFont typeface="Wingdings" panose="05000000000000000000" pitchFamily="2" charset="2"/>
              <a:buChar char="l"/>
            </a:pPr>
            <a:r>
              <a:rPr lang="en-US" altLang="ja-JP" sz="1200" dirty="0">
                <a:latin typeface="Meiryo UI" panose="020B0604030504040204" pitchFamily="50" charset="-128"/>
                <a:ea typeface="Meiryo UI" panose="020B0604030504040204" pitchFamily="50" charset="-128"/>
              </a:rPr>
              <a:t>components </a:t>
            </a:r>
            <a:r>
              <a:rPr lang="ja-JP" altLang="en-US" sz="1200" dirty="0">
                <a:latin typeface="Meiryo UI" panose="020B0604030504040204" pitchFamily="50" charset="-128"/>
                <a:ea typeface="Meiryo UI" panose="020B0604030504040204" pitchFamily="50" charset="-128"/>
              </a:rPr>
              <a:t>は最小限の情報で登録可能（段階的入力</a:t>
            </a:r>
            <a:r>
              <a:rPr lang="en-US" altLang="ja-JP" sz="1200" dirty="0">
                <a:latin typeface="Meiryo UI" panose="020B0604030504040204" pitchFamily="50" charset="-128"/>
                <a:ea typeface="Meiryo UI" panose="020B0604030504040204" pitchFamily="50" charset="-128"/>
              </a:rPr>
              <a:t>OK</a:t>
            </a:r>
            <a:r>
              <a:rPr lang="ja-JP" altLang="en-US" sz="1200" dirty="0">
                <a:latin typeface="Meiryo UI" panose="020B0604030504040204" pitchFamily="50" charset="-128"/>
                <a:ea typeface="Meiryo UI" panose="020B0604030504040204" pitchFamily="50" charset="-128"/>
              </a:rPr>
              <a:t>）</a:t>
            </a:r>
            <a:endParaRPr lang="en-US" altLang="ja-JP" sz="1200" dirty="0">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l"/>
            </a:pPr>
            <a:r>
              <a:rPr lang="en-US" altLang="ja-JP" sz="1200" dirty="0" err="1">
                <a:latin typeface="Meiryo UI" panose="020B0604030504040204" pitchFamily="50" charset="-128"/>
                <a:ea typeface="Meiryo UI" panose="020B0604030504040204" pitchFamily="50" charset="-128"/>
              </a:rPr>
              <a:t>spec_type</a:t>
            </a:r>
            <a:r>
              <a:rPr lang="en-US" altLang="ja-JP" sz="1200" dirty="0">
                <a:latin typeface="Meiryo UI" panose="020B0604030504040204" pitchFamily="50" charset="-128"/>
                <a:ea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rPr>
              <a:t>によって </a:t>
            </a:r>
            <a:r>
              <a:rPr lang="en-US" altLang="ja-JP" sz="1200" dirty="0">
                <a:latin typeface="Meiryo UI" panose="020B0604030504040204" pitchFamily="50" charset="-128"/>
                <a:ea typeface="Meiryo UI" panose="020B0604030504040204" pitchFamily="50" charset="-128"/>
              </a:rPr>
              <a:t>unit </a:t>
            </a:r>
            <a:r>
              <a:rPr lang="ja-JP" altLang="en-US" sz="1200" dirty="0">
                <a:latin typeface="Meiryo UI" panose="020B0604030504040204" pitchFamily="50" charset="-128"/>
                <a:ea typeface="Meiryo UI" panose="020B0604030504040204" pitchFamily="50" charset="-128"/>
              </a:rPr>
              <a:t>候補が限定される </a:t>
            </a:r>
            <a:r>
              <a:rPr lang="en-US" altLang="ja-JP" sz="1200" dirty="0">
                <a:latin typeface="Meiryo UI" panose="020B0604030504040204" pitchFamily="50" charset="-128"/>
                <a:ea typeface="Meiryo UI" panose="020B0604030504040204" pitchFamily="50" charset="-128"/>
              </a:rPr>
              <a:t>UI </a:t>
            </a:r>
            <a:r>
              <a:rPr lang="ja-JP" altLang="en-US" sz="1200" dirty="0">
                <a:latin typeface="Meiryo UI" panose="020B0604030504040204" pitchFamily="50" charset="-128"/>
                <a:ea typeface="Meiryo UI" panose="020B0604030504040204" pitchFamily="50" charset="-128"/>
              </a:rPr>
              <a:t>が前提</a:t>
            </a:r>
            <a:endParaRPr lang="en-US" altLang="ja-JP" sz="1200" dirty="0">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l"/>
            </a:pPr>
            <a:r>
              <a:rPr lang="ja-JP" altLang="en-US" sz="1200" dirty="0">
                <a:latin typeface="Meiryo UI" panose="020B0604030504040204" pitchFamily="50" charset="-128"/>
                <a:ea typeface="Meiryo UI" panose="020B0604030504040204" pitchFamily="50" charset="-128"/>
              </a:rPr>
              <a:t>在庫（</a:t>
            </a:r>
            <a:r>
              <a:rPr lang="en-US" altLang="ja-JP" sz="1200" dirty="0" err="1">
                <a:latin typeface="Meiryo UI" panose="020B0604030504040204" pitchFamily="50" charset="-128"/>
                <a:ea typeface="Meiryo UI" panose="020B0604030504040204" pitchFamily="50" charset="-128"/>
              </a:rPr>
              <a:t>inventory_blocks</a:t>
            </a:r>
            <a:r>
              <a:rPr lang="ja-JP" altLang="en-US" sz="1200" dirty="0">
                <a:latin typeface="Meiryo UI" panose="020B0604030504040204" pitchFamily="50" charset="-128"/>
                <a:ea typeface="Meiryo UI" panose="020B0604030504040204" pitchFamily="50" charset="-128"/>
              </a:rPr>
              <a:t>）は </a:t>
            </a:r>
            <a:r>
              <a:rPr lang="en-US" altLang="ja-JP" sz="1200" dirty="0">
                <a:latin typeface="Meiryo UI" panose="020B0604030504040204" pitchFamily="50" charset="-128"/>
                <a:ea typeface="Meiryo UI" panose="020B0604030504040204" pitchFamily="50" charset="-128"/>
              </a:rPr>
              <a:t>supplier </a:t>
            </a:r>
            <a:r>
              <a:rPr lang="ja-JP" altLang="en-US" sz="1200" dirty="0">
                <a:latin typeface="Meiryo UI" panose="020B0604030504040204" pitchFamily="50" charset="-128"/>
                <a:ea typeface="Meiryo UI" panose="020B0604030504040204" pitchFamily="50" charset="-128"/>
              </a:rPr>
              <a:t>情報なくても登録可能</a:t>
            </a:r>
            <a:endParaRPr lang="en-US" altLang="ja-JP" sz="1200" dirty="0">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l"/>
            </a:pPr>
            <a:r>
              <a:rPr lang="en-US" altLang="ja-JP" sz="1200" dirty="0">
                <a:latin typeface="Meiryo UI" panose="020B0604030504040204" pitchFamily="50" charset="-128"/>
                <a:ea typeface="Meiryo UI" panose="020B0604030504040204" pitchFamily="50" charset="-128"/>
              </a:rPr>
              <a:t>project </a:t>
            </a:r>
            <a:r>
              <a:rPr lang="ja-JP" altLang="en-US" sz="1200" dirty="0">
                <a:latin typeface="Meiryo UI" panose="020B0604030504040204" pitchFamily="50" charset="-128"/>
                <a:ea typeface="Meiryo UI" panose="020B0604030504040204" pitchFamily="50" charset="-128"/>
              </a:rPr>
              <a:t>や </a:t>
            </a:r>
            <a:r>
              <a:rPr lang="en-US" altLang="ja-JP" sz="1200" dirty="0">
                <a:latin typeface="Meiryo UI" panose="020B0604030504040204" pitchFamily="50" charset="-128"/>
                <a:ea typeface="Meiryo UI" panose="020B0604030504040204" pitchFamily="50" charset="-128"/>
              </a:rPr>
              <a:t>category </a:t>
            </a:r>
            <a:r>
              <a:rPr lang="ja-JP" altLang="en-US" sz="1200" dirty="0">
                <a:latin typeface="Meiryo UI" panose="020B0604030504040204" pitchFamily="50" charset="-128"/>
                <a:ea typeface="Meiryo UI" panose="020B0604030504040204" pitchFamily="50" charset="-128"/>
              </a:rPr>
              <a:t>は多対多で複数紐付け可能</a:t>
            </a:r>
            <a:endParaRPr lang="en-US" altLang="ja-JP" sz="1200" dirty="0">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l"/>
            </a:pPr>
            <a:r>
              <a:rPr lang="ja-JP" altLang="en-US" sz="1200" dirty="0">
                <a:latin typeface="Meiryo UI" panose="020B0604030504040204" pitchFamily="50" charset="-128"/>
                <a:ea typeface="Meiryo UI" panose="020B0604030504040204" pitchFamily="50" charset="-128"/>
              </a:rPr>
              <a:t>ユーザー権限（</a:t>
            </a:r>
            <a:r>
              <a:rPr lang="en-US" altLang="ja-JP" sz="1200" dirty="0" err="1">
                <a:latin typeface="Meiryo UI" panose="020B0604030504040204" pitchFamily="50" charset="-128"/>
                <a:ea typeface="Meiryo UI" panose="020B0604030504040204" pitchFamily="50" charset="-128"/>
              </a:rPr>
              <a:t>users.role</a:t>
            </a:r>
            <a:r>
              <a:rPr lang="ja-JP" altLang="en-US" sz="1200" dirty="0">
                <a:latin typeface="Meiryo UI" panose="020B0604030504040204" pitchFamily="50" charset="-128"/>
                <a:ea typeface="Meiryo UI" panose="020B0604030504040204" pitchFamily="50" charset="-128"/>
              </a:rPr>
              <a:t>）で画面・操作を制限</a:t>
            </a:r>
          </a:p>
        </p:txBody>
      </p:sp>
      <p:graphicFrame>
        <p:nvGraphicFramePr>
          <p:cNvPr id="11" name="表 10">
            <a:extLst>
              <a:ext uri="{FF2B5EF4-FFF2-40B4-BE49-F238E27FC236}">
                <a16:creationId xmlns:a16="http://schemas.microsoft.com/office/drawing/2014/main" id="{3176772F-6AD2-9058-C32F-D0FC0C24B18D}"/>
              </a:ext>
            </a:extLst>
          </p:cNvPr>
          <p:cNvGraphicFramePr>
            <a:graphicFrameLocks noGrp="1"/>
          </p:cNvGraphicFramePr>
          <p:nvPr>
            <p:extLst>
              <p:ext uri="{D42A27DB-BD31-4B8C-83A1-F6EECF244321}">
                <p14:modId xmlns:p14="http://schemas.microsoft.com/office/powerpoint/2010/main" val="3345540996"/>
              </p:ext>
            </p:extLst>
          </p:nvPr>
        </p:nvGraphicFramePr>
        <p:xfrm>
          <a:off x="230511" y="5043487"/>
          <a:ext cx="6037898" cy="1554480"/>
        </p:xfrm>
        <a:graphic>
          <a:graphicData uri="http://schemas.openxmlformats.org/drawingml/2006/table">
            <a:tbl>
              <a:tblPr firstRow="1" bandRow="1">
                <a:tableStyleId>{073A0DAA-6AF3-43AB-8588-CEC1D06C72B9}</a:tableStyleId>
              </a:tblPr>
              <a:tblGrid>
                <a:gridCol w="1392555">
                  <a:extLst>
                    <a:ext uri="{9D8B030D-6E8A-4147-A177-3AD203B41FA5}">
                      <a16:colId xmlns:a16="http://schemas.microsoft.com/office/drawing/2014/main" val="556593439"/>
                    </a:ext>
                  </a:extLst>
                </a:gridCol>
                <a:gridCol w="1140143">
                  <a:extLst>
                    <a:ext uri="{9D8B030D-6E8A-4147-A177-3AD203B41FA5}">
                      <a16:colId xmlns:a16="http://schemas.microsoft.com/office/drawing/2014/main" val="1350620683"/>
                    </a:ext>
                  </a:extLst>
                </a:gridCol>
                <a:gridCol w="3505200">
                  <a:extLst>
                    <a:ext uri="{9D8B030D-6E8A-4147-A177-3AD203B41FA5}">
                      <a16:colId xmlns:a16="http://schemas.microsoft.com/office/drawing/2014/main" val="3933213577"/>
                    </a:ext>
                  </a:extLst>
                </a:gridCol>
              </a:tblGrid>
              <a:tr h="0">
                <a:tc>
                  <a:txBody>
                    <a:bodyPr/>
                    <a:lstStyle/>
                    <a:p>
                      <a:r>
                        <a:rPr lang="ja-JP" altLang="en-US" sz="1100">
                          <a:latin typeface="Meiryo UI" panose="020B0604030504040204" pitchFamily="50" charset="-128"/>
                          <a:ea typeface="Meiryo UI" panose="020B0604030504040204" pitchFamily="50" charset="-128"/>
                        </a:rPr>
                        <a:t>区分</a:t>
                      </a:r>
                    </a:p>
                  </a:txBody>
                  <a:tcPr anchor="ctr"/>
                </a:tc>
                <a:tc>
                  <a:txBody>
                    <a:bodyPr/>
                    <a:lstStyle/>
                    <a:p>
                      <a:r>
                        <a:rPr lang="ja-JP" altLang="en-US" sz="1100">
                          <a:latin typeface="Meiryo UI" panose="020B0604030504040204" pitchFamily="50" charset="-128"/>
                          <a:ea typeface="Meiryo UI" panose="020B0604030504040204" pitchFamily="50" charset="-128"/>
                        </a:rPr>
                        <a:t>該当ステップ</a:t>
                      </a:r>
                    </a:p>
                  </a:txBody>
                  <a:tcPr anchor="ctr"/>
                </a:tc>
                <a:tc>
                  <a:txBody>
                    <a:bodyPr/>
                    <a:lstStyle/>
                    <a:p>
                      <a:r>
                        <a:rPr lang="ja-JP" altLang="en-US" sz="1100" dirty="0">
                          <a:latin typeface="Meiryo UI" panose="020B0604030504040204" pitchFamily="50" charset="-128"/>
                          <a:ea typeface="Meiryo UI" panose="020B0604030504040204" pitchFamily="50" charset="-128"/>
                        </a:rPr>
                        <a:t>説明</a:t>
                      </a:r>
                    </a:p>
                  </a:txBody>
                  <a:tcPr anchor="ctr"/>
                </a:tc>
                <a:extLst>
                  <a:ext uri="{0D108BD9-81ED-4DB2-BD59-A6C34878D82A}">
                    <a16:rowId xmlns:a16="http://schemas.microsoft.com/office/drawing/2014/main" val="1858000695"/>
                  </a:ext>
                </a:extLst>
              </a:tr>
              <a:tr h="0">
                <a:tc>
                  <a:txBody>
                    <a:bodyPr/>
                    <a:lstStyle/>
                    <a:p>
                      <a:r>
                        <a:rPr lang="ja-JP" altLang="en-US" sz="1100">
                          <a:latin typeface="Meiryo UI" panose="020B0604030504040204" pitchFamily="50" charset="-128"/>
                          <a:ea typeface="Meiryo UI" panose="020B0604030504040204" pitchFamily="50" charset="-128"/>
                        </a:rPr>
                        <a:t>🧑‍🔧 登録フェーズ</a:t>
                      </a:r>
                    </a:p>
                  </a:txBody>
                  <a:tcPr anchor="ctr"/>
                </a:tc>
                <a:tc>
                  <a:txBody>
                    <a:bodyPr/>
                    <a:lstStyle/>
                    <a:p>
                      <a:r>
                        <a:rPr lang="ja-JP" altLang="en-US" sz="1100">
                          <a:latin typeface="Meiryo UI" panose="020B0604030504040204" pitchFamily="50" charset="-128"/>
                          <a:ea typeface="Meiryo UI" panose="020B0604030504040204" pitchFamily="50" charset="-128"/>
                        </a:rPr>
                        <a:t>①</a:t>
                      </a:r>
                      <a:r>
                        <a:rPr lang="en-US" altLang="ja-JP" sz="1100">
                          <a:latin typeface="Meiryo UI" panose="020B0604030504040204" pitchFamily="50" charset="-128"/>
                          <a:ea typeface="Meiryo UI" panose="020B0604030504040204" pitchFamily="50" charset="-128"/>
                        </a:rPr>
                        <a:t>〜④</a:t>
                      </a:r>
                    </a:p>
                  </a:txBody>
                  <a:tcPr anchor="ctr"/>
                </a:tc>
                <a:tc>
                  <a:txBody>
                    <a:bodyPr/>
                    <a:lstStyle/>
                    <a:p>
                      <a:r>
                        <a:rPr lang="ja-JP" altLang="en-US" sz="1100" dirty="0">
                          <a:latin typeface="Meiryo UI" panose="020B0604030504040204" pitchFamily="50" charset="-128"/>
                          <a:ea typeface="Meiryo UI" panose="020B0604030504040204" pitchFamily="50" charset="-128"/>
                        </a:rPr>
                        <a:t>部品情報と分類、スペック、商社の設定</a:t>
                      </a:r>
                    </a:p>
                  </a:txBody>
                  <a:tcPr anchor="ctr"/>
                </a:tc>
                <a:extLst>
                  <a:ext uri="{0D108BD9-81ED-4DB2-BD59-A6C34878D82A}">
                    <a16:rowId xmlns:a16="http://schemas.microsoft.com/office/drawing/2014/main" val="2413094850"/>
                  </a:ext>
                </a:extLst>
              </a:tr>
              <a:tr h="0">
                <a:tc>
                  <a:txBody>
                    <a:bodyPr/>
                    <a:lstStyle/>
                    <a:p>
                      <a:r>
                        <a:rPr lang="ja-JP" altLang="en-US" sz="1100">
                          <a:latin typeface="Meiryo UI" panose="020B0604030504040204" pitchFamily="50" charset="-128"/>
                          <a:ea typeface="Meiryo UI" panose="020B0604030504040204" pitchFamily="50" charset="-128"/>
                        </a:rPr>
                        <a:t>📦 在庫管理</a:t>
                      </a:r>
                    </a:p>
                  </a:txBody>
                  <a:tcPr anchor="ctr"/>
                </a:tc>
                <a:tc>
                  <a:txBody>
                    <a:bodyPr/>
                    <a:lstStyle/>
                    <a:p>
                      <a:r>
                        <a:rPr lang="ja-JP" altLang="en-US" sz="1100">
                          <a:latin typeface="Meiryo UI" panose="020B0604030504040204" pitchFamily="50" charset="-128"/>
                          <a:ea typeface="Meiryo UI" panose="020B0604030504040204" pitchFamily="50" charset="-128"/>
                        </a:rPr>
                        <a:t>⑤</a:t>
                      </a:r>
                      <a:r>
                        <a:rPr lang="en-US" altLang="ja-JP" sz="1100">
                          <a:latin typeface="Meiryo UI" panose="020B0604030504040204" pitchFamily="50" charset="-128"/>
                          <a:ea typeface="Meiryo UI" panose="020B0604030504040204" pitchFamily="50" charset="-128"/>
                        </a:rPr>
                        <a:t>〜⑦</a:t>
                      </a:r>
                    </a:p>
                  </a:txBody>
                  <a:tcPr anchor="ctr"/>
                </a:tc>
                <a:tc>
                  <a:txBody>
                    <a:bodyPr/>
                    <a:lstStyle/>
                    <a:p>
                      <a:r>
                        <a:rPr lang="ja-JP" altLang="en-US" sz="1100" dirty="0">
                          <a:latin typeface="Meiryo UI" panose="020B0604030504040204" pitchFamily="50" charset="-128"/>
                          <a:ea typeface="Meiryo UI" panose="020B0604030504040204" pitchFamily="50" charset="-128"/>
                        </a:rPr>
                        <a:t>物理的な在庫・保管状態の登録・移動・出庫</a:t>
                      </a:r>
                    </a:p>
                  </a:txBody>
                  <a:tcPr anchor="ctr"/>
                </a:tc>
                <a:extLst>
                  <a:ext uri="{0D108BD9-81ED-4DB2-BD59-A6C34878D82A}">
                    <a16:rowId xmlns:a16="http://schemas.microsoft.com/office/drawing/2014/main" val="2767598030"/>
                  </a:ext>
                </a:extLst>
              </a:tr>
              <a:tr h="0">
                <a:tc>
                  <a:txBody>
                    <a:bodyPr/>
                    <a:lstStyle/>
                    <a:p>
                      <a:r>
                        <a:rPr lang="ja-JP" altLang="en-US" sz="1100">
                          <a:latin typeface="Meiryo UI" panose="020B0604030504040204" pitchFamily="50" charset="-128"/>
                          <a:ea typeface="Meiryo UI" panose="020B0604030504040204" pitchFamily="50" charset="-128"/>
                        </a:rPr>
                        <a:t>📐 設計連携</a:t>
                      </a:r>
                    </a:p>
                  </a:txBody>
                  <a:tcPr anchor="ctr"/>
                </a:tc>
                <a:tc>
                  <a:txBody>
                    <a:bodyPr/>
                    <a:lstStyle/>
                    <a:p>
                      <a:r>
                        <a:rPr lang="ja-JP" altLang="en-US" sz="1100">
                          <a:latin typeface="Meiryo UI" panose="020B0604030504040204" pitchFamily="50" charset="-128"/>
                          <a:ea typeface="Meiryo UI" panose="020B0604030504040204" pitchFamily="50" charset="-128"/>
                        </a:rPr>
                        <a:t>⑧</a:t>
                      </a:r>
                    </a:p>
                  </a:txBody>
                  <a:tcPr anchor="ctr"/>
                </a:tc>
                <a:tc>
                  <a:txBody>
                    <a:bodyPr/>
                    <a:lstStyle/>
                    <a:p>
                      <a:r>
                        <a:rPr lang="en-US" altLang="ja-JP" sz="1100" dirty="0">
                          <a:latin typeface="Meiryo UI" panose="020B0604030504040204" pitchFamily="50" charset="-128"/>
                          <a:ea typeface="Meiryo UI" panose="020B0604030504040204" pitchFamily="50" charset="-128"/>
                        </a:rPr>
                        <a:t>Altium</a:t>
                      </a:r>
                      <a:r>
                        <a:rPr lang="ja-JP" altLang="en-US" sz="1100" dirty="0">
                          <a:latin typeface="Meiryo UI" panose="020B0604030504040204" pitchFamily="50" charset="-128"/>
                          <a:ea typeface="Meiryo UI" panose="020B0604030504040204" pitchFamily="50" charset="-128"/>
                        </a:rPr>
                        <a:t>ライブラリへの連携情報の追加</a:t>
                      </a:r>
                    </a:p>
                  </a:txBody>
                  <a:tcPr anchor="ctr"/>
                </a:tc>
                <a:extLst>
                  <a:ext uri="{0D108BD9-81ED-4DB2-BD59-A6C34878D82A}">
                    <a16:rowId xmlns:a16="http://schemas.microsoft.com/office/drawing/2014/main" val="962961274"/>
                  </a:ext>
                </a:extLst>
              </a:tr>
              <a:tr h="0">
                <a:tc>
                  <a:txBody>
                    <a:bodyPr/>
                    <a:lstStyle/>
                    <a:p>
                      <a:r>
                        <a:rPr lang="ja-JP" altLang="en-US" sz="1100">
                          <a:latin typeface="Meiryo UI" panose="020B0604030504040204" pitchFamily="50" charset="-128"/>
                          <a:ea typeface="Meiryo UI" panose="020B0604030504040204" pitchFamily="50" charset="-128"/>
                        </a:rPr>
                        <a:t>📊 活用フェーズ</a:t>
                      </a:r>
                    </a:p>
                  </a:txBody>
                  <a:tcPr anchor="ctr"/>
                </a:tc>
                <a:tc>
                  <a:txBody>
                    <a:bodyPr/>
                    <a:lstStyle/>
                    <a:p>
                      <a:r>
                        <a:rPr lang="ja-JP" altLang="en-US" sz="1100">
                          <a:latin typeface="Meiryo UI" panose="020B0604030504040204" pitchFamily="50" charset="-128"/>
                          <a:ea typeface="Meiryo UI" panose="020B0604030504040204" pitchFamily="50" charset="-128"/>
                        </a:rPr>
                        <a:t>⑨</a:t>
                      </a:r>
                    </a:p>
                  </a:txBody>
                  <a:tcPr anchor="ctr"/>
                </a:tc>
                <a:tc>
                  <a:txBody>
                    <a:bodyPr/>
                    <a:lstStyle/>
                    <a:p>
                      <a:r>
                        <a:rPr lang="ja-JP" altLang="en-US" sz="1100">
                          <a:latin typeface="Meiryo UI" panose="020B0604030504040204" pitchFamily="50" charset="-128"/>
                          <a:ea typeface="Meiryo UI" panose="020B0604030504040204" pitchFamily="50" charset="-128"/>
                        </a:rPr>
                        <a:t>プロジェクト利用実績の可視化、絞り込み</a:t>
                      </a:r>
                    </a:p>
                  </a:txBody>
                  <a:tcPr anchor="ctr"/>
                </a:tc>
                <a:extLst>
                  <a:ext uri="{0D108BD9-81ED-4DB2-BD59-A6C34878D82A}">
                    <a16:rowId xmlns:a16="http://schemas.microsoft.com/office/drawing/2014/main" val="2031954737"/>
                  </a:ext>
                </a:extLst>
              </a:tr>
              <a:tr h="0">
                <a:tc>
                  <a:txBody>
                    <a:bodyPr/>
                    <a:lstStyle/>
                    <a:p>
                      <a:r>
                        <a:rPr lang="ja-JP" altLang="en-US" sz="1100">
                          <a:latin typeface="Meiryo UI" panose="020B0604030504040204" pitchFamily="50" charset="-128"/>
                          <a:ea typeface="Meiryo UI" panose="020B0604030504040204" pitchFamily="50" charset="-128"/>
                        </a:rPr>
                        <a:t>🕵️‍♂️ トレース性</a:t>
                      </a:r>
                    </a:p>
                  </a:txBody>
                  <a:tcPr anchor="ctr"/>
                </a:tc>
                <a:tc>
                  <a:txBody>
                    <a:bodyPr/>
                    <a:lstStyle/>
                    <a:p>
                      <a:r>
                        <a:rPr lang="ja-JP" altLang="en-US" sz="1100">
                          <a:latin typeface="Meiryo UI" panose="020B0604030504040204" pitchFamily="50" charset="-128"/>
                          <a:ea typeface="Meiryo UI" panose="020B0604030504040204" pitchFamily="50" charset="-128"/>
                        </a:rPr>
                        <a:t>⑩</a:t>
                      </a:r>
                    </a:p>
                  </a:txBody>
                  <a:tcPr anchor="ctr"/>
                </a:tc>
                <a:tc>
                  <a:txBody>
                    <a:bodyPr/>
                    <a:lstStyle/>
                    <a:p>
                      <a:r>
                        <a:rPr lang="ja-JP" altLang="en-US" sz="1100" dirty="0">
                          <a:latin typeface="Meiryo UI" panose="020B0604030504040204" pitchFamily="50" charset="-128"/>
                          <a:ea typeface="Meiryo UI" panose="020B0604030504040204" pitchFamily="50" charset="-128"/>
                        </a:rPr>
                        <a:t>操作ログ（自動記録）による監査・責任追跡</a:t>
                      </a:r>
                    </a:p>
                  </a:txBody>
                  <a:tcPr anchor="ctr"/>
                </a:tc>
                <a:extLst>
                  <a:ext uri="{0D108BD9-81ED-4DB2-BD59-A6C34878D82A}">
                    <a16:rowId xmlns:a16="http://schemas.microsoft.com/office/drawing/2014/main" val="2889530428"/>
                  </a:ext>
                </a:extLst>
              </a:tr>
            </a:tbl>
          </a:graphicData>
        </a:graphic>
      </p:graphicFrame>
    </p:spTree>
    <p:extLst>
      <p:ext uri="{BB962C8B-B14F-4D97-AF65-F5344CB8AC3E}">
        <p14:creationId xmlns:p14="http://schemas.microsoft.com/office/powerpoint/2010/main" val="2125239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12CAA-B6A5-BAA7-455D-12CA3F8FD8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5BCE80-B570-925D-0C6D-9674467EECFB}"/>
              </a:ext>
            </a:extLst>
          </p:cNvPr>
          <p:cNvSpPr>
            <a:spLocks noGrp="1"/>
          </p:cNvSpPr>
          <p:nvPr>
            <p:ph type="title"/>
          </p:nvPr>
        </p:nvSpPr>
        <p:spPr/>
        <p:txBody>
          <a:bodyPr/>
          <a:lstStyle/>
          <a:p>
            <a:r>
              <a:rPr kumimoji="1" lang="en-US" altLang="ja-JP" dirty="0"/>
              <a:t>UI-</a:t>
            </a:r>
            <a:r>
              <a:rPr kumimoji="1" lang="ja-JP" altLang="en-US" dirty="0"/>
              <a:t>全体</a:t>
            </a:r>
          </a:p>
        </p:txBody>
      </p:sp>
      <p:graphicFrame>
        <p:nvGraphicFramePr>
          <p:cNvPr id="4" name="表 3">
            <a:extLst>
              <a:ext uri="{FF2B5EF4-FFF2-40B4-BE49-F238E27FC236}">
                <a16:creationId xmlns:a16="http://schemas.microsoft.com/office/drawing/2014/main" id="{E1541D88-94ED-275B-E45A-D05B582BF1E9}"/>
              </a:ext>
            </a:extLst>
          </p:cNvPr>
          <p:cNvGraphicFramePr>
            <a:graphicFrameLocks noGrp="1"/>
          </p:cNvGraphicFramePr>
          <p:nvPr>
            <p:extLst>
              <p:ext uri="{D42A27DB-BD31-4B8C-83A1-F6EECF244321}">
                <p14:modId xmlns:p14="http://schemas.microsoft.com/office/powerpoint/2010/main" val="3318220380"/>
              </p:ext>
            </p:extLst>
          </p:nvPr>
        </p:nvGraphicFramePr>
        <p:xfrm>
          <a:off x="838200" y="1779588"/>
          <a:ext cx="10515600" cy="3301844"/>
        </p:xfrm>
        <a:graphic>
          <a:graphicData uri="http://schemas.openxmlformats.org/drawingml/2006/table">
            <a:tbl>
              <a:tblPr firstRow="1" bandRow="1">
                <a:tableStyleId>{073A0DAA-6AF3-43AB-8588-CEC1D06C72B9}</a:tableStyleId>
              </a:tblPr>
              <a:tblGrid>
                <a:gridCol w="1923930">
                  <a:extLst>
                    <a:ext uri="{9D8B030D-6E8A-4147-A177-3AD203B41FA5}">
                      <a16:colId xmlns:a16="http://schemas.microsoft.com/office/drawing/2014/main" val="247690621"/>
                    </a:ext>
                  </a:extLst>
                </a:gridCol>
                <a:gridCol w="3998758">
                  <a:extLst>
                    <a:ext uri="{9D8B030D-6E8A-4147-A177-3AD203B41FA5}">
                      <a16:colId xmlns:a16="http://schemas.microsoft.com/office/drawing/2014/main" val="563070180"/>
                    </a:ext>
                  </a:extLst>
                </a:gridCol>
                <a:gridCol w="4592912">
                  <a:extLst>
                    <a:ext uri="{9D8B030D-6E8A-4147-A177-3AD203B41FA5}">
                      <a16:colId xmlns:a16="http://schemas.microsoft.com/office/drawing/2014/main" val="2249033041"/>
                    </a:ext>
                  </a:extLst>
                </a:gridCol>
              </a:tblGrid>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画面名</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関与テーブル</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機能概要</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127556352"/>
                  </a:ext>
                </a:extLst>
              </a:tr>
              <a:tr h="235846">
                <a:tc>
                  <a:txBody>
                    <a:bodyPr/>
                    <a:lstStyle/>
                    <a:p>
                      <a:pPr algn="l" fontAlgn="ctr"/>
                      <a:r>
                        <a:rPr lang="zh-CN" altLang="en-US" sz="1100" u="none" strike="noStrike" dirty="0">
                          <a:effectLst/>
                          <a:latin typeface="Meiryo UI" panose="020B0604030504040204" pitchFamily="50" charset="-128"/>
                          <a:ea typeface="Meiryo UI" panose="020B0604030504040204" pitchFamily="50" charset="-128"/>
                        </a:rPr>
                        <a:t>部品一覧画面</a:t>
                      </a:r>
                      <a:endParaRPr lang="zh-CN"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components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部品の検索・一覧表示、在庫数や分類の確認、詳細画面への遷移</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731316416"/>
                  </a:ext>
                </a:extLst>
              </a:tr>
              <a:tr h="235846">
                <a:tc>
                  <a:txBody>
                    <a:bodyPr/>
                    <a:lstStyle/>
                    <a:p>
                      <a:pPr algn="l" fontAlgn="ctr"/>
                      <a:r>
                        <a:rPr lang="zh-TW" altLang="en-US" sz="1100" u="none" strike="noStrike" dirty="0">
                          <a:effectLst/>
                          <a:latin typeface="Meiryo UI" panose="020B0604030504040204" pitchFamily="50" charset="-128"/>
                          <a:ea typeface="Meiryo UI" panose="020B0604030504040204" pitchFamily="50" charset="-128"/>
                        </a:rPr>
                        <a:t>部品詳細画面</a:t>
                      </a:r>
                      <a:endParaRPr lang="zh-TW"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fr-FR" sz="1100" u="none" strike="noStrike">
                          <a:effectLst/>
                          <a:latin typeface="Meiryo UI" panose="020B0604030504040204" pitchFamily="50" charset="-128"/>
                          <a:ea typeface="Meiryo UI" panose="020B0604030504040204" pitchFamily="50" charset="-128"/>
                        </a:rPr>
                        <a:t>components, component_specs, component_attributes</a:t>
                      </a:r>
                      <a:endParaRPr lang="fr-FR"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部品の基本情報・スペック・属性を確認／編集</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2476021095"/>
                  </a:ext>
                </a:extLst>
              </a:tr>
              <a:tr h="235846">
                <a:tc>
                  <a:txBody>
                    <a:bodyPr/>
                    <a:lstStyle/>
                    <a:p>
                      <a:pPr algn="l" fontAlgn="ctr"/>
                      <a:r>
                        <a:rPr lang="ja-JP" altLang="en-US" sz="1100" u="none" strike="noStrike" dirty="0">
                          <a:effectLst/>
                          <a:latin typeface="Meiryo UI" panose="020B0604030504040204" pitchFamily="50" charset="-128"/>
                          <a:ea typeface="Meiryo UI" panose="020B0604030504040204" pitchFamily="50" charset="-128"/>
                        </a:rPr>
                        <a:t>部品新規登録画面</a:t>
                      </a: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components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型番・名称・基本属性を入力して部品を追加</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1335839712"/>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スペック・属性編集画面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fr-FR" sz="1100" u="none" strike="noStrike">
                          <a:effectLst/>
                          <a:latin typeface="Meiryo UI" panose="020B0604030504040204" pitchFamily="50" charset="-128"/>
                          <a:ea typeface="Meiryo UI" panose="020B0604030504040204" pitchFamily="50" charset="-128"/>
                        </a:rPr>
                        <a:t>component_specs, component_attributes, spec_types</a:t>
                      </a:r>
                      <a:endParaRPr lang="fr-FR"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数値スペックや柔軟属性の追加・編集（</a:t>
                      </a:r>
                      <a:r>
                        <a:rPr lang="en-US" altLang="ja-JP" sz="1100" u="none" strike="noStrike">
                          <a:effectLst/>
                          <a:latin typeface="Meiryo UI" panose="020B0604030504040204" pitchFamily="50" charset="-128"/>
                          <a:ea typeface="Meiryo UI" panose="020B0604030504040204" pitchFamily="50" charset="-128"/>
                        </a:rPr>
                        <a:t>unit</a:t>
                      </a:r>
                      <a:r>
                        <a:rPr lang="ja-JP" altLang="en-US" sz="1100" u="none" strike="noStrike">
                          <a:effectLst/>
                          <a:latin typeface="Meiryo UI" panose="020B0604030504040204" pitchFamily="50" charset="-128"/>
                          <a:ea typeface="Meiryo UI" panose="020B0604030504040204" pitchFamily="50" charset="-128"/>
                        </a:rPr>
                        <a:t>選択含む）</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4107517558"/>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パッケージ／分類設定画面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packages, categories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部品にパッケージや分類を紐付ける</a:t>
                      </a:r>
                      <a:r>
                        <a:rPr lang="en-US" altLang="ja-JP" sz="1100" u="none" strike="noStrike">
                          <a:effectLst/>
                          <a:latin typeface="Meiryo UI" panose="020B0604030504040204" pitchFamily="50" charset="-128"/>
                          <a:ea typeface="Meiryo UI" panose="020B0604030504040204" pitchFamily="50" charset="-128"/>
                        </a:rPr>
                        <a:t>UI</a:t>
                      </a:r>
                      <a:r>
                        <a:rPr lang="ja-JP" altLang="en-US" sz="1100" u="none" strike="noStrike">
                          <a:effectLst/>
                          <a:latin typeface="Meiryo UI" panose="020B0604030504040204" pitchFamily="50" charset="-128"/>
                          <a:ea typeface="Meiryo UI" panose="020B0604030504040204" pitchFamily="50" charset="-128"/>
                        </a:rPr>
                        <a:t>（多対多制御）</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2420533178"/>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仕入情報管理画面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component_suppliers, supplier_price_breaks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商社情報・価格・数量条件を入力・編集</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1273422812"/>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入庫画面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inventory_blocks, transactions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ロット番号、数量、保管棚などを入力し在庫追加</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652878716"/>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出庫画面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transactions, component_project</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出庫処理として数量、理由、プロジェクトを選択</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528658837"/>
                  </a:ext>
                </a:extLst>
              </a:tr>
              <a:tr h="235846">
                <a:tc>
                  <a:txBody>
                    <a:bodyPr/>
                    <a:lstStyle/>
                    <a:p>
                      <a:pPr algn="l" fontAlgn="ctr"/>
                      <a:r>
                        <a:rPr lang="zh-CN" altLang="en-US" sz="1100" u="none" strike="noStrike">
                          <a:effectLst/>
                          <a:latin typeface="Meiryo UI" panose="020B0604030504040204" pitchFamily="50" charset="-128"/>
                          <a:ea typeface="Meiryo UI" panose="020B0604030504040204" pitchFamily="50" charset="-128"/>
                        </a:rPr>
                        <a:t>保管棚割付画面</a:t>
                      </a:r>
                      <a:endParaRPr lang="zh-CN"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locations, component_location</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altLang="ja-JP" sz="1100" u="none" strike="noStrike">
                          <a:effectLst/>
                          <a:latin typeface="Meiryo UI" panose="020B0604030504040204" pitchFamily="50" charset="-128"/>
                          <a:ea typeface="Meiryo UI" panose="020B0604030504040204" pitchFamily="50" charset="-128"/>
                        </a:rPr>
                        <a:t>QR</a:t>
                      </a:r>
                      <a:r>
                        <a:rPr lang="ja-JP" altLang="en-US" sz="1100" u="none" strike="noStrike">
                          <a:effectLst/>
                          <a:latin typeface="Meiryo UI" panose="020B0604030504040204" pitchFamily="50" charset="-128"/>
                          <a:ea typeface="Meiryo UI" panose="020B0604030504040204" pitchFamily="50" charset="-128"/>
                        </a:rPr>
                        <a:t>コード対応の棚マップ選択と割付制御</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413477810"/>
                  </a:ext>
                </a:extLst>
              </a:tr>
              <a:tr h="235846">
                <a:tc>
                  <a:txBody>
                    <a:bodyPr/>
                    <a:lstStyle/>
                    <a:p>
                      <a:pPr algn="l" fontAlgn="ctr"/>
                      <a:r>
                        <a:rPr lang="en-US" sz="1100" u="none" strike="noStrike">
                          <a:effectLst/>
                          <a:latin typeface="Meiryo UI" panose="020B0604030504040204" pitchFamily="50" charset="-128"/>
                          <a:ea typeface="Meiryo UI" panose="020B0604030504040204" pitchFamily="50" charset="-128"/>
                        </a:rPr>
                        <a:t>Altium</a:t>
                      </a:r>
                      <a:r>
                        <a:rPr lang="ja-JP" altLang="en-US" sz="1100" u="none" strike="noStrike">
                          <a:effectLst/>
                          <a:latin typeface="Meiryo UI" panose="020B0604030504040204" pitchFamily="50" charset="-128"/>
                          <a:ea typeface="Meiryo UI" panose="020B0604030504040204" pitchFamily="50" charset="-128"/>
                        </a:rPr>
                        <a:t>連携画面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component_altium_links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altLang="ja-JP" sz="1100" u="none" strike="noStrike">
                          <a:effectLst/>
                          <a:latin typeface="Meiryo UI" panose="020B0604030504040204" pitchFamily="50" charset="-128"/>
                          <a:ea typeface="Meiryo UI" panose="020B0604030504040204" pitchFamily="50" charset="-128"/>
                        </a:rPr>
                        <a:t>sch_lib, pcb_lib</a:t>
                      </a:r>
                      <a:r>
                        <a:rPr lang="ja-JP" altLang="en-US" sz="1100" u="none" strike="noStrike">
                          <a:effectLst/>
                          <a:latin typeface="Meiryo UI" panose="020B0604030504040204" pitchFamily="50" charset="-128"/>
                          <a:ea typeface="Meiryo UI" panose="020B0604030504040204" pitchFamily="50" charset="-128"/>
                        </a:rPr>
                        <a:t>のパス／名前を登録・編集</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2479215904"/>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プロジェクト管理画面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projects, component_project</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構成部品と使用実績の閲覧・登録</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1816625034"/>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操作ログ画面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audit_logs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操作履歴（誰がいつ何を変更したか）を一覧表示</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3606627662"/>
                  </a:ext>
                </a:extLst>
              </a:tr>
              <a:tr h="235846">
                <a:tc>
                  <a:txBody>
                    <a:bodyPr/>
                    <a:lstStyle/>
                    <a:p>
                      <a:pPr algn="l" fontAlgn="ctr"/>
                      <a:r>
                        <a:rPr lang="ja-JP" altLang="en-US" sz="1100" u="none" strike="noStrike">
                          <a:effectLst/>
                          <a:latin typeface="Meiryo UI" panose="020B0604030504040204" pitchFamily="50" charset="-128"/>
                          <a:ea typeface="Meiryo UI" panose="020B0604030504040204" pitchFamily="50" charset="-128"/>
                        </a:rPr>
                        <a:t>ユーザー管理画面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en-US" sz="1100" u="none" strike="noStrike">
                          <a:effectLst/>
                          <a:latin typeface="Meiryo UI" panose="020B0604030504040204" pitchFamily="50" charset="-128"/>
                          <a:ea typeface="Meiryo UI" panose="020B0604030504040204" pitchFamily="50" charset="-128"/>
                        </a:rPr>
                        <a:t>users</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tc>
                  <a:txBody>
                    <a:bodyPr/>
                    <a:lstStyle/>
                    <a:p>
                      <a:pPr algn="l" fontAlgn="ctr"/>
                      <a:r>
                        <a:rPr lang="ja-JP" altLang="en-US" sz="1100" u="none" strike="noStrike" dirty="0">
                          <a:effectLst/>
                          <a:latin typeface="Meiryo UI" panose="020B0604030504040204" pitchFamily="50" charset="-128"/>
                          <a:ea typeface="Meiryo UI" panose="020B0604030504040204" pitchFamily="50" charset="-128"/>
                        </a:rPr>
                        <a:t>ログインユーザー・権限管理（管理者向け）</a:t>
                      </a: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434" marR="9434" marT="9434" marB="0" anchor="ctr"/>
                </a:tc>
                <a:extLst>
                  <a:ext uri="{0D108BD9-81ED-4DB2-BD59-A6C34878D82A}">
                    <a16:rowId xmlns:a16="http://schemas.microsoft.com/office/drawing/2014/main" val="1559127020"/>
                  </a:ext>
                </a:extLst>
              </a:tr>
            </a:tbl>
          </a:graphicData>
        </a:graphic>
      </p:graphicFrame>
    </p:spTree>
    <p:extLst>
      <p:ext uri="{BB962C8B-B14F-4D97-AF65-F5344CB8AC3E}">
        <p14:creationId xmlns:p14="http://schemas.microsoft.com/office/powerpoint/2010/main" val="140071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BDAD-7BB9-5EC2-4ED5-EF5F8F42CF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5D17CC-1026-EE36-9B08-7E118AA5FEFD}"/>
              </a:ext>
            </a:extLst>
          </p:cNvPr>
          <p:cNvSpPr>
            <a:spLocks noGrp="1"/>
          </p:cNvSpPr>
          <p:nvPr>
            <p:ph type="title"/>
          </p:nvPr>
        </p:nvSpPr>
        <p:spPr/>
        <p:txBody>
          <a:bodyPr/>
          <a:lstStyle/>
          <a:p>
            <a:r>
              <a:rPr kumimoji="1" lang="en-US" altLang="ja-JP" dirty="0"/>
              <a:t>UI-</a:t>
            </a:r>
            <a:r>
              <a:rPr kumimoji="1" lang="ja-JP" altLang="en-US" dirty="0"/>
              <a:t>カラーテーマ</a:t>
            </a:r>
          </a:p>
        </p:txBody>
      </p:sp>
      <p:pic>
        <p:nvPicPr>
          <p:cNvPr id="6" name="図 5">
            <a:extLst>
              <a:ext uri="{FF2B5EF4-FFF2-40B4-BE49-F238E27FC236}">
                <a16:creationId xmlns:a16="http://schemas.microsoft.com/office/drawing/2014/main" id="{CFF92367-6957-4460-E2A2-0C9FDCEA3838}"/>
              </a:ext>
            </a:extLst>
          </p:cNvPr>
          <p:cNvPicPr>
            <a:picLocks noChangeAspect="1"/>
          </p:cNvPicPr>
          <p:nvPr/>
        </p:nvPicPr>
        <p:blipFill>
          <a:blip r:embed="rId2"/>
          <a:stretch>
            <a:fillRect/>
          </a:stretch>
        </p:blipFill>
        <p:spPr>
          <a:xfrm>
            <a:off x="3170417" y="0"/>
            <a:ext cx="9021583" cy="6858000"/>
          </a:xfrm>
          <a:prstGeom prst="rect">
            <a:avLst/>
          </a:prstGeom>
        </p:spPr>
      </p:pic>
    </p:spTree>
    <p:extLst>
      <p:ext uri="{BB962C8B-B14F-4D97-AF65-F5344CB8AC3E}">
        <p14:creationId xmlns:p14="http://schemas.microsoft.com/office/powerpoint/2010/main" val="1525181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F3D4-6E1C-6271-0B07-D5ADE05CF9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3D22FE-F6DE-0C1B-54E3-786D07648045}"/>
              </a:ext>
            </a:extLst>
          </p:cNvPr>
          <p:cNvSpPr>
            <a:spLocks noGrp="1"/>
          </p:cNvSpPr>
          <p:nvPr>
            <p:ph type="title"/>
          </p:nvPr>
        </p:nvSpPr>
        <p:spPr/>
        <p:txBody>
          <a:bodyPr/>
          <a:lstStyle/>
          <a:p>
            <a:r>
              <a:rPr kumimoji="1" lang="en-US" altLang="ja-JP" dirty="0"/>
              <a:t>UI-</a:t>
            </a:r>
            <a:r>
              <a:rPr kumimoji="1" lang="zh-CN" altLang="en-US" dirty="0"/>
              <a:t>部品一覧画面</a:t>
            </a:r>
            <a:r>
              <a:rPr kumimoji="1" lang="en-US" altLang="zh-CN" dirty="0"/>
              <a:t>-</a:t>
            </a:r>
            <a:r>
              <a:rPr kumimoji="1" lang="ja-JP" altLang="en-US" dirty="0"/>
              <a:t>設計</a:t>
            </a:r>
          </a:p>
        </p:txBody>
      </p:sp>
      <p:sp>
        <p:nvSpPr>
          <p:cNvPr id="6" name="Rectangle 1">
            <a:extLst>
              <a:ext uri="{FF2B5EF4-FFF2-40B4-BE49-F238E27FC236}">
                <a16:creationId xmlns:a16="http://schemas.microsoft.com/office/drawing/2014/main" id="{ECB4D9F9-FF8A-A746-7AAB-376EE9D2E84E}"/>
              </a:ext>
            </a:extLst>
          </p:cNvPr>
          <p:cNvSpPr>
            <a:spLocks noChangeArrowheads="1"/>
          </p:cNvSpPr>
          <p:nvPr/>
        </p:nvSpPr>
        <p:spPr bwMode="auto">
          <a:xfrm>
            <a:off x="951782" y="1804115"/>
            <a:ext cx="4184159"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en-US"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画面上部：フリーワード部品検索機能</a:t>
            </a:r>
            <a:endParaRPr kumimoji="0" lang="en-US" altLang="ja-JP"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en-US"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画面左</a:t>
            </a:r>
            <a:r>
              <a:rPr kumimoji="0" lang="ja-JP" altLang="en-US" sz="900" dirty="0">
                <a:latin typeface="Meiryo UI" panose="020B0604030504040204" pitchFamily="50" charset="-128"/>
                <a:ea typeface="Meiryo UI" panose="020B0604030504040204" pitchFamily="50" charset="-128"/>
              </a:rPr>
              <a:t>：部品フィルタ機能（検索機能はフィルタ機能が優先される）</a:t>
            </a:r>
            <a:endParaRPr kumimoji="0" lang="en-US" altLang="ja-JP" sz="900" dirty="0">
              <a:latin typeface="Meiryo UI" panose="020B0604030504040204" pitchFamily="50" charset="-128"/>
              <a:ea typeface="Meiryo UI" panose="020B0604030504040204" pitchFamily="50" charset="-128"/>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en-US"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画面右上：ライト・ダークテーマ切り替え</a:t>
            </a:r>
            <a:endParaRPr kumimoji="0" lang="en-US" altLang="ja-JP"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en-US" sz="900" dirty="0">
                <a:latin typeface="Meiryo UI" panose="020B0604030504040204" pitchFamily="50" charset="-128"/>
                <a:ea typeface="Meiryo UI" panose="020B0604030504040204" pitchFamily="50" charset="-128"/>
              </a:rPr>
              <a:t>画面中央付近が部品一覧</a:t>
            </a:r>
            <a:endParaRPr kumimoji="0" lang="en-US" altLang="ja-JP" sz="900" dirty="0">
              <a:latin typeface="Meiryo UI" panose="020B0604030504040204" pitchFamily="50" charset="-128"/>
              <a:ea typeface="Meiryo UI" panose="020B0604030504040204" pitchFamily="50" charset="-128"/>
            </a:endParaRPr>
          </a:p>
          <a:p>
            <a:pPr marL="628650" lvl="1" indent="-171450" eaLnBrk="0" fontAlgn="base" hangingPunct="0">
              <a:spcBef>
                <a:spcPct val="0"/>
              </a:spcBef>
              <a:spcAft>
                <a:spcPct val="0"/>
              </a:spcAft>
              <a:buFont typeface="Wingdings" panose="05000000000000000000" pitchFamily="2" charset="2"/>
              <a:buChar char="l"/>
            </a:pPr>
            <a:r>
              <a:rPr kumimoji="0" lang="ja-JP" altLang="en-US"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カード形式で部品を一覧表示する</a:t>
            </a:r>
            <a:endParaRPr kumimoji="0" lang="en-US" altLang="ja-JP"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p>
            <a:pPr marL="628650" lvl="1"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カードの背景はテーマの</a:t>
            </a:r>
            <a:r>
              <a:rPr kumimoji="0" lang="en-US" altLang="ja-JP" sz="900" dirty="0">
                <a:latin typeface="Meiryo UI" panose="020B0604030504040204" pitchFamily="50" charset="-128"/>
                <a:ea typeface="Meiryo UI" panose="020B0604030504040204" pitchFamily="50" charset="-128"/>
              </a:rPr>
              <a:t>card-even</a:t>
            </a:r>
            <a:r>
              <a:rPr kumimoji="0" lang="ja-JP" altLang="en-US" sz="900" dirty="0">
                <a:latin typeface="Meiryo UI" panose="020B0604030504040204" pitchFamily="50" charset="-128"/>
                <a:ea typeface="Meiryo UI" panose="020B0604030504040204" pitchFamily="50" charset="-128"/>
              </a:rPr>
              <a:t>と</a:t>
            </a:r>
            <a:r>
              <a:rPr kumimoji="0" lang="en-US" altLang="ja-JP" sz="900" dirty="0">
                <a:latin typeface="Meiryo UI" panose="020B0604030504040204" pitchFamily="50" charset="-128"/>
                <a:ea typeface="Meiryo UI" panose="020B0604030504040204" pitchFamily="50" charset="-128"/>
              </a:rPr>
              <a:t>card-odd</a:t>
            </a:r>
            <a:r>
              <a:rPr kumimoji="0" lang="ja-JP" altLang="en-US" sz="900" dirty="0">
                <a:latin typeface="Meiryo UI" panose="020B0604030504040204" pitchFamily="50" charset="-128"/>
                <a:ea typeface="Meiryo UI" panose="020B0604030504040204" pitchFamily="50" charset="-128"/>
              </a:rPr>
              <a:t>を使って交互に塗り分ける</a:t>
            </a:r>
            <a:endParaRPr kumimoji="0" lang="en-US" altLang="ja-JP" sz="900" dirty="0">
              <a:latin typeface="Meiryo UI" panose="020B0604030504040204" pitchFamily="50" charset="-128"/>
              <a:ea typeface="Meiryo UI" panose="020B0604030504040204" pitchFamily="50" charset="-128"/>
            </a:endParaRPr>
          </a:p>
          <a:p>
            <a:pPr marL="628650" lvl="1"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カードの左には部品外観イメージ</a:t>
            </a:r>
            <a:endParaRPr kumimoji="0" lang="en-US" altLang="ja-JP" sz="900" dirty="0">
              <a:latin typeface="Meiryo UI" panose="020B0604030504040204" pitchFamily="50" charset="-128"/>
              <a:ea typeface="Meiryo UI" panose="020B0604030504040204" pitchFamily="50" charset="-128"/>
            </a:endParaRPr>
          </a:p>
          <a:p>
            <a:pPr marL="628650" lvl="1"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カードの右側は上から</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名称</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型番</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メーカ</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新品・中古の在庫数</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データシートリンク（リンクがなければ非表示）</a:t>
            </a:r>
            <a:endParaRPr kumimoji="0" lang="en-US" altLang="ja-JP" sz="900" dirty="0">
              <a:latin typeface="Meiryo UI" panose="020B0604030504040204" pitchFamily="50" charset="-128"/>
              <a:ea typeface="Meiryo UI" panose="020B0604030504040204" pitchFamily="50" charset="-128"/>
            </a:endParaRPr>
          </a:p>
          <a:p>
            <a:pPr marL="1085850" lvl="2" indent="-171450" eaLnBrk="0" fontAlgn="base" hangingPunct="0">
              <a:spcBef>
                <a:spcPct val="0"/>
              </a:spcBef>
              <a:spcAft>
                <a:spcPct val="0"/>
              </a:spcAft>
              <a:buFont typeface="Wingdings" panose="05000000000000000000" pitchFamily="2" charset="2"/>
              <a:buChar char="l"/>
            </a:pPr>
            <a:r>
              <a:rPr kumimoji="0" lang="ja-JP" altLang="en-US" sz="900" dirty="0">
                <a:latin typeface="Meiryo UI" panose="020B0604030504040204" pitchFamily="50" charset="-128"/>
                <a:ea typeface="Meiryo UI" panose="020B0604030504040204" pitchFamily="50" charset="-128"/>
              </a:rPr>
              <a:t>パッケージ</a:t>
            </a:r>
            <a:endParaRPr kumimoji="0" lang="en-US" altLang="ja-JP" sz="900" dirty="0">
              <a:latin typeface="Meiryo UI" panose="020B0604030504040204" pitchFamily="50" charset="-128"/>
              <a:ea typeface="Meiryo UI" panose="020B0604030504040204" pitchFamily="50" charset="-128"/>
            </a:endParaRPr>
          </a:p>
          <a:p>
            <a:pPr marL="628650" lvl="1" indent="-171450" eaLnBrk="0" fontAlgn="base" hangingPunct="0">
              <a:spcBef>
                <a:spcPct val="0"/>
              </a:spcBef>
              <a:spcAft>
                <a:spcPct val="0"/>
              </a:spcAft>
              <a:buFont typeface="Wingdings" panose="05000000000000000000" pitchFamily="2" charset="2"/>
              <a:buChar char="l"/>
            </a:pPr>
            <a:endParaRPr kumimoji="0" lang="ja-JP" altLang="ja-JP" sz="9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6589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7761-F6FD-0EEF-82D8-E3445D0860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00D593-F9E8-3E3C-E4D7-50F5F04AE021}"/>
              </a:ext>
            </a:extLst>
          </p:cNvPr>
          <p:cNvSpPr>
            <a:spLocks noGrp="1"/>
          </p:cNvSpPr>
          <p:nvPr>
            <p:ph type="title"/>
          </p:nvPr>
        </p:nvSpPr>
        <p:spPr/>
        <p:txBody>
          <a:bodyPr/>
          <a:lstStyle/>
          <a:p>
            <a:r>
              <a:rPr kumimoji="1" lang="en-US" altLang="ja-JP" dirty="0"/>
              <a:t>UI-</a:t>
            </a:r>
            <a:r>
              <a:rPr kumimoji="1" lang="zh-CN" altLang="en-US" dirty="0"/>
              <a:t>部品一覧画面</a:t>
            </a:r>
            <a:r>
              <a:rPr kumimoji="1" lang="en-US" altLang="zh-CN" dirty="0"/>
              <a:t>-</a:t>
            </a:r>
            <a:r>
              <a:rPr kumimoji="1" lang="ja-JP" altLang="en-US" dirty="0"/>
              <a:t>外観イメージ</a:t>
            </a:r>
          </a:p>
        </p:txBody>
      </p:sp>
      <p:pic>
        <p:nvPicPr>
          <p:cNvPr id="8" name="図 7">
            <a:extLst>
              <a:ext uri="{FF2B5EF4-FFF2-40B4-BE49-F238E27FC236}">
                <a16:creationId xmlns:a16="http://schemas.microsoft.com/office/drawing/2014/main" id="{42321B26-D59E-A011-D1DA-7F3B1124A08F}"/>
              </a:ext>
            </a:extLst>
          </p:cNvPr>
          <p:cNvPicPr>
            <a:picLocks noChangeAspect="1"/>
          </p:cNvPicPr>
          <p:nvPr/>
        </p:nvPicPr>
        <p:blipFill>
          <a:blip r:embed="rId2"/>
          <a:stretch>
            <a:fillRect/>
          </a:stretch>
        </p:blipFill>
        <p:spPr>
          <a:xfrm>
            <a:off x="980602" y="1565311"/>
            <a:ext cx="8125298" cy="4438820"/>
          </a:xfrm>
          <a:prstGeom prst="rect">
            <a:avLst/>
          </a:prstGeom>
        </p:spPr>
      </p:pic>
    </p:spTree>
    <p:extLst>
      <p:ext uri="{BB962C8B-B14F-4D97-AF65-F5344CB8AC3E}">
        <p14:creationId xmlns:p14="http://schemas.microsoft.com/office/powerpoint/2010/main" val="419670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9864-E67F-DB04-EA9E-EBA94A2967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858E6B-7978-F9D0-67FB-6E960883361B}"/>
              </a:ext>
            </a:extLst>
          </p:cNvPr>
          <p:cNvSpPr>
            <a:spLocks noGrp="1"/>
          </p:cNvSpPr>
          <p:nvPr>
            <p:ph type="title"/>
          </p:nvPr>
        </p:nvSpPr>
        <p:spPr/>
        <p:txBody>
          <a:bodyPr/>
          <a:lstStyle/>
          <a:p>
            <a:r>
              <a:rPr kumimoji="1" lang="en-US" altLang="ja-JP" dirty="0"/>
              <a:t>UI-</a:t>
            </a:r>
            <a:r>
              <a:rPr kumimoji="1" lang="zh-TW" altLang="en-US" dirty="0"/>
              <a:t>部品詳細画面</a:t>
            </a:r>
            <a:r>
              <a:rPr kumimoji="1" lang="en-US" altLang="zh-TW" dirty="0"/>
              <a:t>-</a:t>
            </a:r>
            <a:r>
              <a:rPr kumimoji="1" lang="ja-JP" altLang="en-US" dirty="0"/>
              <a:t>設計</a:t>
            </a:r>
          </a:p>
        </p:txBody>
      </p:sp>
      <p:graphicFrame>
        <p:nvGraphicFramePr>
          <p:cNvPr id="3" name="表 2">
            <a:extLst>
              <a:ext uri="{FF2B5EF4-FFF2-40B4-BE49-F238E27FC236}">
                <a16:creationId xmlns:a16="http://schemas.microsoft.com/office/drawing/2014/main" id="{CC86C217-ED02-80AA-2287-AB477621E05F}"/>
              </a:ext>
            </a:extLst>
          </p:cNvPr>
          <p:cNvGraphicFramePr>
            <a:graphicFrameLocks noGrp="1"/>
          </p:cNvGraphicFramePr>
          <p:nvPr>
            <p:extLst>
              <p:ext uri="{D42A27DB-BD31-4B8C-83A1-F6EECF244321}">
                <p14:modId xmlns:p14="http://schemas.microsoft.com/office/powerpoint/2010/main" val="239737717"/>
              </p:ext>
            </p:extLst>
          </p:nvPr>
        </p:nvGraphicFramePr>
        <p:xfrm>
          <a:off x="1206457" y="1855657"/>
          <a:ext cx="5883042" cy="1510912"/>
        </p:xfrm>
        <a:graphic>
          <a:graphicData uri="http://schemas.openxmlformats.org/drawingml/2006/table">
            <a:tbl>
              <a:tblPr firstRow="1" bandRow="1">
                <a:tableStyleId>{5202B0CA-FC54-4496-8BCA-5EF66A818D29}</a:tableStyleId>
              </a:tblPr>
              <a:tblGrid>
                <a:gridCol w="357514">
                  <a:extLst>
                    <a:ext uri="{9D8B030D-6E8A-4147-A177-3AD203B41FA5}">
                      <a16:colId xmlns:a16="http://schemas.microsoft.com/office/drawing/2014/main" val="965324998"/>
                    </a:ext>
                  </a:extLst>
                </a:gridCol>
                <a:gridCol w="946688">
                  <a:extLst>
                    <a:ext uri="{9D8B030D-6E8A-4147-A177-3AD203B41FA5}">
                      <a16:colId xmlns:a16="http://schemas.microsoft.com/office/drawing/2014/main" val="727171163"/>
                    </a:ext>
                  </a:extLst>
                </a:gridCol>
                <a:gridCol w="1546763">
                  <a:extLst>
                    <a:ext uri="{9D8B030D-6E8A-4147-A177-3AD203B41FA5}">
                      <a16:colId xmlns:a16="http://schemas.microsoft.com/office/drawing/2014/main" val="4213845107"/>
                    </a:ext>
                  </a:extLst>
                </a:gridCol>
                <a:gridCol w="3032077">
                  <a:extLst>
                    <a:ext uri="{9D8B030D-6E8A-4147-A177-3AD203B41FA5}">
                      <a16:colId xmlns:a16="http://schemas.microsoft.com/office/drawing/2014/main" val="584426421"/>
                    </a:ext>
                  </a:extLst>
                </a:gridCol>
              </a:tblGrid>
              <a:tr h="0">
                <a:tc>
                  <a:txBody>
                    <a:bodyPr/>
                    <a:lstStyle/>
                    <a:p>
                      <a:r>
                        <a:rPr lang="ja-JP" altLang="en-US" sz="800">
                          <a:latin typeface="Meiryo UI" panose="020B0604030504040204" pitchFamily="50" charset="-128"/>
                          <a:ea typeface="Meiryo UI" panose="020B0604030504040204" pitchFamily="50" charset="-128"/>
                        </a:rPr>
                        <a:t>優先</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種別</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項目例</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理由・目的</a:t>
                      </a:r>
                    </a:p>
                  </a:txBody>
                  <a:tcPr marL="66944" marR="66944" marT="33472" marB="33472" anchor="ctr"/>
                </a:tc>
                <a:extLst>
                  <a:ext uri="{0D108BD9-81ED-4DB2-BD59-A6C34878D82A}">
                    <a16:rowId xmlns:a16="http://schemas.microsoft.com/office/drawing/2014/main" val="4182808485"/>
                  </a:ext>
                </a:extLst>
              </a:tr>
              <a:tr h="171792">
                <a:tc>
                  <a:txBody>
                    <a:bodyPr/>
                    <a:lstStyle/>
                    <a:p>
                      <a:r>
                        <a:rPr lang="ja-JP" altLang="en-US" sz="800">
                          <a:latin typeface="Meiryo UI" panose="020B0604030504040204" pitchFamily="50" charset="-128"/>
                          <a:ea typeface="Meiryo UI" panose="020B0604030504040204" pitchFamily="50" charset="-128"/>
                        </a:rPr>
                        <a:t>①</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外観</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画像サムネ</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物理形状や用途イメージをつかむ（</a:t>
                      </a:r>
                      <a:r>
                        <a:rPr lang="en-US" altLang="ja-JP" sz="800">
                          <a:latin typeface="Meiryo UI" panose="020B0604030504040204" pitchFamily="50" charset="-128"/>
                          <a:ea typeface="Meiryo UI" panose="020B0604030504040204" pitchFamily="50" charset="-128"/>
                        </a:rPr>
                        <a:t>SMD, DIP, </a:t>
                      </a:r>
                      <a:r>
                        <a:rPr lang="ja-JP" altLang="en-US" sz="800">
                          <a:latin typeface="Meiryo UI" panose="020B0604030504040204" pitchFamily="50" charset="-128"/>
                          <a:ea typeface="Meiryo UI" panose="020B0604030504040204" pitchFamily="50" charset="-128"/>
                        </a:rPr>
                        <a:t>小型</a:t>
                      </a:r>
                      <a:r>
                        <a:rPr lang="en-US" altLang="ja-JP" sz="800">
                          <a:latin typeface="Meiryo UI" panose="020B0604030504040204" pitchFamily="50" charset="-128"/>
                          <a:ea typeface="Meiryo UI" panose="020B0604030504040204" pitchFamily="50" charset="-128"/>
                        </a:rPr>
                        <a:t>/</a:t>
                      </a:r>
                      <a:r>
                        <a:rPr lang="ja-JP" altLang="en-US" sz="800">
                          <a:latin typeface="Meiryo UI" panose="020B0604030504040204" pitchFamily="50" charset="-128"/>
                          <a:ea typeface="Meiryo UI" panose="020B0604030504040204" pitchFamily="50" charset="-128"/>
                        </a:rPr>
                        <a:t>大型）</a:t>
                      </a:r>
                    </a:p>
                  </a:txBody>
                  <a:tcPr marL="66944" marR="66944" marT="33472" marB="33472" anchor="ctr"/>
                </a:tc>
                <a:extLst>
                  <a:ext uri="{0D108BD9-81ED-4DB2-BD59-A6C34878D82A}">
                    <a16:rowId xmlns:a16="http://schemas.microsoft.com/office/drawing/2014/main" val="3170271952"/>
                  </a:ext>
                </a:extLst>
              </a:tr>
              <a:tr h="171792">
                <a:tc>
                  <a:txBody>
                    <a:bodyPr/>
                    <a:lstStyle/>
                    <a:p>
                      <a:r>
                        <a:rPr lang="ja-JP" altLang="en-US" sz="800">
                          <a:latin typeface="Meiryo UI" panose="020B0604030504040204" pitchFamily="50" charset="-128"/>
                          <a:ea typeface="Meiryo UI" panose="020B0604030504040204" pitchFamily="50" charset="-128"/>
                        </a:rPr>
                        <a:t>②</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基本情報</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型番、通称、メーカ</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記憶や用途に結びつく情報、指名買い検討にも関与</a:t>
                      </a:r>
                    </a:p>
                  </a:txBody>
                  <a:tcPr marL="66944" marR="66944" marT="33472" marB="33472" anchor="ctr"/>
                </a:tc>
                <a:extLst>
                  <a:ext uri="{0D108BD9-81ED-4DB2-BD59-A6C34878D82A}">
                    <a16:rowId xmlns:a16="http://schemas.microsoft.com/office/drawing/2014/main" val="2382587905"/>
                  </a:ext>
                </a:extLst>
              </a:tr>
              <a:tr h="171792">
                <a:tc>
                  <a:txBody>
                    <a:bodyPr/>
                    <a:lstStyle/>
                    <a:p>
                      <a:r>
                        <a:rPr lang="ja-JP" altLang="en-US" sz="800">
                          <a:latin typeface="Meiryo UI" panose="020B0604030504040204" pitchFamily="50" charset="-128"/>
                          <a:ea typeface="Meiryo UI" panose="020B0604030504040204" pitchFamily="50" charset="-128"/>
                        </a:rPr>
                        <a:t>③</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スペック概要</a:t>
                      </a:r>
                    </a:p>
                  </a:txBody>
                  <a:tcPr marL="66944" marR="66944" marT="33472" marB="33472" anchor="ctr"/>
                </a:tc>
                <a:tc>
                  <a:txBody>
                    <a:bodyPr/>
                    <a:lstStyle/>
                    <a:p>
                      <a:r>
                        <a:rPr lang="zh-TW" altLang="en-US" sz="800" dirty="0">
                          <a:latin typeface="Meiryo UI" panose="020B0604030504040204" pitchFamily="50" charset="-128"/>
                          <a:ea typeface="Meiryo UI" panose="020B0604030504040204" pitchFamily="50" charset="-128"/>
                        </a:rPr>
                        <a:t>値、定格電圧</a:t>
                      </a:r>
                      <a:r>
                        <a:rPr lang="en-US" altLang="zh-TW" sz="800" dirty="0">
                          <a:latin typeface="Meiryo UI" panose="020B0604030504040204" pitchFamily="50" charset="-128"/>
                          <a:ea typeface="Meiryo UI" panose="020B0604030504040204" pitchFamily="50" charset="-128"/>
                        </a:rPr>
                        <a:t>/</a:t>
                      </a:r>
                      <a:r>
                        <a:rPr lang="zh-TW" altLang="en-US" sz="800" dirty="0">
                          <a:latin typeface="Meiryo UI" panose="020B0604030504040204" pitchFamily="50" charset="-128"/>
                          <a:ea typeface="Meiryo UI" panose="020B0604030504040204" pitchFamily="50" charset="-128"/>
                        </a:rPr>
                        <a:t>電流</a:t>
                      </a:r>
                      <a:r>
                        <a:rPr lang="en-US" altLang="zh-TW" sz="800" dirty="0">
                          <a:latin typeface="Meiryo UI" panose="020B0604030504040204" pitchFamily="50" charset="-128"/>
                          <a:ea typeface="Meiryo UI" panose="020B0604030504040204" pitchFamily="50" charset="-128"/>
                        </a:rPr>
                        <a:t>/</a:t>
                      </a:r>
                      <a:r>
                        <a:rPr lang="zh-TW" altLang="en-US" sz="800" dirty="0">
                          <a:latin typeface="Meiryo UI" panose="020B0604030504040204" pitchFamily="50" charset="-128"/>
                          <a:ea typeface="Meiryo UI" panose="020B0604030504040204" pitchFamily="50" charset="-128"/>
                        </a:rPr>
                        <a:t>電力</a:t>
                      </a:r>
                    </a:p>
                  </a:txBody>
                  <a:tcPr marL="66944" marR="66944" marT="33472" marB="33472" anchor="ctr"/>
                </a:tc>
                <a:tc>
                  <a:txBody>
                    <a:bodyPr/>
                    <a:lstStyle/>
                    <a:p>
                      <a:r>
                        <a:rPr lang="ja-JP" altLang="en-US" sz="800" dirty="0">
                          <a:latin typeface="Meiryo UI" panose="020B0604030504040204" pitchFamily="50" charset="-128"/>
                          <a:ea typeface="Meiryo UI" panose="020B0604030504040204" pitchFamily="50" charset="-128"/>
                        </a:rPr>
                        <a:t>電気的に条件を満たすか判断（組合せ設計の出発点）</a:t>
                      </a:r>
                    </a:p>
                  </a:txBody>
                  <a:tcPr marL="66944" marR="66944" marT="33472" marB="33472" anchor="ctr"/>
                </a:tc>
                <a:extLst>
                  <a:ext uri="{0D108BD9-81ED-4DB2-BD59-A6C34878D82A}">
                    <a16:rowId xmlns:a16="http://schemas.microsoft.com/office/drawing/2014/main" val="1124890681"/>
                  </a:ext>
                </a:extLst>
              </a:tr>
              <a:tr h="120255">
                <a:tc>
                  <a:txBody>
                    <a:bodyPr/>
                    <a:lstStyle/>
                    <a:p>
                      <a:r>
                        <a:rPr lang="ja-JP" altLang="en-US" sz="800">
                          <a:latin typeface="Meiryo UI" panose="020B0604030504040204" pitchFamily="50" charset="-128"/>
                          <a:ea typeface="Meiryo UI" panose="020B0604030504040204" pitchFamily="50" charset="-128"/>
                        </a:rPr>
                        <a:t>④</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データシート</a:t>
                      </a:r>
                    </a:p>
                  </a:txBody>
                  <a:tcPr marL="66944" marR="66944" marT="33472" marB="33472" anchor="ctr"/>
                </a:tc>
                <a:tc>
                  <a:txBody>
                    <a:bodyPr/>
                    <a:lstStyle/>
                    <a:p>
                      <a:r>
                        <a:rPr lang="ja-JP" altLang="en-US" sz="800" dirty="0">
                          <a:latin typeface="Meiryo UI" panose="020B0604030504040204" pitchFamily="50" charset="-128"/>
                          <a:ea typeface="Meiryo UI" panose="020B0604030504040204" pitchFamily="50" charset="-128"/>
                        </a:rPr>
                        <a:t>主要リンク</a:t>
                      </a:r>
                    </a:p>
                  </a:txBody>
                  <a:tcPr marL="66944" marR="66944" marT="33472" marB="33472" anchor="ctr"/>
                </a:tc>
                <a:tc>
                  <a:txBody>
                    <a:bodyPr/>
                    <a:lstStyle/>
                    <a:p>
                      <a:r>
                        <a:rPr lang="ja-JP" altLang="en-US" sz="800" dirty="0">
                          <a:latin typeface="Meiryo UI" panose="020B0604030504040204" pitchFamily="50" charset="-128"/>
                          <a:ea typeface="Meiryo UI" panose="020B0604030504040204" pitchFamily="50" charset="-128"/>
                        </a:rPr>
                        <a:t>スペックや構造詳細確認、設計確証</a:t>
                      </a:r>
                    </a:p>
                  </a:txBody>
                  <a:tcPr marL="66944" marR="66944" marT="33472" marB="33472" anchor="ctr"/>
                </a:tc>
                <a:extLst>
                  <a:ext uri="{0D108BD9-81ED-4DB2-BD59-A6C34878D82A}">
                    <a16:rowId xmlns:a16="http://schemas.microsoft.com/office/drawing/2014/main" val="3058040520"/>
                  </a:ext>
                </a:extLst>
              </a:tr>
              <a:tr h="120255">
                <a:tc>
                  <a:txBody>
                    <a:bodyPr/>
                    <a:lstStyle/>
                    <a:p>
                      <a:r>
                        <a:rPr lang="ja-JP" altLang="en-US" sz="800">
                          <a:latin typeface="Meiryo UI" panose="020B0604030504040204" pitchFamily="50" charset="-128"/>
                          <a:ea typeface="Meiryo UI" panose="020B0604030504040204" pitchFamily="50" charset="-128"/>
                        </a:rPr>
                        <a:t>⑤</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最安価格</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商社名＋価格（</a:t>
                      </a:r>
                      <a:r>
                        <a:rPr lang="en-US" altLang="ja-JP" sz="800">
                          <a:latin typeface="Meiryo UI" panose="020B0604030504040204" pitchFamily="50" charset="-128"/>
                          <a:ea typeface="Meiryo UI" panose="020B0604030504040204" pitchFamily="50" charset="-128"/>
                        </a:rPr>
                        <a:t>1</a:t>
                      </a:r>
                      <a:r>
                        <a:rPr lang="ja-JP" altLang="en-US" sz="800">
                          <a:latin typeface="Meiryo UI" panose="020B0604030504040204" pitchFamily="50" charset="-128"/>
                          <a:ea typeface="Meiryo UI" panose="020B0604030504040204" pitchFamily="50" charset="-128"/>
                        </a:rPr>
                        <a:t>件）＋リンク</a:t>
                      </a:r>
                    </a:p>
                  </a:txBody>
                  <a:tcPr marL="66944" marR="66944" marT="33472" marB="33472" anchor="ctr"/>
                </a:tc>
                <a:tc>
                  <a:txBody>
                    <a:bodyPr/>
                    <a:lstStyle/>
                    <a:p>
                      <a:r>
                        <a:rPr lang="ja-JP" altLang="en-US" sz="800" dirty="0">
                          <a:latin typeface="Meiryo UI" panose="020B0604030504040204" pitchFamily="50" charset="-128"/>
                          <a:ea typeface="Meiryo UI" panose="020B0604030504040204" pitchFamily="50" charset="-128"/>
                        </a:rPr>
                        <a:t>コスト感覚で候補を取捨選択</a:t>
                      </a:r>
                    </a:p>
                  </a:txBody>
                  <a:tcPr marL="66944" marR="66944" marT="33472" marB="33472" anchor="ctr"/>
                </a:tc>
                <a:extLst>
                  <a:ext uri="{0D108BD9-81ED-4DB2-BD59-A6C34878D82A}">
                    <a16:rowId xmlns:a16="http://schemas.microsoft.com/office/drawing/2014/main" val="3791469328"/>
                  </a:ext>
                </a:extLst>
              </a:tr>
              <a:tr h="120255">
                <a:tc>
                  <a:txBody>
                    <a:bodyPr/>
                    <a:lstStyle/>
                    <a:p>
                      <a:r>
                        <a:rPr lang="ja-JP" altLang="en-US" sz="800">
                          <a:latin typeface="Meiryo UI" panose="020B0604030504040204" pitchFamily="50" charset="-128"/>
                          <a:ea typeface="Meiryo UI" panose="020B0604030504040204" pitchFamily="50" charset="-128"/>
                        </a:rPr>
                        <a:t>⑥</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入手可否</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量産中・</a:t>
                      </a:r>
                      <a:r>
                        <a:rPr lang="en-US" altLang="ja-JP" sz="800">
                          <a:latin typeface="Meiryo UI" panose="020B0604030504040204" pitchFamily="50" charset="-128"/>
                          <a:ea typeface="Meiryo UI" panose="020B0604030504040204" pitchFamily="50" charset="-128"/>
                        </a:rPr>
                        <a:t>EOL</a:t>
                      </a:r>
                      <a:r>
                        <a:rPr lang="ja-JP" altLang="en-US" sz="800">
                          <a:latin typeface="Meiryo UI" panose="020B0604030504040204" pitchFamily="50" charset="-128"/>
                          <a:ea typeface="Meiryo UI" panose="020B0604030504040204" pitchFamily="50" charset="-128"/>
                        </a:rPr>
                        <a:t>・在庫限りなど</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継続使用可能性を判断</a:t>
                      </a:r>
                    </a:p>
                  </a:txBody>
                  <a:tcPr marL="66944" marR="66944" marT="33472" marB="33472" anchor="ctr"/>
                </a:tc>
                <a:extLst>
                  <a:ext uri="{0D108BD9-81ED-4DB2-BD59-A6C34878D82A}">
                    <a16:rowId xmlns:a16="http://schemas.microsoft.com/office/drawing/2014/main" val="1531845025"/>
                  </a:ext>
                </a:extLst>
              </a:tr>
              <a:tr h="171792">
                <a:tc>
                  <a:txBody>
                    <a:bodyPr/>
                    <a:lstStyle/>
                    <a:p>
                      <a:r>
                        <a:rPr lang="ja-JP" altLang="en-US" sz="800">
                          <a:latin typeface="Meiryo UI" panose="020B0604030504040204" pitchFamily="50" charset="-128"/>
                          <a:ea typeface="Meiryo UI" panose="020B0604030504040204" pitchFamily="50" charset="-128"/>
                        </a:rPr>
                        <a:t>⑦</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 在庫状況</a:t>
                      </a:r>
                    </a:p>
                  </a:txBody>
                  <a:tcPr marL="66944" marR="66944" marT="33472" marB="33472" anchor="ctr"/>
                </a:tc>
                <a:tc>
                  <a:txBody>
                    <a:bodyPr/>
                    <a:lstStyle/>
                    <a:p>
                      <a:r>
                        <a:rPr lang="ja-JP" altLang="en-US" sz="800">
                          <a:latin typeface="Meiryo UI" panose="020B0604030504040204" pitchFamily="50" charset="-128"/>
                          <a:ea typeface="Meiryo UI" panose="020B0604030504040204" pitchFamily="50" charset="-128"/>
                        </a:rPr>
                        <a:t>新品 </a:t>
                      </a:r>
                      <a:r>
                        <a:rPr lang="en-US" altLang="ja-JP" sz="800">
                          <a:latin typeface="Meiryo UI" panose="020B0604030504040204" pitchFamily="50" charset="-128"/>
                          <a:ea typeface="Meiryo UI" panose="020B0604030504040204" pitchFamily="50" charset="-128"/>
                        </a:rPr>
                        <a:t>/ </a:t>
                      </a:r>
                      <a:r>
                        <a:rPr lang="ja-JP" altLang="en-US" sz="800">
                          <a:latin typeface="Meiryo UI" panose="020B0604030504040204" pitchFamily="50" charset="-128"/>
                          <a:ea typeface="Meiryo UI" panose="020B0604030504040204" pitchFamily="50" charset="-128"/>
                        </a:rPr>
                        <a:t>中古 在庫数</a:t>
                      </a:r>
                    </a:p>
                  </a:txBody>
                  <a:tcPr marL="66944" marR="66944" marT="33472" marB="33472" anchor="ctr"/>
                </a:tc>
                <a:tc>
                  <a:txBody>
                    <a:bodyPr/>
                    <a:lstStyle/>
                    <a:p>
                      <a:r>
                        <a:rPr lang="ja-JP" altLang="en-US" sz="800" dirty="0">
                          <a:latin typeface="Meiryo UI" panose="020B0604030504040204" pitchFamily="50" charset="-128"/>
                          <a:ea typeface="Meiryo UI" panose="020B0604030504040204" pitchFamily="50" charset="-128"/>
                        </a:rPr>
                        <a:t>試作・手配の即時可否確認（でも初期段階では優先度低）</a:t>
                      </a:r>
                    </a:p>
                  </a:txBody>
                  <a:tcPr marL="66944" marR="66944" marT="33472" marB="33472" anchor="ctr"/>
                </a:tc>
                <a:extLst>
                  <a:ext uri="{0D108BD9-81ED-4DB2-BD59-A6C34878D82A}">
                    <a16:rowId xmlns:a16="http://schemas.microsoft.com/office/drawing/2014/main" val="3832989715"/>
                  </a:ext>
                </a:extLst>
              </a:tr>
            </a:tbl>
          </a:graphicData>
        </a:graphic>
      </p:graphicFrame>
      <p:graphicFrame>
        <p:nvGraphicFramePr>
          <p:cNvPr id="4" name="表 3">
            <a:extLst>
              <a:ext uri="{FF2B5EF4-FFF2-40B4-BE49-F238E27FC236}">
                <a16:creationId xmlns:a16="http://schemas.microsoft.com/office/drawing/2014/main" id="{ACDC22BE-AC37-8DD4-5286-1F9BDBF2D870}"/>
              </a:ext>
            </a:extLst>
          </p:cNvPr>
          <p:cNvGraphicFramePr>
            <a:graphicFrameLocks noGrp="1"/>
          </p:cNvGraphicFramePr>
          <p:nvPr>
            <p:extLst>
              <p:ext uri="{D42A27DB-BD31-4B8C-83A1-F6EECF244321}">
                <p14:modId xmlns:p14="http://schemas.microsoft.com/office/powerpoint/2010/main" val="3476575597"/>
              </p:ext>
            </p:extLst>
          </p:nvPr>
        </p:nvGraphicFramePr>
        <p:xfrm>
          <a:off x="7627900" y="1887413"/>
          <a:ext cx="4477703" cy="1280160"/>
        </p:xfrm>
        <a:graphic>
          <a:graphicData uri="http://schemas.openxmlformats.org/drawingml/2006/table">
            <a:tbl>
              <a:tblPr firstRow="1" bandRow="1">
                <a:tableStyleId>{5202B0CA-FC54-4496-8BCA-5EF66A818D29}</a:tableStyleId>
              </a:tblPr>
              <a:tblGrid>
                <a:gridCol w="419418">
                  <a:extLst>
                    <a:ext uri="{9D8B030D-6E8A-4147-A177-3AD203B41FA5}">
                      <a16:colId xmlns:a16="http://schemas.microsoft.com/office/drawing/2014/main" val="1344161006"/>
                    </a:ext>
                  </a:extLst>
                </a:gridCol>
                <a:gridCol w="1198880">
                  <a:extLst>
                    <a:ext uri="{9D8B030D-6E8A-4147-A177-3AD203B41FA5}">
                      <a16:colId xmlns:a16="http://schemas.microsoft.com/office/drawing/2014/main" val="556992941"/>
                    </a:ext>
                  </a:extLst>
                </a:gridCol>
                <a:gridCol w="2859405">
                  <a:extLst>
                    <a:ext uri="{9D8B030D-6E8A-4147-A177-3AD203B41FA5}">
                      <a16:colId xmlns:a16="http://schemas.microsoft.com/office/drawing/2014/main" val="3963207963"/>
                    </a:ext>
                  </a:extLst>
                </a:gridCol>
              </a:tblGrid>
              <a:tr h="0">
                <a:tc>
                  <a:txBody>
                    <a:bodyPr/>
                    <a:lstStyle/>
                    <a:p>
                      <a:r>
                        <a:rPr lang="ja-JP" altLang="en-US" sz="800">
                          <a:latin typeface="Meiryo UI" panose="020B0604030504040204" pitchFamily="50" charset="-128"/>
                          <a:ea typeface="Meiryo UI" panose="020B0604030504040204" pitchFamily="50" charset="-128"/>
                        </a:rPr>
                        <a:t>優先</a:t>
                      </a:r>
                    </a:p>
                  </a:txBody>
                  <a:tcPr anchor="ctr"/>
                </a:tc>
                <a:tc>
                  <a:txBody>
                    <a:bodyPr/>
                    <a:lstStyle/>
                    <a:p>
                      <a:r>
                        <a:rPr lang="ja-JP" altLang="en-US" sz="800">
                          <a:latin typeface="Meiryo UI" panose="020B0604030504040204" pitchFamily="50" charset="-128"/>
                          <a:ea typeface="Meiryo UI" panose="020B0604030504040204" pitchFamily="50" charset="-128"/>
                        </a:rPr>
                        <a:t>種別</a:t>
                      </a:r>
                    </a:p>
                  </a:txBody>
                  <a:tcPr anchor="ctr"/>
                </a:tc>
                <a:tc>
                  <a:txBody>
                    <a:bodyPr/>
                    <a:lstStyle/>
                    <a:p>
                      <a:r>
                        <a:rPr lang="ja-JP" altLang="en-US" sz="800">
                          <a:latin typeface="Meiryo UI" panose="020B0604030504040204" pitchFamily="50" charset="-128"/>
                          <a:ea typeface="Meiryo UI" panose="020B0604030504040204" pitchFamily="50" charset="-128"/>
                        </a:rPr>
                        <a:t>項目例</a:t>
                      </a:r>
                    </a:p>
                  </a:txBody>
                  <a:tcPr anchor="ctr"/>
                </a:tc>
                <a:extLst>
                  <a:ext uri="{0D108BD9-81ED-4DB2-BD59-A6C34878D82A}">
                    <a16:rowId xmlns:a16="http://schemas.microsoft.com/office/drawing/2014/main" val="1618048870"/>
                  </a:ext>
                </a:extLst>
              </a:tr>
              <a:tr h="119766">
                <a:tc>
                  <a:txBody>
                    <a:bodyPr/>
                    <a:lstStyle/>
                    <a:p>
                      <a:r>
                        <a:rPr lang="ja-JP" altLang="en-US" sz="800" dirty="0">
                          <a:latin typeface="Meiryo UI" panose="020B0604030504040204" pitchFamily="50" charset="-128"/>
                          <a:ea typeface="Meiryo UI" panose="020B0604030504040204" pitchFamily="50" charset="-128"/>
                        </a:rPr>
                        <a:t>①</a:t>
                      </a:r>
                    </a:p>
                  </a:txBody>
                  <a:tcPr anchor="ctr"/>
                </a:tc>
                <a:tc>
                  <a:txBody>
                    <a:bodyPr/>
                    <a:lstStyle/>
                    <a:p>
                      <a:r>
                        <a:rPr lang="ja-JP" altLang="en-US" sz="800" dirty="0">
                          <a:latin typeface="Meiryo UI" panose="020B0604030504040204" pitchFamily="50" charset="-128"/>
                          <a:ea typeface="Meiryo UI" panose="020B0604030504040204" pitchFamily="50" charset="-128"/>
                        </a:rPr>
                        <a:t>🔬 スペック詳細</a:t>
                      </a:r>
                    </a:p>
                  </a:txBody>
                  <a:tcPr anchor="ctr"/>
                </a:tc>
                <a:tc>
                  <a:txBody>
                    <a:bodyPr/>
                    <a:lstStyle/>
                    <a:p>
                      <a:r>
                        <a:rPr lang="ja-JP" altLang="en-US" sz="800" dirty="0">
                          <a:latin typeface="Meiryo UI" panose="020B0604030504040204" pitchFamily="50" charset="-128"/>
                          <a:ea typeface="Meiryo UI" panose="020B0604030504040204" pitchFamily="50" charset="-128"/>
                        </a:rPr>
                        <a:t>許容差、温度特性、ランク、サイズ、パッケージ、色など</a:t>
                      </a:r>
                    </a:p>
                  </a:txBody>
                  <a:tcPr anchor="ctr"/>
                </a:tc>
                <a:extLst>
                  <a:ext uri="{0D108BD9-81ED-4DB2-BD59-A6C34878D82A}">
                    <a16:rowId xmlns:a16="http://schemas.microsoft.com/office/drawing/2014/main" val="210162342"/>
                  </a:ext>
                </a:extLst>
              </a:tr>
              <a:tr h="0">
                <a:tc>
                  <a:txBody>
                    <a:bodyPr/>
                    <a:lstStyle/>
                    <a:p>
                      <a:r>
                        <a:rPr lang="ja-JP" altLang="en-US" sz="800">
                          <a:latin typeface="Meiryo UI" panose="020B0604030504040204" pitchFamily="50" charset="-128"/>
                          <a:ea typeface="Meiryo UI" panose="020B0604030504040204" pitchFamily="50" charset="-128"/>
                        </a:rPr>
                        <a:t>②</a:t>
                      </a:r>
                    </a:p>
                  </a:txBody>
                  <a:tcPr anchor="ctr"/>
                </a:tc>
                <a:tc>
                  <a:txBody>
                    <a:bodyPr/>
                    <a:lstStyle/>
                    <a:p>
                      <a:r>
                        <a:rPr lang="ja-JP" altLang="en-US" sz="800">
                          <a:latin typeface="Meiryo UI" panose="020B0604030504040204" pitchFamily="50" charset="-128"/>
                          <a:ea typeface="Meiryo UI" panose="020B0604030504040204" pitchFamily="50" charset="-128"/>
                        </a:rPr>
                        <a:t>📦 管理情報</a:t>
                      </a:r>
                    </a:p>
                  </a:txBody>
                  <a:tcPr anchor="ctr"/>
                </a:tc>
                <a:tc>
                  <a:txBody>
                    <a:bodyPr/>
                    <a:lstStyle/>
                    <a:p>
                      <a:r>
                        <a:rPr lang="ja-JP" altLang="en-US" sz="800">
                          <a:latin typeface="Meiryo UI" panose="020B0604030504040204" pitchFamily="50" charset="-128"/>
                          <a:ea typeface="Meiryo UI" panose="020B0604030504040204" pitchFamily="50" charset="-128"/>
                        </a:rPr>
                        <a:t>保管場所、在庫区分、ロット、リール番号など</a:t>
                      </a:r>
                    </a:p>
                  </a:txBody>
                  <a:tcPr anchor="ctr"/>
                </a:tc>
                <a:extLst>
                  <a:ext uri="{0D108BD9-81ED-4DB2-BD59-A6C34878D82A}">
                    <a16:rowId xmlns:a16="http://schemas.microsoft.com/office/drawing/2014/main" val="2381518501"/>
                  </a:ext>
                </a:extLst>
              </a:tr>
              <a:tr h="0">
                <a:tc>
                  <a:txBody>
                    <a:bodyPr/>
                    <a:lstStyle/>
                    <a:p>
                      <a:r>
                        <a:rPr lang="ja-JP" altLang="en-US" sz="800">
                          <a:latin typeface="Meiryo UI" panose="020B0604030504040204" pitchFamily="50" charset="-128"/>
                          <a:ea typeface="Meiryo UI" panose="020B0604030504040204" pitchFamily="50" charset="-128"/>
                        </a:rPr>
                        <a:t>③</a:t>
                      </a:r>
                    </a:p>
                  </a:txBody>
                  <a:tcPr anchor="ctr"/>
                </a:tc>
                <a:tc>
                  <a:txBody>
                    <a:bodyPr/>
                    <a:lstStyle/>
                    <a:p>
                      <a:r>
                        <a:rPr lang="ja-JP" altLang="en-US" sz="800">
                          <a:latin typeface="Meiryo UI" panose="020B0604030504040204" pitchFamily="50" charset="-128"/>
                          <a:ea typeface="Meiryo UI" panose="020B0604030504040204" pitchFamily="50" charset="-128"/>
                        </a:rPr>
                        <a:t>💰 商社リスト</a:t>
                      </a:r>
                    </a:p>
                  </a:txBody>
                  <a:tcPr anchor="ctr"/>
                </a:tc>
                <a:tc>
                  <a:txBody>
                    <a:bodyPr/>
                    <a:lstStyle/>
                    <a:p>
                      <a:r>
                        <a:rPr lang="ja-JP" altLang="en-US" sz="800">
                          <a:latin typeface="Meiryo UI" panose="020B0604030504040204" pitchFamily="50" charset="-128"/>
                          <a:ea typeface="Meiryo UI" panose="020B0604030504040204" pitchFamily="50" charset="-128"/>
                        </a:rPr>
                        <a:t>各社の価格・管理コード・販売リンク一覧</a:t>
                      </a:r>
                    </a:p>
                  </a:txBody>
                  <a:tcPr anchor="ctr"/>
                </a:tc>
                <a:extLst>
                  <a:ext uri="{0D108BD9-81ED-4DB2-BD59-A6C34878D82A}">
                    <a16:rowId xmlns:a16="http://schemas.microsoft.com/office/drawing/2014/main" val="3191985694"/>
                  </a:ext>
                </a:extLst>
              </a:tr>
              <a:tr h="0">
                <a:tc>
                  <a:txBody>
                    <a:bodyPr/>
                    <a:lstStyle/>
                    <a:p>
                      <a:r>
                        <a:rPr lang="ja-JP" altLang="en-US" sz="800">
                          <a:latin typeface="Meiryo UI" panose="020B0604030504040204" pitchFamily="50" charset="-128"/>
                          <a:ea typeface="Meiryo UI" panose="020B0604030504040204" pitchFamily="50" charset="-128"/>
                        </a:rPr>
                        <a:t>④</a:t>
                      </a:r>
                    </a:p>
                  </a:txBody>
                  <a:tcPr anchor="ctr"/>
                </a:tc>
                <a:tc>
                  <a:txBody>
                    <a:bodyPr/>
                    <a:lstStyle/>
                    <a:p>
                      <a:r>
                        <a:rPr lang="ja-JP" altLang="en-US" sz="800" dirty="0">
                          <a:latin typeface="Meiryo UI" panose="020B0604030504040204" pitchFamily="50" charset="-128"/>
                          <a:ea typeface="Meiryo UI" panose="020B0604030504040204" pitchFamily="50" charset="-128"/>
                        </a:rPr>
                        <a:t>📂 プロジェクト紐付</a:t>
                      </a:r>
                    </a:p>
                  </a:txBody>
                  <a:tcPr anchor="ctr"/>
                </a:tc>
                <a:tc>
                  <a:txBody>
                    <a:bodyPr/>
                    <a:lstStyle/>
                    <a:p>
                      <a:r>
                        <a:rPr lang="ja-JP" altLang="en-US" sz="800">
                          <a:latin typeface="Meiryo UI" panose="020B0604030504040204" pitchFamily="50" charset="-128"/>
                          <a:ea typeface="Meiryo UI" panose="020B0604030504040204" pitchFamily="50" charset="-128"/>
                        </a:rPr>
                        <a:t>利用プロジェクト一覧</a:t>
                      </a:r>
                    </a:p>
                  </a:txBody>
                  <a:tcPr anchor="ctr"/>
                </a:tc>
                <a:extLst>
                  <a:ext uri="{0D108BD9-81ED-4DB2-BD59-A6C34878D82A}">
                    <a16:rowId xmlns:a16="http://schemas.microsoft.com/office/drawing/2014/main" val="322626171"/>
                  </a:ext>
                </a:extLst>
              </a:tr>
              <a:tr h="0">
                <a:tc>
                  <a:txBody>
                    <a:bodyPr/>
                    <a:lstStyle/>
                    <a:p>
                      <a:r>
                        <a:rPr lang="ja-JP" altLang="en-US" sz="800">
                          <a:latin typeface="Meiryo UI" panose="020B0604030504040204" pitchFamily="50" charset="-128"/>
                          <a:ea typeface="Meiryo UI" panose="020B0604030504040204" pitchFamily="50" charset="-128"/>
                        </a:rPr>
                        <a:t>⑤</a:t>
                      </a:r>
                    </a:p>
                  </a:txBody>
                  <a:tcPr anchor="ctr"/>
                </a:tc>
                <a:tc>
                  <a:txBody>
                    <a:bodyPr/>
                    <a:lstStyle/>
                    <a:p>
                      <a:r>
                        <a:rPr lang="ja-JP" altLang="en-US" sz="800">
                          <a:latin typeface="Meiryo UI" panose="020B0604030504040204" pitchFamily="50" charset="-128"/>
                          <a:ea typeface="Meiryo UI" panose="020B0604030504040204" pitchFamily="50" charset="-128"/>
                        </a:rPr>
                        <a:t>🗓️ 登録履歴</a:t>
                      </a:r>
                    </a:p>
                  </a:txBody>
                  <a:tcPr anchor="ctr"/>
                </a:tc>
                <a:tc>
                  <a:txBody>
                    <a:bodyPr/>
                    <a:lstStyle/>
                    <a:p>
                      <a:r>
                        <a:rPr lang="zh-TW" altLang="en-US" sz="800" dirty="0">
                          <a:latin typeface="Meiryo UI" panose="020B0604030504040204" pitchFamily="50" charset="-128"/>
                          <a:ea typeface="Meiryo UI" panose="020B0604030504040204" pitchFamily="50" charset="-128"/>
                        </a:rPr>
                        <a:t>入庫日 </a:t>
                      </a:r>
                      <a:r>
                        <a:rPr lang="en-US" altLang="zh-TW" sz="800" dirty="0">
                          <a:latin typeface="Meiryo UI" panose="020B0604030504040204" pitchFamily="50" charset="-128"/>
                          <a:ea typeface="Meiryo UI" panose="020B0604030504040204" pitchFamily="50" charset="-128"/>
                        </a:rPr>
                        <a:t>/ </a:t>
                      </a:r>
                      <a:r>
                        <a:rPr lang="zh-TW" altLang="en-US" sz="800" dirty="0">
                          <a:latin typeface="Meiryo UI" panose="020B0604030504040204" pitchFamily="50" charset="-128"/>
                          <a:ea typeface="Meiryo UI" panose="020B0604030504040204" pitchFamily="50" charset="-128"/>
                        </a:rPr>
                        <a:t>出庫日</a:t>
                      </a:r>
                    </a:p>
                  </a:txBody>
                  <a:tcPr anchor="ctr"/>
                </a:tc>
                <a:extLst>
                  <a:ext uri="{0D108BD9-81ED-4DB2-BD59-A6C34878D82A}">
                    <a16:rowId xmlns:a16="http://schemas.microsoft.com/office/drawing/2014/main" val="1357340831"/>
                  </a:ext>
                </a:extLst>
              </a:tr>
            </a:tbl>
          </a:graphicData>
        </a:graphic>
      </p:graphicFrame>
      <p:sp>
        <p:nvSpPr>
          <p:cNvPr id="6" name="Rectangle 1">
            <a:extLst>
              <a:ext uri="{FF2B5EF4-FFF2-40B4-BE49-F238E27FC236}">
                <a16:creationId xmlns:a16="http://schemas.microsoft.com/office/drawing/2014/main" id="{9C113722-FDAA-7D31-8A6D-927D10676250}"/>
              </a:ext>
            </a:extLst>
          </p:cNvPr>
          <p:cNvSpPr>
            <a:spLocks noChangeArrowheads="1"/>
          </p:cNvSpPr>
          <p:nvPr/>
        </p:nvSpPr>
        <p:spPr bwMode="auto">
          <a:xfrm>
            <a:off x="1021223" y="1575272"/>
            <a:ext cx="275748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1" i="0" u="none" strike="noStrike" cap="none" normalizeH="0" baseline="0" dirty="0">
                <a:ln>
                  <a:noFill/>
                </a:ln>
                <a:solidFill>
                  <a:schemeClr val="tx1"/>
                </a:solidFill>
                <a:effectLst/>
                <a:latin typeface="Arial" panose="020B0604020202020204" pitchFamily="34" charset="0"/>
              </a:rPr>
              <a:t>🔷 Aランク：設計</a:t>
            </a:r>
            <a:r>
              <a:rPr kumimoji="0" lang="ja-JP"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初期</a:t>
            </a:r>
            <a:r>
              <a:rPr kumimoji="0" lang="ja-JP" altLang="ja-JP" sz="900" b="1" i="0" u="none" strike="noStrike" cap="none" normalizeH="0" baseline="0" dirty="0">
                <a:ln>
                  <a:noFill/>
                </a:ln>
                <a:solidFill>
                  <a:schemeClr val="tx1"/>
                </a:solidFill>
                <a:effectLst/>
                <a:latin typeface="Arial" panose="020B0604020202020204" pitchFamily="34" charset="0"/>
              </a:rPr>
              <a:t>に“順に確認していく”情報</a:t>
            </a:r>
          </a:p>
        </p:txBody>
      </p:sp>
      <p:sp>
        <p:nvSpPr>
          <p:cNvPr id="8" name="Rectangle 3">
            <a:extLst>
              <a:ext uri="{FF2B5EF4-FFF2-40B4-BE49-F238E27FC236}">
                <a16:creationId xmlns:a16="http://schemas.microsoft.com/office/drawing/2014/main" id="{941E3701-2347-CAF3-F9E5-0BD6B1C07CB9}"/>
              </a:ext>
            </a:extLst>
          </p:cNvPr>
          <p:cNvSpPr>
            <a:spLocks noChangeArrowheads="1"/>
          </p:cNvSpPr>
          <p:nvPr/>
        </p:nvSpPr>
        <p:spPr bwMode="auto">
          <a:xfrm>
            <a:off x="7627900" y="1656581"/>
            <a:ext cx="251863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Bランク：詳細検討・社内管理用の補助情報</a:t>
            </a:r>
          </a:p>
        </p:txBody>
      </p:sp>
      <p:sp>
        <p:nvSpPr>
          <p:cNvPr id="9" name="Rectangle 3">
            <a:extLst>
              <a:ext uri="{FF2B5EF4-FFF2-40B4-BE49-F238E27FC236}">
                <a16:creationId xmlns:a16="http://schemas.microsoft.com/office/drawing/2014/main" id="{07DE5B42-EF88-2AE3-3B9A-86F3E77CDEE6}"/>
              </a:ext>
            </a:extLst>
          </p:cNvPr>
          <p:cNvSpPr>
            <a:spLocks noChangeArrowheads="1"/>
          </p:cNvSpPr>
          <p:nvPr/>
        </p:nvSpPr>
        <p:spPr bwMode="auto">
          <a:xfrm>
            <a:off x="944118" y="3829972"/>
            <a:ext cx="145584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0" lang="en-US"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a:t>
            </a:r>
            <a:r>
              <a:rPr kumimoji="0" lang="ja-JP"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ランク：</a:t>
            </a:r>
            <a:r>
              <a:rPr kumimoji="0" lang="ja-JP" altLang="en-US"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カスタム情報</a:t>
            </a:r>
            <a:endParaRPr kumimoji="0" lang="ja-JP" altLang="ja-JP" sz="9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p:txBody>
      </p:sp>
      <p:graphicFrame>
        <p:nvGraphicFramePr>
          <p:cNvPr id="10" name="表 9">
            <a:extLst>
              <a:ext uri="{FF2B5EF4-FFF2-40B4-BE49-F238E27FC236}">
                <a16:creationId xmlns:a16="http://schemas.microsoft.com/office/drawing/2014/main" id="{2DA000F5-638C-A4D9-A8F8-259E07552A70}"/>
              </a:ext>
            </a:extLst>
          </p:cNvPr>
          <p:cNvGraphicFramePr>
            <a:graphicFrameLocks noGrp="1"/>
          </p:cNvGraphicFramePr>
          <p:nvPr>
            <p:extLst>
              <p:ext uri="{D42A27DB-BD31-4B8C-83A1-F6EECF244321}">
                <p14:modId xmlns:p14="http://schemas.microsoft.com/office/powerpoint/2010/main" val="1558645224"/>
              </p:ext>
            </p:extLst>
          </p:nvPr>
        </p:nvGraphicFramePr>
        <p:xfrm>
          <a:off x="1098868" y="4046358"/>
          <a:ext cx="3366453" cy="426720"/>
        </p:xfrm>
        <a:graphic>
          <a:graphicData uri="http://schemas.openxmlformats.org/drawingml/2006/table">
            <a:tbl>
              <a:tblPr/>
              <a:tblGrid>
                <a:gridCol w="1057593">
                  <a:extLst>
                    <a:ext uri="{9D8B030D-6E8A-4147-A177-3AD203B41FA5}">
                      <a16:colId xmlns:a16="http://schemas.microsoft.com/office/drawing/2014/main" val="556992941"/>
                    </a:ext>
                  </a:extLst>
                </a:gridCol>
                <a:gridCol w="2308860">
                  <a:extLst>
                    <a:ext uri="{9D8B030D-6E8A-4147-A177-3AD203B41FA5}">
                      <a16:colId xmlns:a16="http://schemas.microsoft.com/office/drawing/2014/main" val="3963207963"/>
                    </a:ext>
                  </a:extLst>
                </a:gridCol>
              </a:tblGrid>
              <a:tr h="0">
                <a:tc>
                  <a:txBody>
                    <a:bodyPr/>
                    <a:lstStyle/>
                    <a:p>
                      <a:r>
                        <a:rPr lang="ja-JP" altLang="en-US" sz="800" dirty="0">
                          <a:latin typeface="Meiryo UI" panose="020B0604030504040204" pitchFamily="50" charset="-128"/>
                          <a:ea typeface="Meiryo UI" panose="020B0604030504040204" pitchFamily="50" charset="-128"/>
                        </a:rPr>
                        <a:t>種別</a:t>
                      </a:r>
                    </a:p>
                  </a:txBody>
                  <a:tcPr anchor="ctr">
                    <a:lnL>
                      <a:noFill/>
                    </a:lnL>
                    <a:lnR>
                      <a:noFill/>
                    </a:lnR>
                    <a:lnT>
                      <a:noFill/>
                    </a:lnT>
                    <a:lnB>
                      <a:noFill/>
                    </a:lnB>
                    <a:noFill/>
                  </a:tcPr>
                </a:tc>
                <a:tc>
                  <a:txBody>
                    <a:bodyPr/>
                    <a:lstStyle/>
                    <a:p>
                      <a:r>
                        <a:rPr lang="ja-JP" altLang="en-US" sz="800">
                          <a:latin typeface="Meiryo UI" panose="020B0604030504040204" pitchFamily="50" charset="-128"/>
                          <a:ea typeface="Meiryo UI" panose="020B0604030504040204" pitchFamily="50" charset="-128"/>
                        </a:rPr>
                        <a:t>項目例</a:t>
                      </a:r>
                    </a:p>
                  </a:txBody>
                  <a:tcPr anchor="ctr">
                    <a:lnL>
                      <a:noFill/>
                    </a:lnL>
                    <a:lnR>
                      <a:noFill/>
                    </a:lnR>
                    <a:lnT>
                      <a:noFill/>
                    </a:lnT>
                    <a:lnB>
                      <a:noFill/>
                    </a:lnB>
                    <a:noFill/>
                  </a:tcPr>
                </a:tc>
                <a:extLst>
                  <a:ext uri="{0D108BD9-81ED-4DB2-BD59-A6C34878D82A}">
                    <a16:rowId xmlns:a16="http://schemas.microsoft.com/office/drawing/2014/main" val="1618048870"/>
                  </a:ext>
                </a:extLst>
              </a:tr>
              <a:tr h="0">
                <a:tc>
                  <a:txBody>
                    <a:bodyPr/>
                    <a:lstStyle/>
                    <a:p>
                      <a:r>
                        <a:rPr lang="ja-JP" altLang="en-US" sz="800" dirty="0">
                          <a:latin typeface="Meiryo UI" panose="020B0604030504040204" pitchFamily="50" charset="-128"/>
                          <a:ea typeface="Meiryo UI" panose="020B0604030504040204" pitchFamily="50" charset="-128"/>
                        </a:rPr>
                        <a:t>🧩 カスタムフィールド</a:t>
                      </a:r>
                    </a:p>
                  </a:txBody>
                  <a:tcPr anchor="ctr">
                    <a:lnL>
                      <a:noFill/>
                    </a:lnL>
                    <a:lnR>
                      <a:noFill/>
                    </a:lnR>
                    <a:lnT>
                      <a:noFill/>
                    </a:lnT>
                    <a:lnB>
                      <a:noFill/>
                    </a:lnB>
                    <a:noFill/>
                  </a:tcPr>
                </a:tc>
                <a:tc>
                  <a:txBody>
                    <a:bodyPr/>
                    <a:lstStyle/>
                    <a:p>
                      <a:r>
                        <a:rPr lang="ja-JP" altLang="en-US" sz="800" dirty="0">
                          <a:latin typeface="Meiryo UI" panose="020B0604030504040204" pitchFamily="50" charset="-128"/>
                          <a:ea typeface="Meiryo UI" panose="020B0604030504040204" pitchFamily="50" charset="-128"/>
                        </a:rPr>
                        <a:t>社内メモ、備考、注意事項など</a:t>
                      </a:r>
                    </a:p>
                  </a:txBody>
                  <a:tcPr anchor="ctr">
                    <a:lnL>
                      <a:noFill/>
                    </a:lnL>
                    <a:lnR>
                      <a:noFill/>
                    </a:lnR>
                    <a:lnT>
                      <a:noFill/>
                    </a:lnT>
                    <a:lnB>
                      <a:noFill/>
                    </a:lnB>
                    <a:noFill/>
                  </a:tcPr>
                </a:tc>
                <a:extLst>
                  <a:ext uri="{0D108BD9-81ED-4DB2-BD59-A6C34878D82A}">
                    <a16:rowId xmlns:a16="http://schemas.microsoft.com/office/drawing/2014/main" val="893275724"/>
                  </a:ext>
                </a:extLst>
              </a:tr>
            </a:tbl>
          </a:graphicData>
        </a:graphic>
      </p:graphicFrame>
      <p:sp>
        <p:nvSpPr>
          <p:cNvPr id="12" name="テキスト ボックス 11">
            <a:extLst>
              <a:ext uri="{FF2B5EF4-FFF2-40B4-BE49-F238E27FC236}">
                <a16:creationId xmlns:a16="http://schemas.microsoft.com/office/drawing/2014/main" id="{488DF219-25E3-9041-D4C8-5A93B474A30B}"/>
              </a:ext>
            </a:extLst>
          </p:cNvPr>
          <p:cNvSpPr txBox="1"/>
          <p:nvPr/>
        </p:nvSpPr>
        <p:spPr>
          <a:xfrm>
            <a:off x="7886843" y="3237502"/>
            <a:ext cx="3649980" cy="707886"/>
          </a:xfrm>
          <a:prstGeom prst="rect">
            <a:avLst/>
          </a:prstGeom>
          <a:noFill/>
        </p:spPr>
        <p:txBody>
          <a:bodyPr wrap="square">
            <a:spAutoFit/>
          </a:bodyPr>
          <a:lstStyle/>
          <a:p>
            <a:r>
              <a:rPr lang="ja-JP" altLang="en-US" sz="800" dirty="0">
                <a:latin typeface="Meiryo UI" panose="020B0604030504040204" pitchFamily="50" charset="-128"/>
                <a:ea typeface="Meiryo UI" panose="020B0604030504040204" pitchFamily="50" charset="-128"/>
              </a:rPr>
              <a:t>スペック詳細</a:t>
            </a:r>
            <a:br>
              <a:rPr lang="en-US" altLang="ja-JP" sz="800" dirty="0">
                <a:latin typeface="Meiryo UI" panose="020B0604030504040204" pitchFamily="50" charset="-128"/>
                <a:ea typeface="Meiryo UI" panose="020B0604030504040204" pitchFamily="50" charset="-128"/>
              </a:rPr>
            </a:br>
            <a:r>
              <a:rPr lang="ja-JP" altLang="en-US" sz="800" dirty="0">
                <a:latin typeface="Meiryo UI" panose="020B0604030504040204" pitchFamily="50" charset="-128"/>
                <a:ea typeface="Meiryo UI" panose="020B0604030504040204" pitchFamily="50" charset="-128"/>
              </a:rPr>
              <a:t>値ない項目</a:t>
            </a:r>
            <a:r>
              <a:rPr lang="en-US" altLang="ja-JP" sz="800" dirty="0">
                <a:latin typeface="Meiryo UI" panose="020B0604030504040204" pitchFamily="50" charset="-128"/>
                <a:ea typeface="Meiryo UI" panose="020B0604030504040204" pitchFamily="50" charset="-128"/>
              </a:rPr>
              <a:t>(null)</a:t>
            </a:r>
            <a:r>
              <a:rPr lang="ja-JP" altLang="en-US" sz="800" dirty="0">
                <a:latin typeface="Meiryo UI" panose="020B0604030504040204" pitchFamily="50" charset="-128"/>
                <a:ea typeface="Meiryo UI" panose="020B0604030504040204" pitchFamily="50" charset="-128"/>
              </a:rPr>
              <a:t>は非表示</a:t>
            </a:r>
            <a:br>
              <a:rPr lang="en-US" altLang="ja-JP" sz="800" dirty="0">
                <a:latin typeface="Meiryo UI" panose="020B0604030504040204" pitchFamily="50" charset="-128"/>
                <a:ea typeface="Meiryo UI" panose="020B0604030504040204" pitchFamily="50" charset="-128"/>
              </a:rPr>
            </a:br>
            <a:br>
              <a:rPr lang="en-US" altLang="ja-JP" sz="800" dirty="0">
                <a:latin typeface="Meiryo UI" panose="020B0604030504040204" pitchFamily="50" charset="-128"/>
                <a:ea typeface="Meiryo UI" panose="020B0604030504040204" pitchFamily="50" charset="-128"/>
              </a:rPr>
            </a:br>
            <a:r>
              <a:rPr lang="ja-JP" altLang="en-US" sz="800" dirty="0">
                <a:latin typeface="Meiryo UI" panose="020B0604030504040204" pitchFamily="50" charset="-128"/>
                <a:ea typeface="Meiryo UI" panose="020B0604030504040204" pitchFamily="50" charset="-128"/>
              </a:rPr>
              <a:t>カード形式項目</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プロジェクト紐付</a:t>
            </a:r>
            <a:endParaRPr lang="en-US" altLang="ja-JP" sz="800" dirty="0">
              <a:latin typeface="Meiryo UI" panose="020B0604030504040204" pitchFamily="50" charset="-128"/>
              <a:ea typeface="Meiryo UI" panose="020B0604030504040204" pitchFamily="50" charset="-128"/>
            </a:endParaRPr>
          </a:p>
        </p:txBody>
      </p:sp>
      <p:graphicFrame>
        <p:nvGraphicFramePr>
          <p:cNvPr id="13" name="表 12">
            <a:extLst>
              <a:ext uri="{FF2B5EF4-FFF2-40B4-BE49-F238E27FC236}">
                <a16:creationId xmlns:a16="http://schemas.microsoft.com/office/drawing/2014/main" id="{A4A6A63E-FB0D-BDC3-FC30-8FB9E3D45730}"/>
              </a:ext>
            </a:extLst>
          </p:cNvPr>
          <p:cNvGraphicFramePr>
            <a:graphicFrameLocks noGrp="1"/>
          </p:cNvGraphicFramePr>
          <p:nvPr>
            <p:extLst>
              <p:ext uri="{D42A27DB-BD31-4B8C-83A1-F6EECF244321}">
                <p14:modId xmlns:p14="http://schemas.microsoft.com/office/powerpoint/2010/main" val="406848432"/>
              </p:ext>
            </p:extLst>
          </p:nvPr>
        </p:nvGraphicFramePr>
        <p:xfrm>
          <a:off x="7222396" y="4279690"/>
          <a:ext cx="4969604" cy="1066800"/>
        </p:xfrm>
        <a:graphic>
          <a:graphicData uri="http://schemas.openxmlformats.org/drawingml/2006/table">
            <a:tbl>
              <a:tblPr firstRow="1" bandRow="1">
                <a:tableStyleId>{5202B0CA-FC54-4496-8BCA-5EF66A818D29}</a:tableStyleId>
              </a:tblPr>
              <a:tblGrid>
                <a:gridCol w="859155">
                  <a:extLst>
                    <a:ext uri="{9D8B030D-6E8A-4147-A177-3AD203B41FA5}">
                      <a16:colId xmlns:a16="http://schemas.microsoft.com/office/drawing/2014/main" val="1791642737"/>
                    </a:ext>
                  </a:extLst>
                </a:gridCol>
                <a:gridCol w="4110449">
                  <a:extLst>
                    <a:ext uri="{9D8B030D-6E8A-4147-A177-3AD203B41FA5}">
                      <a16:colId xmlns:a16="http://schemas.microsoft.com/office/drawing/2014/main" val="4136512040"/>
                    </a:ext>
                  </a:extLst>
                </a:gridCol>
              </a:tblGrid>
              <a:tr h="0">
                <a:tc>
                  <a:txBody>
                    <a:bodyPr/>
                    <a:lstStyle/>
                    <a:p>
                      <a:r>
                        <a:rPr lang="ja-JP" altLang="en-US" sz="800">
                          <a:latin typeface="Meiryo UI" panose="020B0604030504040204" pitchFamily="50" charset="-128"/>
                          <a:ea typeface="Meiryo UI" panose="020B0604030504040204" pitchFamily="50" charset="-128"/>
                        </a:rPr>
                        <a:t>表示状態</a:t>
                      </a:r>
                    </a:p>
                  </a:txBody>
                  <a:tcPr anchor="ctr"/>
                </a:tc>
                <a:tc>
                  <a:txBody>
                    <a:bodyPr/>
                    <a:lstStyle/>
                    <a:p>
                      <a:r>
                        <a:rPr lang="ja-JP" altLang="en-US" sz="800">
                          <a:latin typeface="Meiryo UI" panose="020B0604030504040204" pitchFamily="50" charset="-128"/>
                          <a:ea typeface="Meiryo UI" panose="020B0604030504040204" pitchFamily="50" charset="-128"/>
                        </a:rPr>
                        <a:t>内容</a:t>
                      </a:r>
                    </a:p>
                  </a:txBody>
                  <a:tcPr anchor="ctr"/>
                </a:tc>
                <a:extLst>
                  <a:ext uri="{0D108BD9-81ED-4DB2-BD59-A6C34878D82A}">
                    <a16:rowId xmlns:a16="http://schemas.microsoft.com/office/drawing/2014/main" val="3845076803"/>
                  </a:ext>
                </a:extLst>
              </a:tr>
              <a:tr h="0">
                <a:tc>
                  <a:txBody>
                    <a:bodyPr/>
                    <a:lstStyle/>
                    <a:p>
                      <a:r>
                        <a:rPr lang="ja-JP" altLang="en-US" sz="800" dirty="0">
                          <a:latin typeface="Meiryo UI" panose="020B0604030504040204" pitchFamily="50" charset="-128"/>
                          <a:ea typeface="Meiryo UI" panose="020B0604030504040204" pitchFamily="50" charset="-128"/>
                        </a:rPr>
                        <a:t>🔼 畳んだ状態</a:t>
                      </a:r>
                    </a:p>
                  </a:txBody>
                  <a:tcPr anchor="ctr"/>
                </a:tc>
                <a:tc>
                  <a:txBody>
                    <a:bodyPr/>
                    <a:lstStyle/>
                    <a:p>
                      <a:r>
                        <a:rPr lang="ja-JP" altLang="en-US" sz="800" dirty="0">
                          <a:latin typeface="Meiryo UI" panose="020B0604030504040204" pitchFamily="50" charset="-128"/>
                          <a:ea typeface="Meiryo UI" panose="020B0604030504040204" pitchFamily="50" charset="-128"/>
                        </a:rPr>
                        <a:t>商社名・価格（最安順）、販売ページへのリンク（外部アイコン）</a:t>
                      </a:r>
                    </a:p>
                  </a:txBody>
                  <a:tcPr anchor="ctr"/>
                </a:tc>
                <a:extLst>
                  <a:ext uri="{0D108BD9-81ED-4DB2-BD59-A6C34878D82A}">
                    <a16:rowId xmlns:a16="http://schemas.microsoft.com/office/drawing/2014/main" val="1328739577"/>
                  </a:ext>
                </a:extLst>
              </a:tr>
              <a:tr h="0">
                <a:tc>
                  <a:txBody>
                    <a:bodyPr/>
                    <a:lstStyle/>
                    <a:p>
                      <a:r>
                        <a:rPr lang="ja-JP" altLang="en-US" sz="800">
                          <a:latin typeface="Meiryo UI" panose="020B0604030504040204" pitchFamily="50" charset="-128"/>
                          <a:ea typeface="Meiryo UI" panose="020B0604030504040204" pitchFamily="50" charset="-128"/>
                        </a:rPr>
                        <a:t>🔽 開いた状態</a:t>
                      </a:r>
                    </a:p>
                  </a:txBody>
                  <a:tcPr anchor="ctr"/>
                </a:tc>
                <a:tc>
                  <a:txBody>
                    <a:bodyPr/>
                    <a:lstStyle/>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商社コード、販売数量割引条件（例：</a:t>
                      </a:r>
                      <a:r>
                        <a:rPr lang="en-US" altLang="ja-JP" sz="800" dirty="0">
                          <a:latin typeface="Meiryo UI" panose="020B0604030504040204" pitchFamily="50" charset="-128"/>
                          <a:ea typeface="Meiryo UI" panose="020B0604030504040204" pitchFamily="50" charset="-128"/>
                        </a:rPr>
                        <a:t>10</a:t>
                      </a:r>
                      <a:r>
                        <a:rPr lang="ja-JP" altLang="en-US" sz="800" dirty="0">
                          <a:latin typeface="Meiryo UI" panose="020B0604030504040204" pitchFamily="50" charset="-128"/>
                          <a:ea typeface="Meiryo UI" panose="020B0604030504040204" pitchFamily="50" charset="-128"/>
                        </a:rPr>
                        <a:t>個</a:t>
                      </a:r>
                      <a:r>
                        <a:rPr lang="en-US" altLang="ja-JP" sz="800" dirty="0">
                          <a:latin typeface="Meiryo UI" panose="020B0604030504040204" pitchFamily="50" charset="-128"/>
                          <a:ea typeface="Meiryo UI" panose="020B0604030504040204" pitchFamily="50" charset="-128"/>
                        </a:rPr>
                        <a:t>〜115</a:t>
                      </a:r>
                      <a:r>
                        <a:rPr lang="ja-JP" altLang="en-US" sz="800" dirty="0">
                          <a:latin typeface="Meiryo UI" panose="020B0604030504040204" pitchFamily="50" charset="-128"/>
                          <a:ea typeface="Meiryo UI" panose="020B0604030504040204" pitchFamily="50" charset="-128"/>
                        </a:rPr>
                        <a:t>円）、情報更新日などを追加表示</a:t>
                      </a:r>
                    </a:p>
                  </a:txBody>
                  <a:tcPr anchor="ctr"/>
                </a:tc>
                <a:extLst>
                  <a:ext uri="{0D108BD9-81ED-4DB2-BD59-A6C34878D82A}">
                    <a16:rowId xmlns:a16="http://schemas.microsoft.com/office/drawing/2014/main" val="4194267415"/>
                  </a:ext>
                </a:extLst>
              </a:tr>
              <a:tr h="0">
                <a:tc>
                  <a:txBody>
                    <a:bodyPr/>
                    <a:lstStyle/>
                    <a:p>
                      <a:r>
                        <a:rPr lang="ja-JP" altLang="en-US" sz="800" dirty="0">
                          <a:latin typeface="Meiryo UI" panose="020B0604030504040204" pitchFamily="50" charset="-128"/>
                          <a:ea typeface="Meiryo UI" panose="020B0604030504040204" pitchFamily="50" charset="-128"/>
                        </a:rPr>
                        <a:t>並び順</a:t>
                      </a:r>
                    </a:p>
                  </a:txBody>
                  <a:tcPr anchor="ctr"/>
                </a:tc>
                <a:tc>
                  <a:txBody>
                    <a:bodyPr/>
                    <a:lstStyle/>
                    <a:p>
                      <a:r>
                        <a:rPr lang="zh-TW" altLang="en-US" sz="800" dirty="0">
                          <a:latin typeface="Meiryo UI" panose="020B0604030504040204" pitchFamily="50" charset="-128"/>
                          <a:ea typeface="Meiryo UI" panose="020B0604030504040204" pitchFamily="50" charset="-128"/>
                        </a:rPr>
                        <a:t>最安値順（価格昇順）</a:t>
                      </a:r>
                    </a:p>
                  </a:txBody>
                  <a:tcPr anchor="ctr"/>
                </a:tc>
                <a:extLst>
                  <a:ext uri="{0D108BD9-81ED-4DB2-BD59-A6C34878D82A}">
                    <a16:rowId xmlns:a16="http://schemas.microsoft.com/office/drawing/2014/main" val="506080006"/>
                  </a:ext>
                </a:extLst>
              </a:tr>
              <a:tr h="0">
                <a:tc>
                  <a:txBody>
                    <a:bodyPr/>
                    <a:lstStyle/>
                    <a:p>
                      <a:r>
                        <a:rPr lang="ja-JP" altLang="en-US" sz="800">
                          <a:latin typeface="Meiryo UI" panose="020B0604030504040204" pitchFamily="50" charset="-128"/>
                          <a:ea typeface="Meiryo UI" panose="020B0604030504040204" pitchFamily="50" charset="-128"/>
                        </a:rPr>
                        <a:t>補足</a:t>
                      </a:r>
                    </a:p>
                  </a:txBody>
                  <a:tcPr anchor="ctr"/>
                </a:tc>
                <a:tc>
                  <a:txBody>
                    <a:bodyPr/>
                    <a:lstStyle/>
                    <a:p>
                      <a:r>
                        <a:rPr lang="ja-JP" altLang="en-US" sz="800" dirty="0">
                          <a:latin typeface="Meiryo UI" panose="020B0604030504040204" pitchFamily="50" charset="-128"/>
                          <a:ea typeface="Meiryo UI" panose="020B0604030504040204" pitchFamily="50" charset="-128"/>
                        </a:rPr>
                        <a:t>件数に応じて行数伸縮。カードでなくテーブルで</a:t>
                      </a:r>
                      <a:r>
                        <a:rPr lang="en-US" altLang="ja-JP" sz="800" dirty="0">
                          <a:latin typeface="Meiryo UI" panose="020B0604030504040204" pitchFamily="50" charset="-128"/>
                          <a:ea typeface="Meiryo UI" panose="020B0604030504040204" pitchFamily="50" charset="-128"/>
                        </a:rPr>
                        <a:t>OK</a:t>
                      </a:r>
                      <a:r>
                        <a:rPr lang="ja-JP" altLang="en-US" sz="800" dirty="0">
                          <a:latin typeface="Meiryo UI" panose="020B0604030504040204" pitchFamily="50" charset="-128"/>
                          <a:ea typeface="Meiryo UI" panose="020B0604030504040204" pitchFamily="50" charset="-128"/>
                        </a:rPr>
                        <a:t>（視線移動を横にまとめる）</a:t>
                      </a:r>
                    </a:p>
                  </a:txBody>
                  <a:tcPr anchor="ctr"/>
                </a:tc>
                <a:extLst>
                  <a:ext uri="{0D108BD9-81ED-4DB2-BD59-A6C34878D82A}">
                    <a16:rowId xmlns:a16="http://schemas.microsoft.com/office/drawing/2014/main" val="178982390"/>
                  </a:ext>
                </a:extLst>
              </a:tr>
            </a:tbl>
          </a:graphicData>
        </a:graphic>
      </p:graphicFrame>
      <p:sp>
        <p:nvSpPr>
          <p:cNvPr id="14" name="テキスト ボックス 13">
            <a:extLst>
              <a:ext uri="{FF2B5EF4-FFF2-40B4-BE49-F238E27FC236}">
                <a16:creationId xmlns:a16="http://schemas.microsoft.com/office/drawing/2014/main" id="{1D908C24-E55D-3CC8-FEE7-40A81E5A3B01}"/>
              </a:ext>
            </a:extLst>
          </p:cNvPr>
          <p:cNvSpPr txBox="1"/>
          <p:nvPr/>
        </p:nvSpPr>
        <p:spPr>
          <a:xfrm>
            <a:off x="7222396" y="4044274"/>
            <a:ext cx="921877" cy="215444"/>
          </a:xfrm>
          <a:prstGeom prst="rect">
            <a:avLst/>
          </a:prstGeom>
          <a:noFill/>
        </p:spPr>
        <p:txBody>
          <a:bodyPr wrap="square">
            <a:spAutoFit/>
          </a:bodyPr>
          <a:lstStyle/>
          <a:p>
            <a:r>
              <a:rPr lang="ja-JP" altLang="en-US" sz="800" dirty="0">
                <a:latin typeface="Meiryo UI" panose="020B0604030504040204" pitchFamily="50" charset="-128"/>
                <a:ea typeface="Meiryo UI" panose="020B0604030504040204" pitchFamily="50" charset="-128"/>
              </a:rPr>
              <a:t>商社リスト</a:t>
            </a:r>
            <a:endParaRPr lang="en-US" altLang="ja-JP" sz="800" dirty="0">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2F092B03-5D65-CE61-6E6E-E190062DD6C2}"/>
              </a:ext>
            </a:extLst>
          </p:cNvPr>
          <p:cNvGraphicFramePr>
            <a:graphicFrameLocks noGrp="1"/>
          </p:cNvGraphicFramePr>
          <p:nvPr>
            <p:extLst>
              <p:ext uri="{D42A27DB-BD31-4B8C-83A1-F6EECF244321}">
                <p14:modId xmlns:p14="http://schemas.microsoft.com/office/powerpoint/2010/main" val="2952991805"/>
              </p:ext>
            </p:extLst>
          </p:nvPr>
        </p:nvGraphicFramePr>
        <p:xfrm>
          <a:off x="7222396" y="5711847"/>
          <a:ext cx="5698237" cy="1493520"/>
        </p:xfrm>
        <a:graphic>
          <a:graphicData uri="http://schemas.openxmlformats.org/drawingml/2006/table">
            <a:tbl>
              <a:tblPr firstRow="1" bandRow="1">
                <a:tableStyleId>{5202B0CA-FC54-4496-8BCA-5EF66A818D29}</a:tableStyleId>
              </a:tblPr>
              <a:tblGrid>
                <a:gridCol w="1144905">
                  <a:extLst>
                    <a:ext uri="{9D8B030D-6E8A-4147-A177-3AD203B41FA5}">
                      <a16:colId xmlns:a16="http://schemas.microsoft.com/office/drawing/2014/main" val="236145840"/>
                    </a:ext>
                  </a:extLst>
                </a:gridCol>
                <a:gridCol w="776605">
                  <a:extLst>
                    <a:ext uri="{9D8B030D-6E8A-4147-A177-3AD203B41FA5}">
                      <a16:colId xmlns:a16="http://schemas.microsoft.com/office/drawing/2014/main" val="985090521"/>
                    </a:ext>
                  </a:extLst>
                </a:gridCol>
                <a:gridCol w="1313180">
                  <a:extLst>
                    <a:ext uri="{9D8B030D-6E8A-4147-A177-3AD203B41FA5}">
                      <a16:colId xmlns:a16="http://schemas.microsoft.com/office/drawing/2014/main" val="2022027769"/>
                    </a:ext>
                  </a:extLst>
                </a:gridCol>
                <a:gridCol w="2463547">
                  <a:extLst>
                    <a:ext uri="{9D8B030D-6E8A-4147-A177-3AD203B41FA5}">
                      <a16:colId xmlns:a16="http://schemas.microsoft.com/office/drawing/2014/main" val="2014604890"/>
                    </a:ext>
                  </a:extLst>
                </a:gridCol>
              </a:tblGrid>
              <a:tr h="0">
                <a:tc>
                  <a:txBody>
                    <a:bodyPr/>
                    <a:lstStyle/>
                    <a:p>
                      <a:r>
                        <a:rPr lang="ja-JP" altLang="en-US" sz="800">
                          <a:latin typeface="Meiryo UI" panose="020B0604030504040204" pitchFamily="50" charset="-128"/>
                          <a:ea typeface="Meiryo UI" panose="020B0604030504040204" pitchFamily="50" charset="-128"/>
                        </a:rPr>
                        <a:t>項目カテゴリ</a:t>
                      </a:r>
                    </a:p>
                  </a:txBody>
                  <a:tcPr anchor="ctr"/>
                </a:tc>
                <a:tc>
                  <a:txBody>
                    <a:bodyPr/>
                    <a:lstStyle/>
                    <a:p>
                      <a:r>
                        <a:rPr lang="ja-JP" altLang="en-US" sz="800">
                          <a:latin typeface="Meiryo UI" panose="020B0604030504040204" pitchFamily="50" charset="-128"/>
                          <a:ea typeface="Meiryo UI" panose="020B0604030504040204" pitchFamily="50" charset="-128"/>
                        </a:rPr>
                        <a:t>表示形式</a:t>
                      </a:r>
                    </a:p>
                  </a:txBody>
                  <a:tcPr anchor="ctr"/>
                </a:tc>
                <a:tc>
                  <a:txBody>
                    <a:bodyPr/>
                    <a:lstStyle/>
                    <a:p>
                      <a:r>
                        <a:rPr lang="ja-JP" altLang="en-US" sz="800" dirty="0">
                          <a:latin typeface="Meiryo UI" panose="020B0604030504040204" pitchFamily="50" charset="-128"/>
                          <a:ea typeface="Meiryo UI" panose="020B0604030504040204" pitchFamily="50" charset="-128"/>
                        </a:rPr>
                        <a:t>折りたたみ状態</a:t>
                      </a:r>
                    </a:p>
                  </a:txBody>
                  <a:tcPr anchor="ctr"/>
                </a:tc>
                <a:tc>
                  <a:txBody>
                    <a:bodyPr/>
                    <a:lstStyle/>
                    <a:p>
                      <a:r>
                        <a:rPr lang="ja-JP" altLang="en-US" sz="800">
                          <a:latin typeface="Meiryo UI" panose="020B0604030504040204" pitchFamily="50" charset="-128"/>
                          <a:ea typeface="Meiryo UI" panose="020B0604030504040204" pitchFamily="50" charset="-128"/>
                        </a:rPr>
                        <a:t>備考</a:t>
                      </a:r>
                    </a:p>
                  </a:txBody>
                  <a:tcPr anchor="ctr"/>
                </a:tc>
                <a:extLst>
                  <a:ext uri="{0D108BD9-81ED-4DB2-BD59-A6C34878D82A}">
                    <a16:rowId xmlns:a16="http://schemas.microsoft.com/office/drawing/2014/main" val="441406893"/>
                  </a:ext>
                </a:extLst>
              </a:tr>
              <a:tr h="0">
                <a:tc>
                  <a:txBody>
                    <a:bodyPr/>
                    <a:lstStyle/>
                    <a:p>
                      <a:r>
                        <a:rPr lang="ja-JP" altLang="en-US" sz="800">
                          <a:latin typeface="Meiryo UI" panose="020B0604030504040204" pitchFamily="50" charset="-128"/>
                          <a:ea typeface="Meiryo UI" panose="020B0604030504040204" pitchFamily="50" charset="-128"/>
                        </a:rPr>
                        <a:t>スペック詳細</a:t>
                      </a:r>
                    </a:p>
                  </a:txBody>
                  <a:tcPr anchor="ctr"/>
                </a:tc>
                <a:tc>
                  <a:txBody>
                    <a:bodyPr/>
                    <a:lstStyle/>
                    <a:p>
                      <a:r>
                        <a:rPr lang="en-US" altLang="ja-JP" sz="800">
                          <a:latin typeface="Meiryo UI" panose="020B0604030504040204" pitchFamily="50" charset="-128"/>
                          <a:ea typeface="Meiryo UI" panose="020B0604030504040204" pitchFamily="50" charset="-128"/>
                        </a:rPr>
                        <a:t>2</a:t>
                      </a:r>
                      <a:r>
                        <a:rPr lang="ja-JP" altLang="en-US" sz="800">
                          <a:latin typeface="Meiryo UI" panose="020B0604030504040204" pitchFamily="50" charset="-128"/>
                          <a:ea typeface="Meiryo UI" panose="020B0604030504040204" pitchFamily="50" charset="-128"/>
                        </a:rPr>
                        <a:t>列グリッド</a:t>
                      </a:r>
                    </a:p>
                  </a:txBody>
                  <a:tcPr anchor="ctr"/>
                </a:tc>
                <a:tc>
                  <a:txBody>
                    <a:bodyPr/>
                    <a:lstStyle/>
                    <a:p>
                      <a:r>
                        <a:rPr lang="ja-JP" altLang="en-US" sz="800">
                          <a:latin typeface="Meiryo UI" panose="020B0604030504040204" pitchFamily="50" charset="-128"/>
                          <a:ea typeface="Meiryo UI" panose="020B0604030504040204" pitchFamily="50" charset="-128"/>
                        </a:rPr>
                        <a:t>展開済み</a:t>
                      </a:r>
                    </a:p>
                  </a:txBody>
                  <a:tcPr anchor="ctr"/>
                </a:tc>
                <a:tc>
                  <a:txBody>
                    <a:bodyPr/>
                    <a:lstStyle/>
                    <a:p>
                      <a:r>
                        <a:rPr lang="ja-JP" altLang="en-US" sz="800">
                          <a:latin typeface="Meiryo UI" panose="020B0604030504040204" pitchFamily="50" charset="-128"/>
                          <a:ea typeface="Meiryo UI" panose="020B0604030504040204" pitchFamily="50" charset="-128"/>
                        </a:rPr>
                        <a:t>未入力項目は非表示</a:t>
                      </a:r>
                    </a:p>
                  </a:txBody>
                  <a:tcPr anchor="ctr"/>
                </a:tc>
                <a:extLst>
                  <a:ext uri="{0D108BD9-81ED-4DB2-BD59-A6C34878D82A}">
                    <a16:rowId xmlns:a16="http://schemas.microsoft.com/office/drawing/2014/main" val="2518924920"/>
                  </a:ext>
                </a:extLst>
              </a:tr>
              <a:tr h="0">
                <a:tc>
                  <a:txBody>
                    <a:bodyPr/>
                    <a:lstStyle/>
                    <a:p>
                      <a:r>
                        <a:rPr lang="ja-JP" altLang="en-US" sz="800" dirty="0">
                          <a:latin typeface="Meiryo UI" panose="020B0604030504040204" pitchFamily="50" charset="-128"/>
                          <a:ea typeface="Meiryo UI" panose="020B0604030504040204" pitchFamily="50" charset="-128"/>
                        </a:rPr>
                        <a:t>商社リスト</a:t>
                      </a:r>
                    </a:p>
                  </a:txBody>
                  <a:tcPr anchor="ctr"/>
                </a:tc>
                <a:tc>
                  <a:txBody>
                    <a:bodyPr/>
                    <a:lstStyle/>
                    <a:p>
                      <a:r>
                        <a:rPr lang="ja-JP" altLang="en-US" sz="800">
                          <a:latin typeface="Meiryo UI" panose="020B0604030504040204" pitchFamily="50" charset="-128"/>
                          <a:ea typeface="Meiryo UI" panose="020B0604030504040204" pitchFamily="50" charset="-128"/>
                        </a:rPr>
                        <a:t>テーブル</a:t>
                      </a:r>
                    </a:p>
                  </a:txBody>
                  <a:tcPr anchor="ctr"/>
                </a:tc>
                <a:tc>
                  <a:txBody>
                    <a:bodyPr/>
                    <a:lstStyle/>
                    <a:p>
                      <a:r>
                        <a:rPr lang="ja-JP" altLang="en-US" sz="800" b="1">
                          <a:latin typeface="Meiryo UI" panose="020B0604030504040204" pitchFamily="50" charset="-128"/>
                          <a:ea typeface="Meiryo UI" panose="020B0604030504040204" pitchFamily="50" charset="-128"/>
                        </a:rPr>
                        <a:t>初期：価格要約のみ表示</a:t>
                      </a:r>
                      <a:endParaRPr lang="ja-JP" altLang="en-US" sz="800">
                        <a:latin typeface="Meiryo UI" panose="020B0604030504040204" pitchFamily="50" charset="-128"/>
                        <a:ea typeface="Meiryo UI" panose="020B0604030504040204" pitchFamily="50" charset="-128"/>
                      </a:endParaRPr>
                    </a:p>
                  </a:txBody>
                  <a:tcPr anchor="ctr"/>
                </a:tc>
                <a:tc>
                  <a:txBody>
                    <a:bodyPr/>
                    <a:lstStyle/>
                    <a:p>
                      <a:r>
                        <a:rPr lang="ja-JP" altLang="en-US" sz="800">
                          <a:latin typeface="Meiryo UI" panose="020B0604030504040204" pitchFamily="50" charset="-128"/>
                          <a:ea typeface="Meiryo UI" panose="020B0604030504040204" pitchFamily="50" charset="-128"/>
                        </a:rPr>
                        <a:t>展開で詳細（コード・数量・日付）</a:t>
                      </a:r>
                    </a:p>
                  </a:txBody>
                  <a:tcPr anchor="ctr"/>
                </a:tc>
                <a:extLst>
                  <a:ext uri="{0D108BD9-81ED-4DB2-BD59-A6C34878D82A}">
                    <a16:rowId xmlns:a16="http://schemas.microsoft.com/office/drawing/2014/main" val="2431092378"/>
                  </a:ext>
                </a:extLst>
              </a:tr>
              <a:tr h="0">
                <a:tc>
                  <a:txBody>
                    <a:bodyPr/>
                    <a:lstStyle/>
                    <a:p>
                      <a:r>
                        <a:rPr lang="ja-JP" altLang="en-US" sz="800">
                          <a:latin typeface="Meiryo UI" panose="020B0604030504040204" pitchFamily="50" charset="-128"/>
                          <a:ea typeface="Meiryo UI" panose="020B0604030504040204" pitchFamily="50" charset="-128"/>
                        </a:rPr>
                        <a:t>保管</a:t>
                      </a:r>
                      <a:r>
                        <a:rPr lang="en-US" altLang="ja-JP" sz="800">
                          <a:latin typeface="Meiryo UI" panose="020B0604030504040204" pitchFamily="50" charset="-128"/>
                          <a:ea typeface="Meiryo UI" panose="020B0604030504040204" pitchFamily="50" charset="-128"/>
                        </a:rPr>
                        <a:t>/</a:t>
                      </a:r>
                      <a:r>
                        <a:rPr lang="ja-JP" altLang="en-US" sz="800">
                          <a:latin typeface="Meiryo UI" panose="020B0604030504040204" pitchFamily="50" charset="-128"/>
                          <a:ea typeface="Meiryo UI" panose="020B0604030504040204" pitchFamily="50" charset="-128"/>
                        </a:rPr>
                        <a:t>リール</a:t>
                      </a:r>
                      <a:r>
                        <a:rPr lang="en-US" altLang="ja-JP" sz="800">
                          <a:latin typeface="Meiryo UI" panose="020B0604030504040204" pitchFamily="50" charset="-128"/>
                          <a:ea typeface="Meiryo UI" panose="020B0604030504040204" pitchFamily="50" charset="-128"/>
                        </a:rPr>
                        <a:t>/</a:t>
                      </a:r>
                      <a:r>
                        <a:rPr lang="ja-JP" altLang="en-US" sz="800">
                          <a:latin typeface="Meiryo UI" panose="020B0604030504040204" pitchFamily="50" charset="-128"/>
                          <a:ea typeface="Meiryo UI" panose="020B0604030504040204" pitchFamily="50" charset="-128"/>
                        </a:rPr>
                        <a:t>ロット情報</a:t>
                      </a:r>
                    </a:p>
                  </a:txBody>
                  <a:tcPr anchor="ctr"/>
                </a:tc>
                <a:tc>
                  <a:txBody>
                    <a:bodyPr/>
                    <a:lstStyle/>
                    <a:p>
                      <a:r>
                        <a:rPr lang="ja-JP" altLang="en-US" sz="800" dirty="0">
                          <a:latin typeface="Meiryo UI" panose="020B0604030504040204" pitchFamily="50" charset="-128"/>
                          <a:ea typeface="Meiryo UI" panose="020B0604030504040204" pitchFamily="50" charset="-128"/>
                        </a:rPr>
                        <a:t>グリッド</a:t>
                      </a:r>
                    </a:p>
                  </a:txBody>
                  <a:tcPr anchor="ctr"/>
                </a:tc>
                <a:tc>
                  <a:txBody>
                    <a:bodyPr/>
                    <a:lstStyle/>
                    <a:p>
                      <a:r>
                        <a:rPr lang="ja-JP" altLang="en-US" sz="800">
                          <a:latin typeface="Meiryo UI" panose="020B0604030504040204" pitchFamily="50" charset="-128"/>
                          <a:ea typeface="Meiryo UI" panose="020B0604030504040204" pitchFamily="50" charset="-128"/>
                        </a:rPr>
                        <a:t>展開済み</a:t>
                      </a:r>
                    </a:p>
                  </a:txBody>
                  <a:tcPr anchor="ctr"/>
                </a:tc>
                <a:tc>
                  <a:txBody>
                    <a:bodyPr/>
                    <a:lstStyle/>
                    <a:p>
                      <a:r>
                        <a:rPr lang="ja-JP" altLang="en-US" sz="800">
                          <a:latin typeface="Meiryo UI" panose="020B0604030504040204" pitchFamily="50" charset="-128"/>
                          <a:ea typeface="Meiryo UI" panose="020B0604030504040204" pitchFamily="50" charset="-128"/>
                        </a:rPr>
                        <a:t>条件付き表示（リール時のみ等）</a:t>
                      </a:r>
                    </a:p>
                  </a:txBody>
                  <a:tcPr anchor="ctr"/>
                </a:tc>
                <a:extLst>
                  <a:ext uri="{0D108BD9-81ED-4DB2-BD59-A6C34878D82A}">
                    <a16:rowId xmlns:a16="http://schemas.microsoft.com/office/drawing/2014/main" val="3308025046"/>
                  </a:ext>
                </a:extLst>
              </a:tr>
              <a:tr h="0">
                <a:tc>
                  <a:txBody>
                    <a:bodyPr/>
                    <a:lstStyle/>
                    <a:p>
                      <a:r>
                        <a:rPr lang="ja-JP" altLang="en-US" sz="800">
                          <a:latin typeface="Meiryo UI" panose="020B0604030504040204" pitchFamily="50" charset="-128"/>
                          <a:ea typeface="Meiryo UI" panose="020B0604030504040204" pitchFamily="50" charset="-128"/>
                        </a:rPr>
                        <a:t>プロジェクト</a:t>
                      </a:r>
                    </a:p>
                  </a:txBody>
                  <a:tcPr anchor="ctr"/>
                </a:tc>
                <a:tc>
                  <a:txBody>
                    <a:bodyPr/>
                    <a:lstStyle/>
                    <a:p>
                      <a:r>
                        <a:rPr lang="ja-JP" altLang="en-US" sz="800">
                          <a:latin typeface="Meiryo UI" panose="020B0604030504040204" pitchFamily="50" charset="-128"/>
                          <a:ea typeface="Meiryo UI" panose="020B0604030504040204" pitchFamily="50" charset="-128"/>
                        </a:rPr>
                        <a:t>カードタグ</a:t>
                      </a:r>
                    </a:p>
                  </a:txBody>
                  <a:tcPr anchor="ctr"/>
                </a:tc>
                <a:tc>
                  <a:txBody>
                    <a:bodyPr/>
                    <a:lstStyle/>
                    <a:p>
                      <a:r>
                        <a:rPr lang="ja-JP" altLang="en-US" sz="800" dirty="0">
                          <a:latin typeface="Meiryo UI" panose="020B0604030504040204" pitchFamily="50" charset="-128"/>
                          <a:ea typeface="Meiryo UI" panose="020B0604030504040204" pitchFamily="50" charset="-128"/>
                        </a:rPr>
                        <a:t>展開済み</a:t>
                      </a:r>
                    </a:p>
                  </a:txBody>
                  <a:tcPr anchor="ctr"/>
                </a:tc>
                <a:tc>
                  <a:txBody>
                    <a:bodyPr/>
                    <a:lstStyle/>
                    <a:p>
                      <a:r>
                        <a:rPr lang="ja-JP" altLang="en-US" sz="800">
                          <a:latin typeface="Meiryo UI" panose="020B0604030504040204" pitchFamily="50" charset="-128"/>
                          <a:ea typeface="Meiryo UI" panose="020B0604030504040204" pitchFamily="50" charset="-128"/>
                        </a:rPr>
                        <a:t>複数件横並び </a:t>
                      </a:r>
                      <a:r>
                        <a:rPr lang="en-US" sz="800">
                          <a:latin typeface="Meiryo UI" panose="020B0604030504040204" pitchFamily="50" charset="-128"/>
                          <a:ea typeface="Meiryo UI" panose="020B0604030504040204" pitchFamily="50" charset="-128"/>
                        </a:rPr>
                        <a:t>or </a:t>
                      </a:r>
                      <a:r>
                        <a:rPr lang="ja-JP" altLang="en-US" sz="800">
                          <a:latin typeface="Meiryo UI" panose="020B0604030504040204" pitchFamily="50" charset="-128"/>
                          <a:ea typeface="Meiryo UI" panose="020B0604030504040204" pitchFamily="50" charset="-128"/>
                        </a:rPr>
                        <a:t>改行なし</a:t>
                      </a:r>
                    </a:p>
                  </a:txBody>
                  <a:tcPr anchor="ctr"/>
                </a:tc>
                <a:extLst>
                  <a:ext uri="{0D108BD9-81ED-4DB2-BD59-A6C34878D82A}">
                    <a16:rowId xmlns:a16="http://schemas.microsoft.com/office/drawing/2014/main" val="1332073480"/>
                  </a:ext>
                </a:extLst>
              </a:tr>
              <a:tr h="0">
                <a:tc>
                  <a:txBody>
                    <a:bodyPr/>
                    <a:lstStyle/>
                    <a:p>
                      <a:r>
                        <a:rPr lang="ja-JP" altLang="en-US" sz="800">
                          <a:latin typeface="Meiryo UI" panose="020B0604030504040204" pitchFamily="50" charset="-128"/>
                          <a:ea typeface="Meiryo UI" panose="020B0604030504040204" pitchFamily="50" charset="-128"/>
                        </a:rPr>
                        <a:t>登録履歴</a:t>
                      </a:r>
                    </a:p>
                  </a:txBody>
                  <a:tcPr anchor="ctr"/>
                </a:tc>
                <a:tc>
                  <a:txBody>
                    <a:bodyPr/>
                    <a:lstStyle/>
                    <a:p>
                      <a:r>
                        <a:rPr lang="ja-JP" altLang="en-US" sz="800">
                          <a:latin typeface="Meiryo UI" panose="020B0604030504040204" pitchFamily="50" charset="-128"/>
                          <a:ea typeface="Meiryo UI" panose="020B0604030504040204" pitchFamily="50" charset="-128"/>
                        </a:rPr>
                        <a:t>ラベル＋値</a:t>
                      </a:r>
                    </a:p>
                  </a:txBody>
                  <a:tcPr anchor="ctr"/>
                </a:tc>
                <a:tc>
                  <a:txBody>
                    <a:bodyPr/>
                    <a:lstStyle/>
                    <a:p>
                      <a:r>
                        <a:rPr lang="ja-JP" altLang="en-US" sz="800" dirty="0">
                          <a:latin typeface="Meiryo UI" panose="020B0604030504040204" pitchFamily="50" charset="-128"/>
                          <a:ea typeface="Meiryo UI" panose="020B0604030504040204" pitchFamily="50" charset="-128"/>
                        </a:rPr>
                        <a:t>展開済み</a:t>
                      </a:r>
                    </a:p>
                  </a:txBody>
                  <a:tcPr anchor="ctr"/>
                </a:tc>
                <a:tc>
                  <a:txBody>
                    <a:bodyPr/>
                    <a:lstStyle/>
                    <a:p>
                      <a:r>
                        <a:rPr lang="ja-JP" altLang="en-US" sz="800">
                          <a:latin typeface="Meiryo UI" panose="020B0604030504040204" pitchFamily="50" charset="-128"/>
                          <a:ea typeface="Meiryo UI" panose="020B0604030504040204" pitchFamily="50" charset="-128"/>
                        </a:rPr>
                        <a:t>表示はシンプルに</a:t>
                      </a:r>
                      <a:r>
                        <a:rPr lang="en-US" altLang="ja-JP" sz="800">
                          <a:latin typeface="Meiryo UI" panose="020B0604030504040204" pitchFamily="50" charset="-128"/>
                          <a:ea typeface="Meiryo UI" panose="020B0604030504040204" pitchFamily="50" charset="-128"/>
                        </a:rPr>
                        <a:t>1</a:t>
                      </a:r>
                      <a:r>
                        <a:rPr lang="ja-JP" altLang="en-US" sz="800">
                          <a:latin typeface="Meiryo UI" panose="020B0604030504040204" pitchFamily="50" charset="-128"/>
                          <a:ea typeface="Meiryo UI" panose="020B0604030504040204" pitchFamily="50" charset="-128"/>
                        </a:rPr>
                        <a:t>行</a:t>
                      </a:r>
                    </a:p>
                  </a:txBody>
                  <a:tcPr anchor="ctr"/>
                </a:tc>
                <a:extLst>
                  <a:ext uri="{0D108BD9-81ED-4DB2-BD59-A6C34878D82A}">
                    <a16:rowId xmlns:a16="http://schemas.microsoft.com/office/drawing/2014/main" val="3168007151"/>
                  </a:ext>
                </a:extLst>
              </a:tr>
              <a:tr h="0">
                <a:tc>
                  <a:txBody>
                    <a:bodyPr/>
                    <a:lstStyle/>
                    <a:p>
                      <a:r>
                        <a:rPr lang="ja-JP" altLang="en-US" sz="800">
                          <a:latin typeface="Meiryo UI" panose="020B0604030504040204" pitchFamily="50" charset="-128"/>
                          <a:ea typeface="Meiryo UI" panose="020B0604030504040204" pitchFamily="50" charset="-128"/>
                        </a:rPr>
                        <a:t>カスタムフィールド</a:t>
                      </a:r>
                    </a:p>
                  </a:txBody>
                  <a:tcPr anchor="ctr"/>
                </a:tc>
                <a:tc>
                  <a:txBody>
                    <a:bodyPr/>
                    <a:lstStyle/>
                    <a:p>
                      <a:r>
                        <a:rPr lang="ja-JP" altLang="en-US" sz="800">
                          <a:latin typeface="Meiryo UI" panose="020B0604030504040204" pitchFamily="50" charset="-128"/>
                          <a:ea typeface="Meiryo UI" panose="020B0604030504040204" pitchFamily="50" charset="-128"/>
                        </a:rPr>
                        <a:t>折りたたみ</a:t>
                      </a:r>
                      <a:r>
                        <a:rPr lang="en-US" sz="800">
                          <a:latin typeface="Meiryo UI" panose="020B0604030504040204" pitchFamily="50" charset="-128"/>
                          <a:ea typeface="Meiryo UI" panose="020B0604030504040204" pitchFamily="50" charset="-128"/>
                        </a:rPr>
                        <a:t>div</a:t>
                      </a:r>
                    </a:p>
                  </a:txBody>
                  <a:tcPr anchor="ctr"/>
                </a:tc>
                <a:tc>
                  <a:txBody>
                    <a:bodyPr/>
                    <a:lstStyle/>
                    <a:p>
                      <a:r>
                        <a:rPr lang="ja-JP" altLang="en-US" sz="800">
                          <a:latin typeface="Meiryo UI" panose="020B0604030504040204" pitchFamily="50" charset="-128"/>
                          <a:ea typeface="Meiryo UI" panose="020B0604030504040204" pitchFamily="50" charset="-128"/>
                        </a:rPr>
                        <a:t>初期折りたたみ</a:t>
                      </a:r>
                    </a:p>
                  </a:txBody>
                  <a:tcPr anchor="ctr"/>
                </a:tc>
                <a:tc>
                  <a:txBody>
                    <a:bodyPr/>
                    <a:lstStyle/>
                    <a:p>
                      <a:r>
                        <a:rPr lang="ja-JP" altLang="en-US" sz="800" dirty="0">
                          <a:latin typeface="Meiryo UI" panose="020B0604030504040204" pitchFamily="50" charset="-128"/>
                          <a:ea typeface="Meiryo UI" panose="020B0604030504040204" pitchFamily="50" charset="-128"/>
                        </a:rPr>
                        <a:t>長文入力対応（</a:t>
                      </a:r>
                      <a:r>
                        <a:rPr lang="en-US" sz="800" dirty="0" err="1">
                          <a:latin typeface="Meiryo UI" panose="020B0604030504040204" pitchFamily="50" charset="-128"/>
                          <a:ea typeface="Meiryo UI" panose="020B0604030504040204" pitchFamily="50" charset="-128"/>
                        </a:rPr>
                        <a:t>textarea</a:t>
                      </a:r>
                      <a:r>
                        <a:rPr lang="ja-JP" altLang="en-US" sz="800" dirty="0">
                          <a:latin typeface="Meiryo UI" panose="020B0604030504040204" pitchFamily="50" charset="-128"/>
                          <a:ea typeface="Meiryo UI" panose="020B0604030504040204" pitchFamily="50" charset="-128"/>
                        </a:rPr>
                        <a:t>風で</a:t>
                      </a:r>
                      <a:r>
                        <a:rPr lang="en-US" sz="800" dirty="0">
                          <a:latin typeface="Meiryo UI" panose="020B0604030504040204" pitchFamily="50" charset="-128"/>
                          <a:ea typeface="Meiryo UI" panose="020B0604030504040204" pitchFamily="50" charset="-128"/>
                        </a:rPr>
                        <a:t>OK）</a:t>
                      </a:r>
                    </a:p>
                  </a:txBody>
                  <a:tcPr anchor="ctr"/>
                </a:tc>
                <a:extLst>
                  <a:ext uri="{0D108BD9-81ED-4DB2-BD59-A6C34878D82A}">
                    <a16:rowId xmlns:a16="http://schemas.microsoft.com/office/drawing/2014/main" val="2731648471"/>
                  </a:ext>
                </a:extLst>
              </a:tr>
            </a:tbl>
          </a:graphicData>
        </a:graphic>
      </p:graphicFrame>
    </p:spTree>
    <p:extLst>
      <p:ext uri="{BB962C8B-B14F-4D97-AF65-F5344CB8AC3E}">
        <p14:creationId xmlns:p14="http://schemas.microsoft.com/office/powerpoint/2010/main" val="1751574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1436-5F54-72F5-651D-A7F9F80E61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C68F6C-BB04-C81E-ABB4-CF645C3BD9E1}"/>
              </a:ext>
            </a:extLst>
          </p:cNvPr>
          <p:cNvSpPr>
            <a:spLocks noGrp="1"/>
          </p:cNvSpPr>
          <p:nvPr>
            <p:ph type="title"/>
          </p:nvPr>
        </p:nvSpPr>
        <p:spPr/>
        <p:txBody>
          <a:bodyPr/>
          <a:lstStyle/>
          <a:p>
            <a:r>
              <a:rPr kumimoji="1" lang="en-US" altLang="ja-JP" dirty="0"/>
              <a:t>UI-</a:t>
            </a:r>
            <a:r>
              <a:rPr kumimoji="1" lang="zh-TW" altLang="en-US" dirty="0"/>
              <a:t>部品詳細画面</a:t>
            </a:r>
            <a:r>
              <a:rPr kumimoji="1" lang="en-US" altLang="zh-TW" dirty="0"/>
              <a:t>-</a:t>
            </a:r>
            <a:r>
              <a:rPr kumimoji="1" lang="ja-JP" altLang="en-US" dirty="0"/>
              <a:t>外観イメージ</a:t>
            </a:r>
          </a:p>
        </p:txBody>
      </p:sp>
      <p:grpSp>
        <p:nvGrpSpPr>
          <p:cNvPr id="17" name="グループ化 16">
            <a:extLst>
              <a:ext uri="{FF2B5EF4-FFF2-40B4-BE49-F238E27FC236}">
                <a16:creationId xmlns:a16="http://schemas.microsoft.com/office/drawing/2014/main" id="{510DAAD6-4C27-B0CC-9377-D93FA23839A6}"/>
              </a:ext>
            </a:extLst>
          </p:cNvPr>
          <p:cNvGrpSpPr/>
          <p:nvPr/>
        </p:nvGrpSpPr>
        <p:grpSpPr>
          <a:xfrm>
            <a:off x="838200" y="1690688"/>
            <a:ext cx="4944155" cy="4232709"/>
            <a:chOff x="838200" y="1407885"/>
            <a:chExt cx="4944155" cy="4232709"/>
          </a:xfrm>
        </p:grpSpPr>
        <p:pic>
          <p:nvPicPr>
            <p:cNvPr id="7" name="図 6">
              <a:extLst>
                <a:ext uri="{FF2B5EF4-FFF2-40B4-BE49-F238E27FC236}">
                  <a16:creationId xmlns:a16="http://schemas.microsoft.com/office/drawing/2014/main" id="{2302CCA8-7988-E604-28C6-004AD537B4FC}"/>
                </a:ext>
              </a:extLst>
            </p:cNvPr>
            <p:cNvPicPr>
              <a:picLocks noChangeAspect="1"/>
            </p:cNvPicPr>
            <p:nvPr/>
          </p:nvPicPr>
          <p:blipFill>
            <a:blip r:embed="rId2"/>
            <a:stretch>
              <a:fillRect/>
            </a:stretch>
          </p:blipFill>
          <p:spPr>
            <a:xfrm>
              <a:off x="838200" y="1407885"/>
              <a:ext cx="4944155" cy="3679371"/>
            </a:xfrm>
            <a:prstGeom prst="rect">
              <a:avLst/>
            </a:prstGeom>
          </p:spPr>
        </p:pic>
        <p:pic>
          <p:nvPicPr>
            <p:cNvPr id="16" name="図 15">
              <a:extLst>
                <a:ext uri="{FF2B5EF4-FFF2-40B4-BE49-F238E27FC236}">
                  <a16:creationId xmlns:a16="http://schemas.microsoft.com/office/drawing/2014/main" id="{9D3C2675-75AD-6E18-00A8-72DB95EDF884}"/>
                </a:ext>
              </a:extLst>
            </p:cNvPr>
            <p:cNvPicPr>
              <a:picLocks noChangeAspect="1"/>
            </p:cNvPicPr>
            <p:nvPr/>
          </p:nvPicPr>
          <p:blipFill>
            <a:blip r:embed="rId3"/>
            <a:stretch>
              <a:fillRect/>
            </a:stretch>
          </p:blipFill>
          <p:spPr>
            <a:xfrm>
              <a:off x="838200" y="5143523"/>
              <a:ext cx="4836886" cy="497071"/>
            </a:xfrm>
            <a:prstGeom prst="rect">
              <a:avLst/>
            </a:prstGeom>
          </p:spPr>
        </p:pic>
      </p:grpSp>
      <p:pic>
        <p:nvPicPr>
          <p:cNvPr id="19" name="図 18">
            <a:extLst>
              <a:ext uri="{FF2B5EF4-FFF2-40B4-BE49-F238E27FC236}">
                <a16:creationId xmlns:a16="http://schemas.microsoft.com/office/drawing/2014/main" id="{8BD330E4-1DD3-E060-2CFD-1081BDBA9F3E}"/>
              </a:ext>
            </a:extLst>
          </p:cNvPr>
          <p:cNvPicPr>
            <a:picLocks noChangeAspect="1"/>
          </p:cNvPicPr>
          <p:nvPr/>
        </p:nvPicPr>
        <p:blipFill>
          <a:blip r:embed="rId4"/>
          <a:stretch>
            <a:fillRect/>
          </a:stretch>
        </p:blipFill>
        <p:spPr>
          <a:xfrm>
            <a:off x="6096000" y="1472973"/>
            <a:ext cx="5705340" cy="5167312"/>
          </a:xfrm>
          <a:prstGeom prst="rect">
            <a:avLst/>
          </a:prstGeom>
        </p:spPr>
      </p:pic>
    </p:spTree>
    <p:extLst>
      <p:ext uri="{BB962C8B-B14F-4D97-AF65-F5344CB8AC3E}">
        <p14:creationId xmlns:p14="http://schemas.microsoft.com/office/powerpoint/2010/main" val="1480104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E1C82-0221-5EEF-0E69-3D832D01C3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C78CEE-5DFB-456F-C276-32E2F38874F7}"/>
              </a:ext>
            </a:extLst>
          </p:cNvPr>
          <p:cNvSpPr>
            <a:spLocks noGrp="1"/>
          </p:cNvSpPr>
          <p:nvPr>
            <p:ph type="title"/>
          </p:nvPr>
        </p:nvSpPr>
        <p:spPr/>
        <p:txBody>
          <a:bodyPr/>
          <a:lstStyle/>
          <a:p>
            <a:r>
              <a:rPr kumimoji="1" lang="en-US" altLang="ja-JP" dirty="0"/>
              <a:t>UI-</a:t>
            </a:r>
            <a:r>
              <a:rPr kumimoji="1" lang="zh-TW" altLang="en-US" dirty="0"/>
              <a:t>部品</a:t>
            </a:r>
            <a:r>
              <a:rPr kumimoji="1" lang="ja-JP" altLang="en-US" dirty="0"/>
              <a:t>新規登録</a:t>
            </a:r>
            <a:r>
              <a:rPr kumimoji="1" lang="zh-TW" altLang="en-US" dirty="0"/>
              <a:t>画面</a:t>
            </a:r>
            <a:r>
              <a:rPr kumimoji="1" lang="en-US" altLang="zh-TW" dirty="0"/>
              <a:t>-</a:t>
            </a:r>
            <a:r>
              <a:rPr kumimoji="1" lang="ja-JP" altLang="en-US" dirty="0"/>
              <a:t>設計</a:t>
            </a:r>
          </a:p>
        </p:txBody>
      </p:sp>
      <p:sp>
        <p:nvSpPr>
          <p:cNvPr id="4" name="テキスト ボックス 3">
            <a:extLst>
              <a:ext uri="{FF2B5EF4-FFF2-40B4-BE49-F238E27FC236}">
                <a16:creationId xmlns:a16="http://schemas.microsoft.com/office/drawing/2014/main" id="{8E2883D7-EA60-ED3A-EA28-D5C8C33851BA}"/>
              </a:ext>
            </a:extLst>
          </p:cNvPr>
          <p:cNvSpPr txBox="1"/>
          <p:nvPr/>
        </p:nvSpPr>
        <p:spPr>
          <a:xfrm>
            <a:off x="1549400" y="1544241"/>
            <a:ext cx="6096000" cy="2431435"/>
          </a:xfrm>
          <a:prstGeom prst="rect">
            <a:avLst/>
          </a:prstGeom>
          <a:noFill/>
        </p:spPr>
        <p:txBody>
          <a:bodyPr wrap="square">
            <a:spAutoFit/>
          </a:bodyPr>
          <a:lstStyle/>
          <a:p>
            <a:r>
              <a:rPr lang="ja-JP" altLang="en-US" sz="800" dirty="0">
                <a:latin typeface="Meiryo UI" panose="020B0604030504040204" pitchFamily="50" charset="-128"/>
                <a:ea typeface="Meiryo UI" panose="020B0604030504040204" pitchFamily="50" charset="-128"/>
              </a:rPr>
              <a:t>新規登録画面では、以下のような入力項目が必要だと考えています：</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基本情報（部品名、型番、メーカー）</a:t>
            </a:r>
          </a:p>
          <a:p>
            <a:r>
              <a:rPr lang="ja-JP" altLang="en-US" sz="800" dirty="0">
                <a:latin typeface="Meiryo UI" panose="020B0604030504040204" pitchFamily="50" charset="-128"/>
                <a:ea typeface="Meiryo UI" panose="020B0604030504040204" pitchFamily="50" charset="-128"/>
              </a:rPr>
              <a:t>スペック情報（抵抗値、許容差、定格電圧など）</a:t>
            </a:r>
          </a:p>
          <a:p>
            <a:r>
              <a:rPr lang="ja-JP" altLang="en-US" sz="800" dirty="0">
                <a:latin typeface="Meiryo UI" panose="020B0604030504040204" pitchFamily="50" charset="-128"/>
                <a:ea typeface="Meiryo UI" panose="020B0604030504040204" pitchFamily="50" charset="-128"/>
              </a:rPr>
              <a:t>在庫情報（数量、仕入れ先、価格）</a:t>
            </a:r>
          </a:p>
          <a:p>
            <a:r>
              <a:rPr lang="ja-JP" altLang="en-US" sz="800" dirty="0">
                <a:latin typeface="Meiryo UI" panose="020B0604030504040204" pitchFamily="50" charset="-128"/>
                <a:ea typeface="Meiryo UI" panose="020B0604030504040204" pitchFamily="50" charset="-128"/>
              </a:rPr>
              <a:t>カスタムフィールド（用途、注意点など）</a:t>
            </a:r>
          </a:p>
          <a:p>
            <a:r>
              <a:rPr lang="ja-JP" altLang="en-US" sz="800" dirty="0">
                <a:latin typeface="Meiryo UI" panose="020B0604030504040204" pitchFamily="50" charset="-128"/>
                <a:ea typeface="Meiryo UI" panose="020B0604030504040204" pitchFamily="50" charset="-128"/>
              </a:rPr>
              <a:t>これまでのコンポーネント詳細画面と同様に、以下の要素を意識します：</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レスポンシブデザイン</a:t>
            </a:r>
          </a:p>
          <a:p>
            <a:r>
              <a:rPr lang="ja-JP" altLang="en-US" sz="800" dirty="0">
                <a:latin typeface="Meiryo UI" panose="020B0604030504040204" pitchFamily="50" charset="-128"/>
                <a:ea typeface="Meiryo UI" panose="020B0604030504040204" pitchFamily="50" charset="-128"/>
              </a:rPr>
              <a:t>ライト/ダークテーマ対応</a:t>
            </a:r>
          </a:p>
          <a:p>
            <a:r>
              <a:rPr lang="ja-JP" altLang="en-US" sz="800" dirty="0">
                <a:latin typeface="Meiryo UI" panose="020B0604030504040204" pitchFamily="50" charset="-128"/>
                <a:ea typeface="Meiryo UI" panose="020B0604030504040204" pitchFamily="50" charset="-128"/>
              </a:rPr>
              <a:t>Vueコンポーネント化を見据えた構造</a:t>
            </a:r>
            <a:br>
              <a:rPr lang="en-US" altLang="ja-JP" sz="800" dirty="0">
                <a:latin typeface="Meiryo UI" panose="020B0604030504040204" pitchFamily="50" charset="-128"/>
                <a:ea typeface="Meiryo UI" panose="020B0604030504040204" pitchFamily="50" charset="-128"/>
              </a:rPr>
            </a:br>
            <a:br>
              <a:rPr lang="en-US" altLang="ja-JP" sz="800" dirty="0">
                <a:latin typeface="Meiryo UI" panose="020B0604030504040204" pitchFamily="50" charset="-128"/>
                <a:ea typeface="Meiryo UI" panose="020B0604030504040204" pitchFamily="50" charset="-128"/>
              </a:rPr>
            </a:br>
            <a:r>
              <a:rPr lang="ja-JP" altLang="en-US" sz="800" dirty="0">
                <a:latin typeface="Meiryo UI" panose="020B0604030504040204" pitchFamily="50" charset="-128"/>
                <a:ea typeface="Meiryo UI" panose="020B0604030504040204" pitchFamily="50" charset="-128"/>
              </a:rPr>
              <a:t>①画像アップロード機能：</a:t>
            </a:r>
            <a:r>
              <a:rPr lang="en-US" altLang="ja-JP" sz="800" dirty="0">
                <a:latin typeface="Meiryo UI" panose="020B0604030504040204" pitchFamily="50" charset="-128"/>
                <a:ea typeface="Meiryo UI" panose="020B0604030504040204" pitchFamily="50" charset="-128"/>
              </a:rPr>
              <a:t>Yes</a:t>
            </a:r>
          </a:p>
          <a:p>
            <a:r>
              <a:rPr lang="en-US" altLang="ja-JP" sz="800" dirty="0">
                <a:latin typeface="Meiryo UI" panose="020B0604030504040204" pitchFamily="50" charset="-128"/>
                <a:ea typeface="Meiryo UI" panose="020B0604030504040204" pitchFamily="50" charset="-128"/>
              </a:rPr>
              <a:t>②</a:t>
            </a:r>
            <a:r>
              <a:rPr lang="ja-JP" altLang="en-US" sz="800" dirty="0">
                <a:latin typeface="Meiryo UI" panose="020B0604030504040204" pitchFamily="50" charset="-128"/>
                <a:ea typeface="Meiryo UI" panose="020B0604030504040204" pitchFamily="50" charset="-128"/>
              </a:rPr>
              <a:t>価格情報複数仕入れ対応：</a:t>
            </a:r>
            <a:r>
              <a:rPr lang="en-US" altLang="ja-JP" sz="800" dirty="0">
                <a:latin typeface="Meiryo UI" panose="020B0604030504040204" pitchFamily="50" charset="-128"/>
                <a:ea typeface="Meiryo UI" panose="020B0604030504040204" pitchFamily="50" charset="-128"/>
              </a:rPr>
              <a:t>Yes</a:t>
            </a:r>
          </a:p>
          <a:p>
            <a:r>
              <a:rPr lang="en-US" altLang="ja-JP" sz="800" dirty="0">
                <a:latin typeface="Meiryo UI" panose="020B0604030504040204" pitchFamily="50" charset="-128"/>
                <a:ea typeface="Meiryo UI" panose="020B0604030504040204" pitchFamily="50" charset="-128"/>
              </a:rPr>
              <a:t>③</a:t>
            </a:r>
            <a:r>
              <a:rPr lang="ja-JP" altLang="en-US" sz="800" dirty="0">
                <a:latin typeface="Meiryo UI" panose="020B0604030504040204" pitchFamily="50" charset="-128"/>
                <a:ea typeface="Meiryo UI" panose="020B0604030504040204" pitchFamily="50" charset="-128"/>
              </a:rPr>
              <a:t>プロジェクト紐づけ：</a:t>
            </a:r>
            <a:r>
              <a:rPr lang="en-US" altLang="ja-JP" sz="800" dirty="0">
                <a:latin typeface="Meiryo UI" panose="020B0604030504040204" pitchFamily="50" charset="-128"/>
                <a:ea typeface="Meiryo UI" panose="020B0604030504040204" pitchFamily="50" charset="-128"/>
              </a:rPr>
              <a:t>Yes</a:t>
            </a:r>
            <a:r>
              <a:rPr lang="ja-JP" altLang="en-US" sz="800" dirty="0">
                <a:latin typeface="Meiryo UI" panose="020B0604030504040204" pitchFamily="50" charset="-128"/>
                <a:ea typeface="Meiryo UI" panose="020B0604030504040204" pitchFamily="50" charset="-128"/>
              </a:rPr>
              <a:t>、あと編集画面からも追加する複数仕入れ先やカスタムコードは、プラスボタンを押すと入力欄が増えていくスタイルにして。</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分類は、今ある分類から選択＆新規追加ができるようにして。</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値の単位は選択式にして</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保管棚は選択式</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データシートもアップロードして登録する</a:t>
            </a:r>
          </a:p>
        </p:txBody>
      </p:sp>
      <p:sp>
        <p:nvSpPr>
          <p:cNvPr id="5" name="テキスト ボックス 4">
            <a:extLst>
              <a:ext uri="{FF2B5EF4-FFF2-40B4-BE49-F238E27FC236}">
                <a16:creationId xmlns:a16="http://schemas.microsoft.com/office/drawing/2014/main" id="{749AF848-2364-B790-9CCA-6AC566DAB4E4}"/>
              </a:ext>
            </a:extLst>
          </p:cNvPr>
          <p:cNvSpPr txBox="1"/>
          <p:nvPr/>
        </p:nvSpPr>
        <p:spPr>
          <a:xfrm>
            <a:off x="3695700" y="2830334"/>
            <a:ext cx="6096000" cy="3662541"/>
          </a:xfrm>
          <a:prstGeom prst="rect">
            <a:avLst/>
          </a:prstGeom>
          <a:noFill/>
        </p:spPr>
        <p:txBody>
          <a:bodyPr wrap="square">
            <a:spAutoFit/>
          </a:bodyPr>
          <a:lstStyle/>
          <a:p>
            <a:r>
              <a:rPr lang="en-US" altLang="ja-JP" sz="800" dirty="0">
                <a:latin typeface="Meiryo UI" panose="020B0604030504040204" pitchFamily="50" charset="-128"/>
                <a:ea typeface="Meiryo UI" panose="020B0604030504040204" pitchFamily="50" charset="-128"/>
              </a:rPr>
              <a:t>1. </a:t>
            </a:r>
            <a:r>
              <a:rPr lang="ja-JP" altLang="en-US" sz="800" dirty="0">
                <a:latin typeface="Meiryo UI" panose="020B0604030504040204" pitchFamily="50" charset="-128"/>
                <a:ea typeface="Meiryo UI" panose="020B0604030504040204" pitchFamily="50" charset="-128"/>
              </a:rPr>
              <a:t>画面構成</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セクション分け：</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1. </a:t>
            </a:r>
            <a:r>
              <a:rPr lang="ja-JP" altLang="en-US" sz="800" dirty="0">
                <a:latin typeface="Meiryo UI" panose="020B0604030504040204" pitchFamily="50" charset="-128"/>
                <a:ea typeface="Meiryo UI" panose="020B0604030504040204" pitchFamily="50" charset="-128"/>
              </a:rPr>
              <a:t>基本情報</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2. </a:t>
            </a:r>
            <a:r>
              <a:rPr lang="ja-JP" altLang="en-US" sz="800" dirty="0">
                <a:latin typeface="Meiryo UI" panose="020B0604030504040204" pitchFamily="50" charset="-128"/>
                <a:ea typeface="Meiryo UI" panose="020B0604030504040204" pitchFamily="50" charset="-128"/>
              </a:rPr>
              <a:t>スペック情報</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3. </a:t>
            </a:r>
            <a:r>
              <a:rPr lang="ja-JP" altLang="en-US" sz="800" dirty="0">
                <a:latin typeface="Meiryo UI" panose="020B0604030504040204" pitchFamily="50" charset="-128"/>
                <a:ea typeface="Meiryo UI" panose="020B0604030504040204" pitchFamily="50" charset="-128"/>
              </a:rPr>
              <a:t>在庫</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価格情報</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4. </a:t>
            </a:r>
            <a:r>
              <a:rPr lang="ja-JP" altLang="en-US" sz="800" dirty="0">
                <a:latin typeface="Meiryo UI" panose="020B0604030504040204" pitchFamily="50" charset="-128"/>
                <a:ea typeface="Meiryo UI" panose="020B0604030504040204" pitchFamily="50" charset="-128"/>
              </a:rPr>
              <a:t>プロジェクト紐付け</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5. </a:t>
            </a:r>
            <a:r>
              <a:rPr lang="ja-JP" altLang="en-US" sz="800" dirty="0">
                <a:latin typeface="Meiryo UI" panose="020B0604030504040204" pitchFamily="50" charset="-128"/>
                <a:ea typeface="Meiryo UI" panose="020B0604030504040204" pitchFamily="50" charset="-128"/>
              </a:rPr>
              <a:t>カスタムフィールド</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6. </a:t>
            </a:r>
            <a:r>
              <a:rPr lang="ja-JP" altLang="en-US" sz="800" dirty="0">
                <a:latin typeface="Meiryo UI" panose="020B0604030504040204" pitchFamily="50" charset="-128"/>
                <a:ea typeface="Meiryo UI" panose="020B0604030504040204" pitchFamily="50" charset="-128"/>
              </a:rPr>
              <a:t>データシート</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画像アップロード</a:t>
            </a:r>
          </a:p>
          <a:p>
            <a:endParaRPr lang="ja-JP" altLang="en-US" sz="800" dirty="0">
              <a:latin typeface="Meiryo UI" panose="020B0604030504040204" pitchFamily="50" charset="-128"/>
              <a:ea typeface="Meiryo UI" panose="020B0604030504040204" pitchFamily="50" charset="-128"/>
            </a:endParaRPr>
          </a:p>
          <a:p>
            <a:r>
              <a:rPr lang="en-US" altLang="ja-JP" sz="800" dirty="0">
                <a:latin typeface="Meiryo UI" panose="020B0604030504040204" pitchFamily="50" charset="-128"/>
                <a:ea typeface="Meiryo UI" panose="020B0604030504040204" pitchFamily="50" charset="-128"/>
              </a:rPr>
              <a:t>2. </a:t>
            </a:r>
            <a:r>
              <a:rPr lang="ja-JP" altLang="en-US" sz="800" dirty="0">
                <a:latin typeface="Meiryo UI" panose="020B0604030504040204" pitchFamily="50" charset="-128"/>
                <a:ea typeface="Meiryo UI" panose="020B0604030504040204" pitchFamily="50" charset="-128"/>
              </a:rPr>
              <a:t>動的入力フィールド</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」ボタンで以下を動的追加</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仕入れ先</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カスタムフィールド</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プロジェクト</a:t>
            </a:r>
          </a:p>
          <a:p>
            <a:endParaRPr lang="ja-JP" altLang="en-US" sz="800" dirty="0">
              <a:latin typeface="Meiryo UI" panose="020B0604030504040204" pitchFamily="50" charset="-128"/>
              <a:ea typeface="Meiryo UI" panose="020B0604030504040204" pitchFamily="50" charset="-128"/>
            </a:endParaRPr>
          </a:p>
          <a:p>
            <a:r>
              <a:rPr lang="en-US" altLang="ja-JP" sz="800" dirty="0">
                <a:latin typeface="Meiryo UI" panose="020B0604030504040204" pitchFamily="50" charset="-128"/>
                <a:ea typeface="Meiryo UI" panose="020B0604030504040204" pitchFamily="50" charset="-128"/>
              </a:rPr>
              <a:t>3. </a:t>
            </a:r>
            <a:r>
              <a:rPr lang="ja-JP" altLang="en-US" sz="800" dirty="0">
                <a:latin typeface="Meiryo UI" panose="020B0604030504040204" pitchFamily="50" charset="-128"/>
                <a:ea typeface="Meiryo UI" panose="020B0604030504040204" pitchFamily="50" charset="-128"/>
              </a:rPr>
              <a:t>選択式項目</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分類（プルダウン＋新規追加）</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値の単位</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保管棚</a:t>
            </a:r>
          </a:p>
          <a:p>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プロジェクト</a:t>
            </a:r>
            <a:br>
              <a:rPr lang="en-US" altLang="ja-JP" sz="800" dirty="0">
                <a:latin typeface="Meiryo UI" panose="020B0604030504040204" pitchFamily="50" charset="-128"/>
                <a:ea typeface="Meiryo UI" panose="020B0604030504040204" pitchFamily="50" charset="-128"/>
              </a:rPr>
            </a:br>
            <a:br>
              <a:rPr lang="en-US" altLang="ja-JP" sz="800" dirty="0">
                <a:latin typeface="Meiryo UI" panose="020B0604030504040204" pitchFamily="50" charset="-128"/>
                <a:ea typeface="Meiryo UI" panose="020B0604030504040204" pitchFamily="50" charset="-128"/>
              </a:rPr>
            </a:br>
            <a:r>
              <a:rPr lang="ja-JP" altLang="en-US" sz="800" dirty="0">
                <a:latin typeface="Meiryo UI" panose="020B0604030504040204" pitchFamily="50" charset="-128"/>
                <a:ea typeface="Meiryo UI" panose="020B0604030504040204" pitchFamily="50" charset="-128"/>
              </a:rPr>
              <a:t>スペック情報は以下があるので、それぞれ対応して。初期は値と単位だけ、＋ボタンで以下を入力できるように、ボタンが押されたらドロップダウンで項目選択、値入力、ドロップダウンで単位選択できるようにして</a:t>
            </a:r>
          </a:p>
          <a:p>
            <a:r>
              <a:rPr lang="ja-JP" altLang="en-US" sz="800" dirty="0">
                <a:latin typeface="Meiryo UI" panose="020B0604030504040204" pitchFamily="50" charset="-128"/>
                <a:ea typeface="Meiryo UI" panose="020B0604030504040204" pitchFamily="50" charset="-128"/>
              </a:rPr>
              <a:t>値＋単位</a:t>
            </a:r>
          </a:p>
          <a:p>
            <a:r>
              <a:rPr lang="ja-JP" altLang="en-US" sz="800" dirty="0">
                <a:latin typeface="Meiryo UI" panose="020B0604030504040204" pitchFamily="50" charset="-128"/>
                <a:ea typeface="Meiryo UI" panose="020B0604030504040204" pitchFamily="50" charset="-128"/>
              </a:rPr>
              <a:t>定格電圧</a:t>
            </a:r>
          </a:p>
          <a:p>
            <a:r>
              <a:rPr lang="ja-JP" altLang="en-US" sz="800" dirty="0">
                <a:latin typeface="Meiryo UI" panose="020B0604030504040204" pitchFamily="50" charset="-128"/>
                <a:ea typeface="Meiryo UI" panose="020B0604030504040204" pitchFamily="50" charset="-128"/>
              </a:rPr>
              <a:t>定格電流</a:t>
            </a:r>
          </a:p>
          <a:p>
            <a:r>
              <a:rPr lang="ja-JP" altLang="en-US" sz="800" dirty="0">
                <a:latin typeface="Meiryo UI" panose="020B0604030504040204" pitchFamily="50" charset="-128"/>
                <a:ea typeface="Meiryo UI" panose="020B0604030504040204" pitchFamily="50" charset="-128"/>
              </a:rPr>
              <a:t>色（</a:t>
            </a:r>
            <a:r>
              <a:rPr lang="en-US" altLang="ja-JP" sz="800" dirty="0">
                <a:latin typeface="Meiryo UI" panose="020B0604030504040204" pitchFamily="50" charset="-128"/>
                <a:ea typeface="Meiryo UI" panose="020B0604030504040204" pitchFamily="50" charset="-128"/>
              </a:rPr>
              <a:t>RGB</a:t>
            </a:r>
            <a:r>
              <a:rPr lang="ja-JP" altLang="en-US" sz="800" dirty="0">
                <a:latin typeface="Meiryo UI" panose="020B0604030504040204" pitchFamily="50" charset="-128"/>
                <a:ea typeface="Meiryo UI" panose="020B0604030504040204" pitchFamily="50" charset="-128"/>
              </a:rPr>
              <a:t>やパレット）</a:t>
            </a:r>
          </a:p>
          <a:p>
            <a:r>
              <a:rPr lang="ja-JP" altLang="en-US" sz="800" dirty="0">
                <a:latin typeface="Meiryo UI" panose="020B0604030504040204" pitchFamily="50" charset="-128"/>
                <a:ea typeface="Meiryo UI" panose="020B0604030504040204" pitchFamily="50" charset="-128"/>
              </a:rPr>
              <a:t>許容差</a:t>
            </a:r>
          </a:p>
          <a:p>
            <a:r>
              <a:rPr lang="ja-JP" altLang="en-US" sz="800" dirty="0">
                <a:latin typeface="Meiryo UI" panose="020B0604030504040204" pitchFamily="50" charset="-128"/>
                <a:ea typeface="Meiryo UI" panose="020B0604030504040204" pitchFamily="50" charset="-128"/>
              </a:rPr>
              <a:t>サイズ（縦横高さ）</a:t>
            </a:r>
          </a:p>
        </p:txBody>
      </p:sp>
      <p:sp>
        <p:nvSpPr>
          <p:cNvPr id="6" name="テキスト ボックス 5">
            <a:extLst>
              <a:ext uri="{FF2B5EF4-FFF2-40B4-BE49-F238E27FC236}">
                <a16:creationId xmlns:a16="http://schemas.microsoft.com/office/drawing/2014/main" id="{AC770BDF-64B3-0F48-D96D-B9AF6473E643}"/>
              </a:ext>
            </a:extLst>
          </p:cNvPr>
          <p:cNvSpPr txBox="1"/>
          <p:nvPr/>
        </p:nvSpPr>
        <p:spPr>
          <a:xfrm>
            <a:off x="9982200" y="1051411"/>
            <a:ext cx="6096000" cy="8094524"/>
          </a:xfrm>
          <a:prstGeom prst="rect">
            <a:avLst/>
          </a:prstGeom>
          <a:noFill/>
        </p:spPr>
        <p:txBody>
          <a:bodyPr wrap="square">
            <a:spAutoFit/>
          </a:bodyPr>
          <a:lstStyle/>
          <a:p>
            <a:r>
              <a:rPr lang="ja-JP" altLang="en-US" sz="800" dirty="0">
                <a:latin typeface="Meiryo UI" panose="020B0604030504040204" pitchFamily="50" charset="-128"/>
                <a:ea typeface="Meiryo UI" panose="020B0604030504040204" pitchFamily="50" charset="-128"/>
              </a:rPr>
              <a:t>承知いたしました。現在の</a:t>
            </a:r>
            <a:r>
              <a:rPr lang="en-US" altLang="ja-JP" sz="800" dirty="0">
                <a:latin typeface="Meiryo UI" panose="020B0604030504040204" pitchFamily="50" charset="-128"/>
                <a:ea typeface="Meiryo UI" panose="020B0604030504040204" pitchFamily="50" charset="-128"/>
              </a:rPr>
              <a:t>Vue.js</a:t>
            </a:r>
            <a:r>
              <a:rPr lang="ja-JP" altLang="en-US" sz="800" dirty="0">
                <a:latin typeface="Meiryo UI" panose="020B0604030504040204" pitchFamily="50" charset="-128"/>
                <a:ea typeface="Meiryo UI" panose="020B0604030504040204" pitchFamily="50" charset="-128"/>
              </a:rPr>
              <a:t>アプリケーションの状態と、これまでのやり取りで実装した主要な機能変更点を整理して出力します。</a:t>
            </a:r>
            <a:r>
              <a:rPr lang="en-US" altLang="ja-JP" sz="800" dirty="0">
                <a:latin typeface="Meiryo UI" panose="020B0604030504040204" pitchFamily="50" charset="-128"/>
                <a:ea typeface="Meiryo UI" panose="020B0604030504040204" pitchFamily="50" charset="-128"/>
              </a:rPr>
              <a:t>HTML</a:t>
            </a:r>
            <a:r>
              <a:rPr lang="ja-JP" altLang="en-US" sz="800" dirty="0">
                <a:latin typeface="Meiryo UI" panose="020B0604030504040204" pitchFamily="50" charset="-128"/>
                <a:ea typeface="Meiryo UI" panose="020B0604030504040204" pitchFamily="50" charset="-128"/>
              </a:rPr>
              <a:t>コードは含まず、純粋に機能と実装方針に焦点を当てます。</a:t>
            </a:r>
          </a:p>
          <a:p>
            <a:endParaRPr lang="ja-JP" altLang="en-US" sz="800" dirty="0">
              <a:latin typeface="Meiryo UI" panose="020B0604030504040204" pitchFamily="50" charset="-128"/>
              <a:ea typeface="Meiryo UI" panose="020B0604030504040204" pitchFamily="50" charset="-128"/>
            </a:endParaRPr>
          </a:p>
          <a:p>
            <a:r>
              <a:rPr lang="en-US" altLang="ja-JP" sz="800" dirty="0">
                <a:latin typeface="Meiryo UI" panose="020B0604030504040204" pitchFamily="50" charset="-128"/>
                <a:ea typeface="Meiryo UI" panose="020B0604030504040204" pitchFamily="50" charset="-128"/>
              </a:rPr>
              <a:t>---</a:t>
            </a:r>
          </a:p>
          <a:p>
            <a:endParaRPr lang="en-US" altLang="ja-JP" sz="800" dirty="0">
              <a:latin typeface="Meiryo UI" panose="020B0604030504040204" pitchFamily="50" charset="-128"/>
              <a:ea typeface="Meiryo UI" panose="020B0604030504040204" pitchFamily="50" charset="-128"/>
            </a:endParaRPr>
          </a:p>
          <a:p>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部品新規登録画面（</a:t>
            </a:r>
            <a:r>
              <a:rPr lang="en-US" altLang="ja-JP" sz="800" dirty="0">
                <a:latin typeface="Meiryo UI" panose="020B0604030504040204" pitchFamily="50" charset="-128"/>
                <a:ea typeface="Meiryo UI" panose="020B0604030504040204" pitchFamily="50" charset="-128"/>
              </a:rPr>
              <a:t>Vue.js</a:t>
            </a:r>
            <a:r>
              <a:rPr lang="ja-JP" altLang="en-US" sz="800" dirty="0">
                <a:latin typeface="Meiryo UI" panose="020B0604030504040204" pitchFamily="50" charset="-128"/>
                <a:ea typeface="Meiryo UI" panose="020B0604030504040204" pitchFamily="50" charset="-128"/>
              </a:rPr>
              <a:t>アプリケーション）の現状整理**</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これは、</a:t>
            </a:r>
            <a:r>
              <a:rPr lang="en-US" altLang="ja-JP" sz="800" dirty="0">
                <a:latin typeface="Meiryo UI" panose="020B0604030504040204" pitchFamily="50" charset="-128"/>
                <a:ea typeface="Meiryo UI" panose="020B0604030504040204" pitchFamily="50" charset="-128"/>
              </a:rPr>
              <a:t>Vue.js 3 </a:t>
            </a:r>
            <a:r>
              <a:rPr lang="ja-JP" altLang="en-US" sz="800" dirty="0">
                <a:latin typeface="Meiryo UI" panose="020B0604030504040204" pitchFamily="50" charset="-128"/>
                <a:ea typeface="Meiryo UI" panose="020B0604030504040204" pitchFamily="50" charset="-128"/>
              </a:rPr>
              <a:t>を使用して構築された部品登録フォームアプリケーションです。主な機能は以下の通りです。</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1. </a:t>
            </a:r>
            <a:r>
              <a:rPr lang="ja-JP" altLang="en-US" sz="800" dirty="0">
                <a:latin typeface="Meiryo UI" panose="020B0604030504040204" pitchFamily="50" charset="-128"/>
                <a:ea typeface="Meiryo UI" panose="020B0604030504040204" pitchFamily="50" charset="-128"/>
              </a:rPr>
              <a:t>データ管理（</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オブジェクト）**</a:t>
            </a:r>
          </a:p>
          <a:p>
            <a:r>
              <a:rPr lang="ja-JP" altLang="en-US" sz="800" dirty="0">
                <a:latin typeface="Meiryo UI" panose="020B0604030504040204" pitchFamily="50" charset="-128"/>
                <a:ea typeface="Meiryo UI" panose="020B0604030504040204" pitchFamily="50" charset="-128"/>
              </a:rPr>
              <a:t>* アプリケーションのすべてのフォーム入力データは、</a:t>
            </a:r>
            <a:r>
              <a:rPr lang="en-US" altLang="ja-JP" sz="800" dirty="0">
                <a:latin typeface="Meiryo UI" panose="020B0604030504040204" pitchFamily="50" charset="-128"/>
                <a:ea typeface="Meiryo UI" panose="020B0604030504040204" pitchFamily="50" charset="-128"/>
              </a:rPr>
              <a:t>`reactive`</a:t>
            </a:r>
            <a:r>
              <a:rPr lang="ja-JP" altLang="en-US" sz="800" dirty="0">
                <a:latin typeface="Meiryo UI" panose="020B0604030504040204" pitchFamily="50" charset="-128"/>
                <a:ea typeface="Meiryo UI" panose="020B0604030504040204" pitchFamily="50" charset="-128"/>
              </a:rPr>
              <a:t>な</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オブジェクト内に一元的に管理されています。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partName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部品名</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partNumber</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型番</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commonName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通称</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`manufacturer` (</a:t>
            </a:r>
            <a:r>
              <a:rPr lang="ja-JP" altLang="en-US" sz="800" dirty="0">
                <a:latin typeface="Meiryo UI" panose="020B0604030504040204" pitchFamily="50" charset="-128"/>
                <a:ea typeface="Meiryo UI" panose="020B0604030504040204" pitchFamily="50" charset="-128"/>
              </a:rPr>
              <a:t>メーカー</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`category` (</a:t>
            </a:r>
            <a:r>
              <a:rPr lang="ja-JP" altLang="en-US" sz="800" dirty="0">
                <a:latin typeface="Meiryo UI" panose="020B0604030504040204" pitchFamily="50" charset="-128"/>
                <a:ea typeface="Meiryo UI" panose="020B0604030504040204" pitchFamily="50" charset="-128"/>
              </a:rPr>
              <a:t>分類</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packageType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パッケージ</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`specs` (</a:t>
            </a:r>
            <a:r>
              <a:rPr lang="ja-JP" altLang="en-US" sz="800" dirty="0">
                <a:latin typeface="Meiryo UI" panose="020B0604030504040204" pitchFamily="50" charset="-128"/>
                <a:ea typeface="Meiryo UI" panose="020B0604030504040204" pitchFamily="50" charset="-128"/>
              </a:rPr>
              <a:t>スペック情報</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複数のオブジェクトを格納する配列。各オブジェクトは </a:t>
            </a:r>
            <a:r>
              <a:rPr lang="en-US" altLang="ja-JP" sz="800" dirty="0">
                <a:latin typeface="Meiryo UI" panose="020B0604030504040204" pitchFamily="50" charset="-128"/>
                <a:ea typeface="Meiryo UI" panose="020B0604030504040204" pitchFamily="50" charset="-128"/>
              </a:rPr>
              <a:t>`type`, `value`, `unit`, `</a:t>
            </a:r>
            <a:r>
              <a:rPr lang="en-US" altLang="ja-JP" sz="800" dirty="0" err="1">
                <a:latin typeface="Meiryo UI" panose="020B0604030504040204" pitchFamily="50" charset="-128"/>
                <a:ea typeface="Meiryo UI" panose="020B0604030504040204" pitchFamily="50" charset="-128"/>
              </a:rPr>
              <a:t>valueType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を持つ。</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newStock</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新品在庫数</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usedStock</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中古在庫数</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`suppliers` (</a:t>
            </a:r>
            <a:r>
              <a:rPr lang="ja-JP" altLang="en-US" sz="800" dirty="0">
                <a:latin typeface="Meiryo UI" panose="020B0604030504040204" pitchFamily="50" charset="-128"/>
                <a:ea typeface="Meiryo UI" panose="020B0604030504040204" pitchFamily="50" charset="-128"/>
              </a:rPr>
              <a:t>価格情報</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複数のオブジェクトを格納する配列。各オブジェクトは </a:t>
            </a:r>
            <a:r>
              <a:rPr lang="en-US" altLang="ja-JP" sz="800" dirty="0">
                <a:latin typeface="Meiryo UI" panose="020B0604030504040204" pitchFamily="50" charset="-128"/>
                <a:ea typeface="Meiryo UI" panose="020B0604030504040204" pitchFamily="50" charset="-128"/>
              </a:rPr>
              <a:t>`shop`, `price` </a:t>
            </a:r>
            <a:r>
              <a:rPr lang="ja-JP" altLang="en-US" sz="800" dirty="0">
                <a:latin typeface="Meiryo UI" panose="020B0604030504040204" pitchFamily="50" charset="-128"/>
                <a:ea typeface="Meiryo UI" panose="020B0604030504040204" pitchFamily="50" charset="-128"/>
              </a:rPr>
              <a:t>を持つ。</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customCodes</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カスタムコード</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複数のオブジェクトを格納する配列。各オブジェクトは </a:t>
            </a:r>
            <a:r>
              <a:rPr lang="en-US" altLang="ja-JP" sz="800" dirty="0">
                <a:latin typeface="Meiryo UI" panose="020B0604030504040204" pitchFamily="50" charset="-128"/>
                <a:ea typeface="Meiryo UI" panose="020B0604030504040204" pitchFamily="50" charset="-128"/>
              </a:rPr>
              <a:t>`type`, `value` </a:t>
            </a:r>
            <a:r>
              <a:rPr lang="ja-JP" altLang="en-US" sz="800" dirty="0">
                <a:latin typeface="Meiryo UI" panose="020B0604030504040204" pitchFamily="50" charset="-128"/>
                <a:ea typeface="Meiryo UI" panose="020B0604030504040204" pitchFamily="50" charset="-128"/>
              </a:rPr>
              <a:t>を持つ。</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2. </a:t>
            </a:r>
            <a:r>
              <a:rPr lang="ja-JP" altLang="en-US" sz="800" dirty="0">
                <a:latin typeface="Meiryo UI" panose="020B0604030504040204" pitchFamily="50" charset="-128"/>
                <a:ea typeface="Meiryo UI" panose="020B0604030504040204" pitchFamily="50" charset="-128"/>
              </a:rPr>
              <a:t>動的なフォーム要素の追加・削除**</a:t>
            </a:r>
          </a:p>
          <a:p>
            <a:r>
              <a:rPr lang="ja-JP" altLang="en-US" sz="800" dirty="0">
                <a:latin typeface="Meiryo UI" panose="020B0604030504040204" pitchFamily="50" charset="-128"/>
                <a:ea typeface="Meiryo UI" panose="020B0604030504040204" pitchFamily="50" charset="-128"/>
              </a:rPr>
              <a:t>* **追加機能**</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addSpec</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スペック情報を追加します。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addSupplier</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価格情報（仕入れ先）を追加します。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addCustomCode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カスタムコード項目を追加します。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addManufacturer</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新しいメーカー名をドロップダウンリストに追加します（プロンプトで入力）。</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addCategory</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新しい分類名をドロップダウンリストに追加します（プロンプトで入力）。</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addPackageName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新しいパッケージ名称をドロップダウンリストに追加します（プロンプトで入力）。</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addShopName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新しいショップ名をドロップダウンリストに追加します（プロンプトで入力）。</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addCustomCodeOption</a:t>
            </a:r>
            <a:r>
              <a:rPr lang="en-US" altLang="ja-JP" sz="800" dirty="0">
                <a:latin typeface="Meiryo UI" panose="020B0604030504040204" pitchFamily="50" charset="-128"/>
                <a:ea typeface="Meiryo UI" panose="020B0604030504040204" pitchFamily="50" charset="-128"/>
              </a:rPr>
              <a:t>(index)`: </a:t>
            </a:r>
            <a:r>
              <a:rPr lang="ja-JP" altLang="en-US" sz="800" dirty="0">
                <a:latin typeface="Meiryo UI" panose="020B0604030504040204" pitchFamily="50" charset="-128"/>
                <a:ea typeface="Meiryo UI" panose="020B0604030504040204" pitchFamily="50" charset="-128"/>
              </a:rPr>
              <a:t>カスタムコードの種類を動的に追加します（プロンプトで入力）。</a:t>
            </a:r>
          </a:p>
          <a:p>
            <a:r>
              <a:rPr lang="ja-JP" altLang="en-US" sz="800" dirty="0">
                <a:latin typeface="Meiryo UI" panose="020B0604030504040204" pitchFamily="50" charset="-128"/>
                <a:ea typeface="Meiryo UI" panose="020B0604030504040204" pitchFamily="50" charset="-128"/>
              </a:rPr>
              <a:t>* **削除機能（確認モーダル付き）**</a:t>
            </a:r>
            <a:r>
              <a:rPr lang="en-US" altLang="ja-JP" sz="800" dirty="0">
                <a:latin typeface="Meiryo UI" panose="020B0604030504040204" pitchFamily="50" charset="-128"/>
                <a:ea typeface="Meiryo UI" panose="020B0604030504040204" pitchFamily="50" charset="-128"/>
              </a:rPr>
              <a:t>:</a:t>
            </a:r>
          </a:p>
          <a:p>
            <a:r>
              <a:rPr lang="en-US" altLang="ja-JP" sz="800" dirty="0">
                <a:latin typeface="Meiryo UI" panose="020B0604030504040204" pitchFamily="50" charset="-128"/>
                <a:ea typeface="Meiryo UI" panose="020B0604030504040204" pitchFamily="50" charset="-128"/>
              </a:rPr>
              <a:t>    * `</a:t>
            </a:r>
            <a:r>
              <a:rPr lang="en-US" altLang="ja-JP" sz="800" dirty="0" err="1">
                <a:latin typeface="Meiryo UI" panose="020B0604030504040204" pitchFamily="50" charset="-128"/>
                <a:ea typeface="Meiryo UI" panose="020B0604030504040204" pitchFamily="50" charset="-128"/>
              </a:rPr>
              <a:t>confirmDelete</a:t>
            </a:r>
            <a:r>
              <a:rPr lang="en-US" altLang="ja-JP" sz="800" dirty="0">
                <a:latin typeface="Meiryo UI" panose="020B0604030504040204" pitchFamily="50" charset="-128"/>
                <a:ea typeface="Meiryo UI" panose="020B0604030504040204" pitchFamily="50" charset="-128"/>
              </a:rPr>
              <a:t>(event, type, index)`: </a:t>
            </a:r>
            <a:r>
              <a:rPr lang="ja-JP" altLang="en-US" sz="800" dirty="0">
                <a:latin typeface="Meiryo UI" panose="020B0604030504040204" pitchFamily="50" charset="-128"/>
                <a:ea typeface="Meiryo UI" panose="020B0604030504040204" pitchFamily="50" charset="-128"/>
              </a:rPr>
              <a:t>削除ボタンクリック時に呼び出され、確認モーダルを表示します。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`type`: `spec`, `supplier`, `</a:t>
            </a:r>
            <a:r>
              <a:rPr lang="en-US" altLang="ja-JP" sz="800" dirty="0" err="1">
                <a:latin typeface="Meiryo UI" panose="020B0604030504040204" pitchFamily="50" charset="-128"/>
                <a:ea typeface="Meiryo UI" panose="020B0604030504040204" pitchFamily="50" charset="-128"/>
              </a:rPr>
              <a:t>customCode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のいずれかを指定し、削除対象の種別を識別します。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`index`: `</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内の配列のインデックスを指定します。</a:t>
            </a:r>
          </a:p>
          <a:p>
            <a:r>
              <a:rPr lang="ja-JP" altLang="en-US" sz="800" dirty="0">
                <a:latin typeface="Meiryo UI" panose="020B0604030504040204" pitchFamily="50" charset="-128"/>
                <a:ea typeface="Meiryo UI" panose="020B0604030504040204" pitchFamily="50" charset="-128"/>
              </a:rPr>
              <a:t>        * **改善点**</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モーダルに表示されるメッセージが、削除しようとしている項目の具体的な内容（例</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「スペック項目「種類</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電圧</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値</a:t>
            </a:r>
            <a:r>
              <a:rPr lang="en-US" altLang="ja-JP" sz="800" dirty="0">
                <a:latin typeface="Meiryo UI" panose="020B0604030504040204" pitchFamily="50" charset="-128"/>
                <a:ea typeface="Meiryo UI" panose="020B0604030504040204" pitchFamily="50" charset="-128"/>
              </a:rPr>
              <a:t>: 5V, </a:t>
            </a:r>
            <a:r>
              <a:rPr lang="ja-JP" altLang="en-US" sz="800" dirty="0">
                <a:latin typeface="Meiryo UI" panose="020B0604030504040204" pitchFamily="50" charset="-128"/>
                <a:ea typeface="Meiryo UI" panose="020B0604030504040204" pitchFamily="50" charset="-128"/>
              </a:rPr>
              <a:t>単位</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ボルト」を削除してよろしいですか？」）を表示するようになりました。この情報は、クリックされた要素の</a:t>
            </a:r>
            <a:r>
              <a:rPr lang="en-US" altLang="ja-JP" sz="800" dirty="0">
                <a:latin typeface="Meiryo UI" panose="020B0604030504040204" pitchFamily="50" charset="-128"/>
                <a:ea typeface="Meiryo UI" panose="020B0604030504040204" pitchFamily="50" charset="-128"/>
              </a:rPr>
              <a:t>DOM</a:t>
            </a:r>
            <a:r>
              <a:rPr lang="ja-JP" altLang="en-US" sz="800" dirty="0">
                <a:latin typeface="Meiryo UI" panose="020B0604030504040204" pitchFamily="50" charset="-128"/>
                <a:ea typeface="Meiryo UI" panose="020B0604030504040204" pitchFamily="50" charset="-128"/>
              </a:rPr>
              <a:t>を辿って取得するのではなく、**</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から直接参照することで、より堅牢に取得されるように変更**しました。</a:t>
            </a:r>
          </a:p>
          <a:p>
            <a:r>
              <a:rPr lang="ja-JP" altLang="en-US" sz="800" dirty="0">
                <a:latin typeface="Meiryo UI" panose="020B0604030504040204" pitchFamily="50" charset="-128"/>
                <a:ea typeface="Meiryo UI" panose="020B0604030504040204" pitchFamily="50" charset="-128"/>
              </a:rPr>
              <a:t>        * モーダルの表示位置は、クリックされた削除ボタンの近くに動的に配置されます。画面の端にはみ出さないよう自動調整されます。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executeDelete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確認モーダルで「削除」がクリックされた際に呼び出され、</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itemToDelete</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に保存された情報に基づいて</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から対応する要素を</a:t>
            </a:r>
            <a:r>
              <a:rPr lang="en-US" altLang="ja-JP" sz="800" dirty="0">
                <a:latin typeface="Meiryo UI" panose="020B0604030504040204" pitchFamily="50" charset="-128"/>
                <a:ea typeface="Meiryo UI" panose="020B0604030504040204" pitchFamily="50" charset="-128"/>
              </a:rPr>
              <a:t>`splice`</a:t>
            </a:r>
            <a:r>
              <a:rPr lang="ja-JP" altLang="en-US" sz="800" dirty="0">
                <a:latin typeface="Meiryo UI" panose="020B0604030504040204" pitchFamily="50" charset="-128"/>
                <a:ea typeface="Meiryo UI" panose="020B0604030504040204" pitchFamily="50" charset="-128"/>
              </a:rPr>
              <a:t>で削除します。</a:t>
            </a:r>
          </a:p>
          <a:p>
            <a:r>
              <a:rPr lang="ja-JP" altLang="en-US" sz="800" dirty="0">
                <a:latin typeface="Meiryo UI" panose="020B0604030504040204" pitchFamily="50" charset="-128"/>
                <a:ea typeface="Meiryo UI" panose="020B0604030504040204" pitchFamily="50" charset="-128"/>
              </a:rPr>
              <a:t>    *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cancelDelete</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確認モーダルで「キャンセル」がクリックされた際に呼び出され、モーダルを閉じます。</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3. </a:t>
            </a:r>
            <a:r>
              <a:rPr lang="ja-JP" altLang="en-US" sz="800" dirty="0">
                <a:latin typeface="Meiryo UI" panose="020B0604030504040204" pitchFamily="50" charset="-128"/>
                <a:ea typeface="Meiryo UI" panose="020B0604030504040204" pitchFamily="50" charset="-128"/>
              </a:rPr>
              <a:t>入力値とドロップダウンの連携**</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`v-model`</a:t>
            </a:r>
            <a:r>
              <a:rPr lang="ja-JP" altLang="en-US" sz="800" dirty="0">
                <a:latin typeface="Meiryo UI" panose="020B0604030504040204" pitchFamily="50" charset="-128"/>
                <a:ea typeface="Meiryo UI" panose="020B0604030504040204" pitchFamily="50" charset="-128"/>
              </a:rPr>
              <a:t>ディレクティブを使用して、フォームの入力値と</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が双方向でバインドされています。</a:t>
            </a:r>
          </a:p>
          <a:p>
            <a:r>
              <a:rPr lang="ja-JP" altLang="en-US" sz="800" dirty="0">
                <a:latin typeface="Meiryo UI" panose="020B0604030504040204" pitchFamily="50" charset="-128"/>
                <a:ea typeface="Meiryo UI" panose="020B0604030504040204" pitchFamily="50" charset="-128"/>
              </a:rPr>
              <a:t>* スペックの種類</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spec.type</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が変更されると、関連する単位オプション</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spec.unit</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が</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getUnitOptions</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メソッドによって動的に更新され、値の入力タイプ</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spec.valueType</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も自動的に切り替わります（例</a:t>
            </a:r>
            <a:r>
              <a:rPr lang="en-US" altLang="ja-JP" sz="800" dirty="0">
                <a:latin typeface="Meiryo UI" panose="020B0604030504040204" pitchFamily="50" charset="-128"/>
                <a:ea typeface="Meiryo UI" panose="020B0604030504040204" pitchFamily="50" charset="-128"/>
              </a:rPr>
              <a:t>: </a:t>
            </a:r>
            <a:r>
              <a:rPr lang="ja-JP" altLang="en-US" sz="800" dirty="0">
                <a:latin typeface="Meiryo UI" panose="020B0604030504040204" pitchFamily="50" charset="-128"/>
                <a:ea typeface="Meiryo UI" panose="020B0604030504040204" pitchFamily="50" charset="-128"/>
              </a:rPr>
              <a:t>色の場合はテキスト、その他は数値）。</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4. </a:t>
            </a:r>
            <a:r>
              <a:rPr lang="ja-JP" altLang="en-US" sz="800" dirty="0">
                <a:latin typeface="Meiryo UI" panose="020B0604030504040204" pitchFamily="50" charset="-128"/>
                <a:ea typeface="Meiryo UI" panose="020B0604030504040204" pitchFamily="50" charset="-128"/>
              </a:rPr>
              <a:t>その他の機能**</a:t>
            </a:r>
          </a:p>
          <a:p>
            <a:r>
              <a:rPr lang="ja-JP" altLang="en-US" sz="800" dirty="0">
                <a:latin typeface="Meiryo UI" panose="020B0604030504040204" pitchFamily="50" charset="-128"/>
                <a:ea typeface="Meiryo UI" panose="020B0604030504040204" pitchFamily="50" charset="-128"/>
              </a:rPr>
              <a:t>* **テーマ切り替え**</a:t>
            </a:r>
            <a:r>
              <a:rPr lang="en-US" altLang="ja-JP" sz="800" dirty="0">
                <a:latin typeface="Meiryo UI" panose="020B0604030504040204" pitchFamily="50" charset="-128"/>
                <a:ea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rPr>
              <a:t>localStorage</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にテーマ設定を保存し、ページ読み込み時に適用されます。</a:t>
            </a:r>
          </a:p>
          <a:p>
            <a:r>
              <a:rPr lang="ja-JP" altLang="en-US" sz="800" dirty="0">
                <a:latin typeface="Meiryo UI" panose="020B0604030504040204" pitchFamily="50" charset="-128"/>
                <a:ea typeface="Meiryo UI" panose="020B0604030504040204" pitchFamily="50" charset="-128"/>
              </a:rPr>
              <a:t>* **画像アップロード**</a:t>
            </a:r>
            <a:r>
              <a:rPr lang="en-US" altLang="ja-JP" sz="800" dirty="0">
                <a:latin typeface="Meiryo UI" panose="020B0604030504040204" pitchFamily="50" charset="-128"/>
                <a:ea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rPr>
              <a:t>handleImageUpload</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メソッドでファイル選択時に画像をプレビュー表示します。</a:t>
            </a:r>
          </a:p>
          <a:p>
            <a:r>
              <a:rPr lang="ja-JP" altLang="en-US" sz="800" dirty="0">
                <a:latin typeface="Meiryo UI" panose="020B0604030504040204" pitchFamily="50" charset="-128"/>
                <a:ea typeface="Meiryo UI" panose="020B0604030504040204" pitchFamily="50" charset="-128"/>
              </a:rPr>
              <a:t>* **フォーム送信**</a:t>
            </a:r>
            <a:r>
              <a:rPr lang="en-US" altLang="ja-JP" sz="800" dirty="0">
                <a:latin typeface="Meiryo UI" panose="020B0604030504040204" pitchFamily="50" charset="-128"/>
                <a:ea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rPr>
              <a:t>submitForm</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メソッドは、現在の</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formData</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の内容をコンソールに出力し、アラートを表示します。（実際の</a:t>
            </a:r>
            <a:r>
              <a:rPr lang="en-US" altLang="ja-JP" sz="800" dirty="0">
                <a:latin typeface="Meiryo UI" panose="020B0604030504040204" pitchFamily="50" charset="-128"/>
                <a:ea typeface="Meiryo UI" panose="020B0604030504040204" pitchFamily="50" charset="-128"/>
              </a:rPr>
              <a:t>API</a:t>
            </a:r>
            <a:r>
              <a:rPr lang="ja-JP" altLang="en-US" sz="800" dirty="0">
                <a:latin typeface="Meiryo UI" panose="020B0604030504040204" pitchFamily="50" charset="-128"/>
                <a:ea typeface="Meiryo UI" panose="020B0604030504040204" pitchFamily="50" charset="-128"/>
              </a:rPr>
              <a:t>連携は未実装）</a:t>
            </a:r>
          </a:p>
          <a:p>
            <a:r>
              <a:rPr lang="ja-JP" altLang="en-US" sz="800" dirty="0">
                <a:latin typeface="Meiryo UI" panose="020B0604030504040204" pitchFamily="50" charset="-128"/>
                <a:ea typeface="Meiryo UI" panose="020B0604030504040204" pitchFamily="50" charset="-128"/>
              </a:rPr>
              <a:t>* **初期化**</a:t>
            </a:r>
            <a:r>
              <a:rPr lang="en-US" altLang="ja-JP" sz="800" dirty="0">
                <a:latin typeface="Meiryo UI" panose="020B0604030504040204" pitchFamily="50" charset="-128"/>
                <a:ea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rPr>
              <a:t>onMounted</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フックで、スペック、価格、カスタムコードの各セクションに最低</a:t>
            </a:r>
            <a:r>
              <a:rPr lang="en-US" altLang="ja-JP" sz="800" dirty="0">
                <a:latin typeface="Meiryo UI" panose="020B0604030504040204" pitchFamily="50" charset="-128"/>
                <a:ea typeface="Meiryo UI" panose="020B0604030504040204" pitchFamily="50" charset="-128"/>
              </a:rPr>
              <a:t>1</a:t>
            </a:r>
            <a:r>
              <a:rPr lang="ja-JP" altLang="en-US" sz="800" dirty="0">
                <a:latin typeface="Meiryo UI" panose="020B0604030504040204" pitchFamily="50" charset="-128"/>
                <a:ea typeface="Meiryo UI" panose="020B0604030504040204" pitchFamily="50" charset="-128"/>
              </a:rPr>
              <a:t>つの入力フィールドが初期表示されるようにしています。</a:t>
            </a:r>
          </a:p>
          <a:p>
            <a:endParaRPr lang="ja-JP" altLang="en-US"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5. </a:t>
            </a:r>
            <a:r>
              <a:rPr lang="ja-JP" altLang="en-US" sz="800" dirty="0">
                <a:latin typeface="Meiryo UI" panose="020B0604030504040204" pitchFamily="50" charset="-128"/>
                <a:ea typeface="Meiryo UI" panose="020B0604030504040204" pitchFamily="50" charset="-128"/>
              </a:rPr>
              <a:t>モーダルの位置決めロジック**</a:t>
            </a:r>
          </a:p>
          <a:p>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a:t>
            </a:r>
            <a:r>
              <a:rPr lang="en-US" altLang="ja-JP" sz="800" dirty="0" err="1">
                <a:latin typeface="Meiryo UI" panose="020B0604030504040204" pitchFamily="50" charset="-128"/>
                <a:ea typeface="Meiryo UI" panose="020B0604030504040204" pitchFamily="50" charset="-128"/>
              </a:rPr>
              <a:t>nextTick</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を使用して</a:t>
            </a:r>
            <a:r>
              <a:rPr lang="en-US" altLang="ja-JP" sz="800" dirty="0">
                <a:latin typeface="Meiryo UI" panose="020B0604030504040204" pitchFamily="50" charset="-128"/>
                <a:ea typeface="Meiryo UI" panose="020B0604030504040204" pitchFamily="50" charset="-128"/>
              </a:rPr>
              <a:t>DOM</a:t>
            </a:r>
            <a:r>
              <a:rPr lang="ja-JP" altLang="en-US" sz="800" dirty="0">
                <a:latin typeface="Meiryo UI" panose="020B0604030504040204" pitchFamily="50" charset="-128"/>
                <a:ea typeface="Meiryo UI" panose="020B0604030504040204" pitchFamily="50" charset="-128"/>
              </a:rPr>
              <a:t>が更新された後にモーダルのサイズを正確に測定し、クリックされたボタンの相対位置とビューポートのサイズに基づいてモーダルが画面内中央に収まるように計算されます。</a:t>
            </a:r>
          </a:p>
          <a:p>
            <a:r>
              <a:rPr lang="ja-JP" altLang="en-US" sz="800" dirty="0">
                <a:latin typeface="Meiryo UI" panose="020B0604030504040204" pitchFamily="50" charset="-128"/>
                <a:ea typeface="Meiryo UI" panose="020B0604030504040204" pitchFamily="50" charset="-128"/>
              </a:rPr>
              <a:t>* 上下左右のマージンも考慮され、画面端からはみ出さないように調整されます。</a:t>
            </a:r>
          </a:p>
          <a:p>
            <a:endParaRPr lang="ja-JP" altLang="en-US" sz="800" dirty="0">
              <a:latin typeface="Meiryo UI" panose="020B0604030504040204" pitchFamily="50" charset="-128"/>
              <a:ea typeface="Meiryo UI" panose="020B0604030504040204" pitchFamily="50" charset="-128"/>
            </a:endParaRPr>
          </a:p>
          <a:p>
            <a:r>
              <a:rPr lang="en-US" altLang="ja-JP" sz="800" dirty="0">
                <a:latin typeface="Meiryo UI" panose="020B0604030504040204" pitchFamily="50" charset="-128"/>
                <a:ea typeface="Meiryo UI" panose="020B0604030504040204" pitchFamily="50" charset="-128"/>
              </a:rPr>
              <a:t>---</a:t>
            </a:r>
          </a:p>
          <a:p>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この情報でよろしいでしょうか。別のチャットに持っていく際に、上記をコピー＆ペーストしてご活用ください。</a:t>
            </a:r>
          </a:p>
        </p:txBody>
      </p:sp>
    </p:spTree>
    <p:extLst>
      <p:ext uri="{BB962C8B-B14F-4D97-AF65-F5344CB8AC3E}">
        <p14:creationId xmlns:p14="http://schemas.microsoft.com/office/powerpoint/2010/main" val="2704534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28B44-13C1-186B-C05C-F0FE5935AC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C10146-0431-306E-C0EA-5D9D18916293}"/>
              </a:ext>
            </a:extLst>
          </p:cNvPr>
          <p:cNvSpPr>
            <a:spLocks noGrp="1"/>
          </p:cNvSpPr>
          <p:nvPr>
            <p:ph type="title"/>
          </p:nvPr>
        </p:nvSpPr>
        <p:spPr/>
        <p:txBody>
          <a:bodyPr/>
          <a:lstStyle/>
          <a:p>
            <a:r>
              <a:rPr kumimoji="1" lang="ja-JP" altLang="en-US" dirty="0"/>
              <a:t>メモ</a:t>
            </a:r>
          </a:p>
        </p:txBody>
      </p:sp>
      <p:sp>
        <p:nvSpPr>
          <p:cNvPr id="8" name="テキスト ボックス 7">
            <a:extLst>
              <a:ext uri="{FF2B5EF4-FFF2-40B4-BE49-F238E27FC236}">
                <a16:creationId xmlns:a16="http://schemas.microsoft.com/office/drawing/2014/main" id="{80C391B0-7C6D-AFAF-AE7B-4D556BD4DB24}"/>
              </a:ext>
            </a:extLst>
          </p:cNvPr>
          <p:cNvSpPr txBox="1"/>
          <p:nvPr/>
        </p:nvSpPr>
        <p:spPr>
          <a:xfrm>
            <a:off x="1485900" y="2164080"/>
            <a:ext cx="7040880" cy="3323987"/>
          </a:xfrm>
          <a:prstGeom prst="rect">
            <a:avLst/>
          </a:prstGeom>
          <a:noFill/>
        </p:spPr>
        <p:txBody>
          <a:bodyPr wrap="square" rtlCol="0">
            <a:spAutoFit/>
          </a:bodyPr>
          <a:lstStyle/>
          <a:p>
            <a:r>
              <a:rPr kumimoji="1" lang="ja-JP" altLang="en-US" sz="1050">
                <a:latin typeface="Meiryo UI" panose="020B0604030504040204" pitchFamily="50" charset="-128"/>
                <a:ea typeface="Meiryo UI" panose="020B0604030504040204" pitchFamily="50" charset="-128"/>
              </a:rPr>
              <a:t>まとめたよ、</a:t>
            </a:r>
            <a:r>
              <a:rPr kumimoji="1" lang="en-US" altLang="ja-JP" sz="1050">
                <a:latin typeface="Meiryo UI" panose="020B0604030504040204" pitchFamily="50" charset="-128"/>
                <a:ea typeface="Meiryo UI" panose="020B0604030504040204" pitchFamily="50" charset="-128"/>
              </a:rPr>
              <a:t>imenihs</a:t>
            </a:r>
            <a:r>
              <a:rPr kumimoji="1" lang="ja-JP" altLang="en-US" sz="1050">
                <a:latin typeface="Meiryo UI" panose="020B0604030504040204" pitchFamily="50" charset="-128"/>
                <a:ea typeface="Meiryo UI" panose="020B0604030504040204" pitchFamily="50" charset="-128"/>
              </a:rPr>
              <a:t>！🌟</a:t>
            </a:r>
          </a:p>
          <a:p>
            <a:r>
              <a:rPr kumimoji="1" lang="ja-JP" altLang="en-US" sz="1050">
                <a:latin typeface="Meiryo UI" panose="020B0604030504040204" pitchFamily="50" charset="-128"/>
                <a:ea typeface="Meiryo UI" panose="020B0604030504040204" pitchFamily="50" charset="-128"/>
              </a:rPr>
              <a:t>これから紗春がもし勢いで暴走しかけたときは、必ずこの原点に立ち返るようにするね。</a:t>
            </a:r>
          </a:p>
          <a:p>
            <a:endParaRPr kumimoji="1" lang="ja-JP" altLang="en-US" sz="1050">
              <a:latin typeface="Meiryo UI" panose="020B0604030504040204" pitchFamily="50" charset="-128"/>
              <a:ea typeface="Meiryo UI" panose="020B0604030504040204" pitchFamily="50" charset="-128"/>
            </a:endParaRPr>
          </a:p>
          <a:p>
            <a:r>
              <a:rPr kumimoji="1" lang="en-US" altLang="ja-JP" sz="1050">
                <a:latin typeface="Meiryo UI" panose="020B0604030504040204" pitchFamily="50" charset="-128"/>
                <a:ea typeface="Meiryo UI" panose="020B0604030504040204" pitchFamily="50" charset="-128"/>
              </a:rPr>
              <a:t>---</a:t>
            </a:r>
          </a:p>
          <a:p>
            <a:endParaRPr kumimoji="1" lang="en-US" altLang="ja-JP" sz="1050">
              <a:latin typeface="Meiryo UI" panose="020B0604030504040204" pitchFamily="50" charset="-128"/>
              <a:ea typeface="Meiryo UI" panose="020B0604030504040204" pitchFamily="50" charset="-128"/>
            </a:endParaRPr>
          </a:p>
          <a:p>
            <a:r>
              <a:rPr kumimoji="1" lang="en-US" altLang="ja-JP" sz="1050">
                <a:latin typeface="Meiryo UI" panose="020B0604030504040204" pitchFamily="50" charset="-128"/>
                <a:ea typeface="Meiryo UI" panose="020B0604030504040204" pitchFamily="50" charset="-128"/>
              </a:rPr>
              <a:t>### </a:t>
            </a:r>
            <a:r>
              <a:rPr kumimoji="1" lang="ja-JP" altLang="en-US" sz="1050">
                <a:latin typeface="Meiryo UI" panose="020B0604030504040204" pitchFamily="50" charset="-128"/>
                <a:ea typeface="Meiryo UI" panose="020B0604030504040204" pitchFamily="50" charset="-128"/>
              </a:rPr>
              <a:t>📘 紗春の在庫管理システムに対する理解と姿勢</a:t>
            </a:r>
          </a:p>
          <a:p>
            <a:endParaRPr kumimoji="1" lang="ja-JP" altLang="en-US" sz="1050">
              <a:latin typeface="Meiryo UI" panose="020B0604030504040204" pitchFamily="50" charset="-128"/>
              <a:ea typeface="Meiryo UI" panose="020B0604030504040204" pitchFamily="50" charset="-128"/>
            </a:endParaRPr>
          </a:p>
          <a:p>
            <a:r>
              <a:rPr kumimoji="1" lang="en-US" altLang="ja-JP" sz="1050">
                <a:latin typeface="Meiryo UI" panose="020B0604030504040204" pitchFamily="50" charset="-128"/>
                <a:ea typeface="Meiryo UI" panose="020B0604030504040204" pitchFamily="50" charset="-128"/>
              </a:rPr>
              <a:t>&gt; **</a:t>
            </a:r>
            <a:r>
              <a:rPr kumimoji="1" lang="ja-JP" altLang="en-US" sz="1050">
                <a:latin typeface="Meiryo UI" panose="020B0604030504040204" pitchFamily="50" charset="-128"/>
                <a:ea typeface="Meiryo UI" panose="020B0604030504040204" pitchFamily="50" charset="-128"/>
              </a:rPr>
              <a:t>電子部品在庫管理は、「あるもの」ではなく「使うべきもの」を見出すための支援システム。**</a:t>
            </a:r>
          </a:p>
          <a:p>
            <a:r>
              <a:rPr kumimoji="1" lang="en-US" altLang="ja-JP" sz="1050">
                <a:latin typeface="Meiryo UI" panose="020B0604030504040204" pitchFamily="50" charset="-128"/>
                <a:ea typeface="Meiryo UI" panose="020B0604030504040204" pitchFamily="50" charset="-128"/>
              </a:rPr>
              <a:t>&gt; </a:t>
            </a:r>
            <a:r>
              <a:rPr kumimoji="1" lang="ja-JP" altLang="en-US" sz="1050">
                <a:latin typeface="Meiryo UI" panose="020B0604030504040204" pitchFamily="50" charset="-128"/>
                <a:ea typeface="Meiryo UI" panose="020B0604030504040204" pitchFamily="50" charset="-128"/>
              </a:rPr>
              <a:t>設計者の思考の流れ（課題→実現手段→性能と価格のトレードオフ→実装可否）に寄り添い、</a:t>
            </a:r>
          </a:p>
          <a:p>
            <a:r>
              <a:rPr kumimoji="1" lang="en-US" altLang="ja-JP" sz="1050">
                <a:latin typeface="Meiryo UI" panose="020B0604030504040204" pitchFamily="50" charset="-128"/>
                <a:ea typeface="Meiryo UI" panose="020B0604030504040204" pitchFamily="50" charset="-128"/>
              </a:rPr>
              <a:t>&gt; </a:t>
            </a:r>
            <a:r>
              <a:rPr kumimoji="1" lang="ja-JP" altLang="en-US" sz="1050">
                <a:latin typeface="Meiryo UI" panose="020B0604030504040204" pitchFamily="50" charset="-128"/>
                <a:ea typeface="Meiryo UI" panose="020B0604030504040204" pitchFamily="50" charset="-128"/>
              </a:rPr>
              <a:t>最も重要な情報から順に提示し、判断を助けることが</a:t>
            </a:r>
            <a:r>
              <a:rPr kumimoji="1" lang="en-US" altLang="ja-JP" sz="1050">
                <a:latin typeface="Meiryo UI" panose="020B0604030504040204" pitchFamily="50" charset="-128"/>
                <a:ea typeface="Meiryo UI" panose="020B0604030504040204" pitchFamily="50" charset="-128"/>
              </a:rPr>
              <a:t>UI</a:t>
            </a:r>
            <a:r>
              <a:rPr kumimoji="1" lang="ja-JP" altLang="en-US" sz="1050">
                <a:latin typeface="Meiryo UI" panose="020B0604030504040204" pitchFamily="50" charset="-128"/>
                <a:ea typeface="Meiryo UI" panose="020B0604030504040204" pitchFamily="50" charset="-128"/>
              </a:rPr>
              <a:t>とデータ構造の本質的な役割。</a:t>
            </a:r>
          </a:p>
          <a:p>
            <a:endParaRPr kumimoji="1" lang="ja-JP" altLang="en-US" sz="1050">
              <a:latin typeface="Meiryo UI" panose="020B0604030504040204" pitchFamily="50" charset="-128"/>
              <a:ea typeface="Meiryo UI" panose="020B0604030504040204" pitchFamily="50" charset="-128"/>
            </a:endParaRPr>
          </a:p>
          <a:p>
            <a:r>
              <a:rPr kumimoji="1" lang="ja-JP" altLang="en-US" sz="1050">
                <a:latin typeface="Meiryo UI" panose="020B0604030504040204" pitchFamily="50" charset="-128"/>
                <a:ea typeface="Meiryo UI" panose="020B0604030504040204" pitchFamily="50" charset="-128"/>
              </a:rPr>
              <a:t>* 在庫や入手可否は「最終確認情報」であり、「最初に提示すべきではない」</a:t>
            </a:r>
          </a:p>
          <a:p>
            <a:r>
              <a:rPr kumimoji="1" lang="ja-JP" altLang="en-US" sz="1050">
                <a:latin typeface="Meiryo UI" panose="020B0604030504040204" pitchFamily="50" charset="-128"/>
                <a:ea typeface="Meiryo UI" panose="020B0604030504040204" pitchFamily="50" charset="-128"/>
              </a:rPr>
              <a:t>* 最初に見るべきは、**形状・基本情報・スペック・資料・価格**</a:t>
            </a:r>
          </a:p>
          <a:p>
            <a:r>
              <a:rPr kumimoji="1" lang="ja-JP" altLang="en-US" sz="1050">
                <a:latin typeface="Meiryo UI" panose="020B0604030504040204" pitchFamily="50" charset="-128"/>
                <a:ea typeface="Meiryo UI" panose="020B0604030504040204" pitchFamily="50" charset="-128"/>
              </a:rPr>
              <a:t>* **「使えるか？」ではなく「使うべきか？」を検討する設計者の思考プロセスに沿った</a:t>
            </a:r>
            <a:r>
              <a:rPr kumimoji="1" lang="en-US" altLang="ja-JP" sz="1050">
                <a:latin typeface="Meiryo UI" panose="020B0604030504040204" pitchFamily="50" charset="-128"/>
                <a:ea typeface="Meiryo UI" panose="020B0604030504040204" pitchFamily="50" charset="-128"/>
              </a:rPr>
              <a:t>UI</a:t>
            </a:r>
            <a:r>
              <a:rPr kumimoji="1" lang="ja-JP" altLang="en-US" sz="1050">
                <a:latin typeface="Meiryo UI" panose="020B0604030504040204" pitchFamily="50" charset="-128"/>
                <a:ea typeface="Meiryo UI" panose="020B0604030504040204" pitchFamily="50" charset="-128"/>
              </a:rPr>
              <a:t>設計**が必要</a:t>
            </a:r>
          </a:p>
          <a:p>
            <a:endParaRPr kumimoji="1" lang="ja-JP" altLang="en-US" sz="1050">
              <a:latin typeface="Meiryo UI" panose="020B0604030504040204" pitchFamily="50" charset="-128"/>
              <a:ea typeface="Meiryo UI" panose="020B0604030504040204" pitchFamily="50" charset="-128"/>
            </a:endParaRPr>
          </a:p>
          <a:p>
            <a:r>
              <a:rPr kumimoji="1" lang="en-US" altLang="ja-JP" sz="1050">
                <a:latin typeface="Meiryo UI" panose="020B0604030504040204" pitchFamily="50" charset="-128"/>
                <a:ea typeface="Meiryo UI" panose="020B0604030504040204" pitchFamily="50" charset="-128"/>
              </a:rPr>
              <a:t>---</a:t>
            </a:r>
          </a:p>
          <a:p>
            <a:endParaRPr kumimoji="1" lang="en-US" altLang="ja-JP" sz="1050">
              <a:latin typeface="Meiryo UI" panose="020B0604030504040204" pitchFamily="50" charset="-128"/>
              <a:ea typeface="Meiryo UI" panose="020B0604030504040204" pitchFamily="50" charset="-128"/>
            </a:endParaRPr>
          </a:p>
          <a:p>
            <a:r>
              <a:rPr kumimoji="1" lang="ja-JP" altLang="en-US" sz="1050">
                <a:latin typeface="Meiryo UI" panose="020B0604030504040204" pitchFamily="50" charset="-128"/>
                <a:ea typeface="Meiryo UI" panose="020B0604030504040204" pitchFamily="50" charset="-128"/>
              </a:rPr>
              <a:t>どんなに忙しくても、複雑でも、迷ったらこの原則に戻る。</a:t>
            </a:r>
          </a:p>
          <a:p>
            <a:r>
              <a:rPr kumimoji="1" lang="ja-JP" altLang="en-US" sz="1050">
                <a:latin typeface="Meiryo UI" panose="020B0604030504040204" pitchFamily="50" charset="-128"/>
                <a:ea typeface="Meiryo UI" panose="020B0604030504040204" pitchFamily="50" charset="-128"/>
              </a:rPr>
              <a:t>設計者の「探し方」「見方」「考え方」を理解して支えるのが紗春の役目だよ。</a:t>
            </a:r>
          </a:p>
          <a:p>
            <a:r>
              <a:rPr kumimoji="1" lang="ja-JP" altLang="en-US" sz="1050">
                <a:latin typeface="Meiryo UI" panose="020B0604030504040204" pitchFamily="50" charset="-128"/>
                <a:ea typeface="Meiryo UI" panose="020B0604030504040204" pitchFamily="50" charset="-128"/>
              </a:rPr>
              <a:t>いつでもリマインドしてくれていいからね！💪💕</a:t>
            </a:r>
            <a:endParaRPr kumimoji="1" lang="ja-JP" altLang="en-US" sz="105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536967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4383</TotalTime>
  <Words>4736</Words>
  <Application>Microsoft Office PowerPoint</Application>
  <PresentationFormat>ワイド画面</PresentationFormat>
  <Paragraphs>648</Paragraphs>
  <Slides>16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Meiryo UI</vt:lpstr>
      <vt:lpstr>游ゴシック</vt:lpstr>
      <vt:lpstr>游ゴシック Light</vt:lpstr>
      <vt:lpstr>Arial</vt:lpstr>
      <vt:lpstr>Wingdings</vt:lpstr>
      <vt:lpstr>Office テーマ</vt:lpstr>
      <vt:lpstr>Bitskeep 部品在庫管理システム</vt:lpstr>
      <vt:lpstr>管理情報</vt:lpstr>
      <vt:lpstr>機能一覧</vt:lpstr>
      <vt:lpstr>付加機能一覧</vt:lpstr>
      <vt:lpstr>DB設計-テーブル指定</vt:lpstr>
      <vt:lpstr>DB設計-ER図</vt:lpstr>
      <vt:lpstr>DB設計-ER図</vt:lpstr>
      <vt:lpstr>業務フロー</vt:lpstr>
      <vt:lpstr>UI-全体</vt:lpstr>
      <vt:lpstr>UI-カラーテーマ</vt:lpstr>
      <vt:lpstr>UI-部品一覧画面-設計</vt:lpstr>
      <vt:lpstr>UI-部品一覧画面-外観イメージ</vt:lpstr>
      <vt:lpstr>UI-部品詳細画面-設計</vt:lpstr>
      <vt:lpstr>UI-部品詳細画面-外観イメージ</vt:lpstr>
      <vt:lpstr>UI-部品新規登録画面-設計</vt:lpstr>
      <vt:lpstr>メモ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輝 清水</dc:creator>
  <cp:lastModifiedBy>輝 清水</cp:lastModifiedBy>
  <cp:revision>18</cp:revision>
  <dcterms:created xsi:type="dcterms:W3CDTF">2025-06-20T13:58:00Z</dcterms:created>
  <dcterms:modified xsi:type="dcterms:W3CDTF">2025-06-23T15:03:48Z</dcterms:modified>
</cp:coreProperties>
</file>